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91" r:id="rId2"/>
    <p:sldId id="292" r:id="rId3"/>
    <p:sldId id="293" r:id="rId4"/>
    <p:sldId id="294" r:id="rId5"/>
    <p:sldId id="295" r:id="rId6"/>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33" r:id="rId34"/>
    <p:sldId id="323" r:id="rId35"/>
  </p:sldIdLst>
  <p:sldSz cx="18288000" cy="10287000"/>
  <p:notesSz cx="6858000" cy="9144000"/>
  <p:embeddedFontLst>
    <p:embeddedFont>
      <p:font typeface="Anton" pitchFamily="2" charset="0"/>
      <p:regular r:id="rId36"/>
    </p:embeddedFont>
    <p:embeddedFont>
      <p:font typeface="Antonio Bold" panose="020B0604020202020204" charset="0"/>
      <p:regular r:id="rId37"/>
    </p:embeddedFont>
    <p:embeddedFont>
      <p:font typeface="Arimo" panose="020B0604020202020204" charset="0"/>
      <p:regular r:id="rId38"/>
    </p:embeddedFont>
    <p:embeddedFont>
      <p:font typeface="Canva Sans" panose="020B0604020202020204" charset="0"/>
      <p:regular r:id="rId39"/>
    </p:embeddedFont>
    <p:embeddedFont>
      <p:font typeface="Montserrat Bold" panose="020B0604020202020204" charset="0"/>
      <p:regular r:id="rId40"/>
    </p:embeddedFont>
    <p:embeddedFont>
      <p:font typeface="Montserrat Ultra-Bold" panose="020B0604020202020204" charset="0"/>
      <p:regular r:id="rId41"/>
    </p:embeddedFont>
    <p:embeddedFont>
      <p:font typeface="Nunito" pitchFamily="2" charset="0"/>
      <p:regular r:id="rId42"/>
      <p:bold r:id="rId43"/>
      <p:italic r:id="rId44"/>
      <p:boldItalic r:id="rId45"/>
    </p:embeddedFont>
    <p:embeddedFont>
      <p:font typeface="Nunito Bold" charset="0"/>
      <p:regular r:id="rId46"/>
    </p:embeddedFont>
    <p:embeddedFont>
      <p:font typeface="Nunito Sans" pitchFamily="2" charset="0"/>
      <p:regular r:id="rId47"/>
    </p:embeddedFont>
    <p:embeddedFont>
      <p:font typeface="Nunito Sans Bold" charset="0"/>
      <p:regular r:id="rId48"/>
    </p:embeddedFont>
    <p:embeddedFont>
      <p:font typeface="Nunito Semi-Bold" panose="020B0604020202020204" charset="0"/>
      <p:regular r:id="rId49"/>
    </p:embeddedFont>
    <p:embeddedFont>
      <p:font typeface="Poppins" panose="00000500000000000000" pitchFamily="2" charset="0"/>
      <p:regular r:id="rId50"/>
      <p:bold r:id="rId51"/>
      <p:italic r:id="rId52"/>
      <p:boldItalic r:id="rId53"/>
    </p:embeddedFont>
    <p:embeddedFont>
      <p:font typeface="Poppins Bold" panose="00000800000000000000" pitchFamily="2" charset="0"/>
      <p:bold r:id="rId54"/>
    </p:embeddedFont>
    <p:embeddedFont>
      <p:font typeface="Poppins Ultra-Bold" panose="020B0604020202020204" charset="0"/>
      <p:regular r:id="rId55"/>
    </p:embeddedFont>
    <p:embeddedFont>
      <p:font typeface="Roboto Condensed Bold" panose="020B0604020202020204" charset="0"/>
      <p:regular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font" Target="fonts/font2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font" Target="fonts/font18.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font" Target="fonts/font21.fntdata"/><Relationship Id="rId8" Type="http://schemas.openxmlformats.org/officeDocument/2006/relationships/slide" Target="slides/slide7.xml"/><Relationship Id="rId51" Type="http://schemas.openxmlformats.org/officeDocument/2006/relationships/font" Target="fonts/font1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6.fntdata"/><Relationship Id="rId54"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font" Target="fonts/font17.fntdata"/><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www.coreiot.io"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sv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hyperlink" Target="https://www.youtube.com/watch?v=bigeRVU2iSE" TargetMode="Externa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 Id="rId5" Type="http://schemas.openxmlformats.org/officeDocument/2006/relationships/hyperlink" Target="https://github.com/nhanksd85/CoreIOT/blob/CoreIOT_Lab1/thingsboard.py" TargetMode="External"/><Relationship Id="rId4" Type="http://schemas.openxmlformats.org/officeDocument/2006/relationships/hyperlink" Target="https://www.youtube.com/watch?v=c5fX7SeRQsQ"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6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r="-13720" b="-13720"/>
            </a:stretch>
          </a:blipFill>
        </p:spPr>
        <p:txBody>
          <a:bodyPr/>
          <a:lstStyle/>
          <a:p>
            <a:endParaRPr lang="en-US"/>
          </a:p>
        </p:txBody>
      </p:sp>
      <p:grpSp>
        <p:nvGrpSpPr>
          <p:cNvPr id="3" name="Group 3"/>
          <p:cNvGrpSpPr/>
          <p:nvPr/>
        </p:nvGrpSpPr>
        <p:grpSpPr>
          <a:xfrm>
            <a:off x="-8278841" y="-569388"/>
            <a:ext cx="22707318" cy="11926400"/>
            <a:chOff x="0" y="0"/>
            <a:chExt cx="644708" cy="338615"/>
          </a:xfrm>
        </p:grpSpPr>
        <p:sp>
          <p:nvSpPr>
            <p:cNvPr id="4" name="Freeform 4"/>
            <p:cNvSpPr/>
            <p:nvPr/>
          </p:nvSpPr>
          <p:spPr>
            <a:xfrm>
              <a:off x="0" y="0"/>
              <a:ext cx="644708" cy="338615"/>
            </a:xfrm>
            <a:custGeom>
              <a:avLst/>
              <a:gdLst/>
              <a:ahLst/>
              <a:cxnLst/>
              <a:rect l="l" t="t" r="r" b="b"/>
              <a:pathLst>
                <a:path w="644708" h="338615">
                  <a:moveTo>
                    <a:pt x="441508" y="0"/>
                  </a:moveTo>
                  <a:lnTo>
                    <a:pt x="0" y="0"/>
                  </a:lnTo>
                  <a:lnTo>
                    <a:pt x="203200" y="338615"/>
                  </a:lnTo>
                  <a:lnTo>
                    <a:pt x="644708" y="338615"/>
                  </a:lnTo>
                  <a:lnTo>
                    <a:pt x="441508" y="0"/>
                  </a:lnTo>
                  <a:close/>
                </a:path>
              </a:pathLst>
            </a:custGeom>
            <a:solidFill>
              <a:srgbClr val="FFFFFF"/>
            </a:solidFill>
            <a:ln w="533400" cap="sq">
              <a:solidFill>
                <a:srgbClr val="082055"/>
              </a:solidFill>
              <a:prstDash val="solid"/>
              <a:miter/>
            </a:ln>
          </p:spPr>
          <p:txBody>
            <a:bodyPr/>
            <a:lstStyle/>
            <a:p>
              <a:endParaRPr lang="en-US"/>
            </a:p>
          </p:txBody>
        </p:sp>
        <p:sp>
          <p:nvSpPr>
            <p:cNvPr id="5" name="TextBox 5"/>
            <p:cNvSpPr txBox="1"/>
            <p:nvPr/>
          </p:nvSpPr>
          <p:spPr>
            <a:xfrm>
              <a:off x="101600" y="-38100"/>
              <a:ext cx="441508" cy="376715"/>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a:off x="217027" y="5360475"/>
            <a:ext cx="7620048" cy="0"/>
          </a:xfrm>
          <a:prstGeom prst="line">
            <a:avLst/>
          </a:prstGeom>
          <a:ln w="66675" cap="flat">
            <a:solidFill>
              <a:srgbClr val="000000"/>
            </a:solidFill>
            <a:prstDash val="solid"/>
            <a:headEnd type="none" w="sm" len="sm"/>
            <a:tailEnd type="oval" w="lg" len="lg"/>
          </a:ln>
        </p:spPr>
        <p:txBody>
          <a:bodyPr/>
          <a:lstStyle/>
          <a:p>
            <a:endParaRPr lang="en-US"/>
          </a:p>
        </p:txBody>
      </p:sp>
      <p:grpSp>
        <p:nvGrpSpPr>
          <p:cNvPr id="7" name="Group 7"/>
          <p:cNvGrpSpPr/>
          <p:nvPr/>
        </p:nvGrpSpPr>
        <p:grpSpPr>
          <a:xfrm>
            <a:off x="8983434" y="3489488"/>
            <a:ext cx="3808648" cy="380864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9A"/>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0" name="Group 10"/>
          <p:cNvGrpSpPr>
            <a:grpSpLocks noChangeAspect="1"/>
          </p:cNvGrpSpPr>
          <p:nvPr/>
        </p:nvGrpSpPr>
        <p:grpSpPr>
          <a:xfrm>
            <a:off x="8902794" y="3489488"/>
            <a:ext cx="3969929" cy="3969913"/>
            <a:chOff x="0" y="0"/>
            <a:chExt cx="6350000" cy="6349975"/>
          </a:xfrm>
        </p:grpSpPr>
        <p:sp>
          <p:nvSpPr>
            <p:cNvPr id="11" name="Freeform 11"/>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41023" t="-2184" r="-40637"/>
              </a:stretch>
            </a:blipFill>
          </p:spPr>
          <p:txBody>
            <a:bodyPr/>
            <a:lstStyle/>
            <a:p>
              <a:endParaRPr lang="en-US"/>
            </a:p>
          </p:txBody>
        </p:sp>
      </p:grpSp>
      <p:grpSp>
        <p:nvGrpSpPr>
          <p:cNvPr id="12" name="Group 12"/>
          <p:cNvGrpSpPr/>
          <p:nvPr/>
        </p:nvGrpSpPr>
        <p:grpSpPr>
          <a:xfrm>
            <a:off x="7671141" y="1057972"/>
            <a:ext cx="1312292" cy="131229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9A"/>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6958924" y="2014156"/>
            <a:ext cx="712217" cy="71221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9A"/>
            </a:solidFill>
          </p:spPr>
          <p:txBody>
            <a:bodyPr/>
            <a:lstStyle/>
            <a:p>
              <a:endParaRPr lang="en-US"/>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0" y="7934361"/>
            <a:ext cx="782357" cy="782357"/>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9A"/>
            </a:solidFill>
          </p:spPr>
          <p:txBody>
            <a:bodyPr/>
            <a:lstStyle/>
            <a:p>
              <a:endParaRPr lang="en-US"/>
            </a:p>
          </p:txBody>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810932" y="7712445"/>
            <a:ext cx="517845" cy="517845"/>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9A"/>
            </a:solidFill>
          </p:spPr>
          <p:txBody>
            <a:bodyPr/>
            <a:lstStyle/>
            <a:p>
              <a:endParaRPr lang="en-US"/>
            </a:p>
          </p:txBody>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10900594" y="-269441"/>
            <a:ext cx="21277877" cy="8594980"/>
            <a:chOff x="0" y="0"/>
            <a:chExt cx="812800" cy="328322"/>
          </a:xfrm>
        </p:grpSpPr>
        <p:sp>
          <p:nvSpPr>
            <p:cNvPr id="25" name="Freeform 25"/>
            <p:cNvSpPr/>
            <p:nvPr/>
          </p:nvSpPr>
          <p:spPr>
            <a:xfrm>
              <a:off x="0" y="0"/>
              <a:ext cx="812800" cy="328322"/>
            </a:xfrm>
            <a:custGeom>
              <a:avLst/>
              <a:gdLst/>
              <a:ahLst/>
              <a:cxnLst/>
              <a:rect l="l" t="t" r="r" b="b"/>
              <a:pathLst>
                <a:path w="812800" h="328322">
                  <a:moveTo>
                    <a:pt x="609600" y="0"/>
                  </a:moveTo>
                  <a:lnTo>
                    <a:pt x="0" y="0"/>
                  </a:lnTo>
                  <a:lnTo>
                    <a:pt x="203200" y="328322"/>
                  </a:lnTo>
                  <a:lnTo>
                    <a:pt x="812800" y="328322"/>
                  </a:lnTo>
                  <a:lnTo>
                    <a:pt x="609600" y="0"/>
                  </a:lnTo>
                  <a:close/>
                </a:path>
              </a:pathLst>
            </a:custGeom>
            <a:ln w="133350" cap="sq">
              <a:solidFill>
                <a:srgbClr val="FFFFFF"/>
              </a:solidFill>
              <a:prstDash val="solid"/>
              <a:miter/>
            </a:ln>
          </p:spPr>
          <p:txBody>
            <a:bodyPr/>
            <a:lstStyle/>
            <a:p>
              <a:endParaRPr lang="en-US"/>
            </a:p>
          </p:txBody>
        </p:sp>
        <p:sp>
          <p:nvSpPr>
            <p:cNvPr id="26" name="TextBox 26"/>
            <p:cNvSpPr txBox="1"/>
            <p:nvPr/>
          </p:nvSpPr>
          <p:spPr>
            <a:xfrm>
              <a:off x="101600" y="-38100"/>
              <a:ext cx="609600" cy="366422"/>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11895968" y="-2186367"/>
            <a:ext cx="21277877" cy="8594980"/>
            <a:chOff x="0" y="0"/>
            <a:chExt cx="812800" cy="328322"/>
          </a:xfrm>
        </p:grpSpPr>
        <p:sp>
          <p:nvSpPr>
            <p:cNvPr id="28" name="Freeform 28"/>
            <p:cNvSpPr/>
            <p:nvPr/>
          </p:nvSpPr>
          <p:spPr>
            <a:xfrm>
              <a:off x="0" y="0"/>
              <a:ext cx="812800" cy="328322"/>
            </a:xfrm>
            <a:custGeom>
              <a:avLst/>
              <a:gdLst/>
              <a:ahLst/>
              <a:cxnLst/>
              <a:rect l="l" t="t" r="r" b="b"/>
              <a:pathLst>
                <a:path w="812800" h="328322">
                  <a:moveTo>
                    <a:pt x="609600" y="0"/>
                  </a:moveTo>
                  <a:lnTo>
                    <a:pt x="0" y="0"/>
                  </a:lnTo>
                  <a:lnTo>
                    <a:pt x="203200" y="328322"/>
                  </a:lnTo>
                  <a:lnTo>
                    <a:pt x="812800" y="328322"/>
                  </a:lnTo>
                  <a:lnTo>
                    <a:pt x="609600" y="0"/>
                  </a:lnTo>
                  <a:close/>
                </a:path>
              </a:pathLst>
            </a:custGeom>
            <a:ln w="133350" cap="sq">
              <a:solidFill>
                <a:srgbClr val="FFFFFF"/>
              </a:solidFill>
              <a:prstDash val="solid"/>
              <a:miter/>
            </a:ln>
          </p:spPr>
          <p:txBody>
            <a:bodyPr/>
            <a:lstStyle/>
            <a:p>
              <a:endParaRPr lang="en-US"/>
            </a:p>
          </p:txBody>
        </p:sp>
        <p:sp>
          <p:nvSpPr>
            <p:cNvPr id="29" name="TextBox 29"/>
            <p:cNvSpPr txBox="1"/>
            <p:nvPr/>
          </p:nvSpPr>
          <p:spPr>
            <a:xfrm>
              <a:off x="101600" y="-38100"/>
              <a:ext cx="609600" cy="366422"/>
            </a:xfrm>
            <a:prstGeom prst="rect">
              <a:avLst/>
            </a:prstGeom>
          </p:spPr>
          <p:txBody>
            <a:bodyPr lIns="50800" tIns="50800" rIns="50800" bIns="50800" rtlCol="0" anchor="ctr"/>
            <a:lstStyle/>
            <a:p>
              <a:pPr algn="ctr">
                <a:lnSpc>
                  <a:spcPts val="2659"/>
                </a:lnSpc>
              </a:pPr>
              <a:endParaRPr/>
            </a:p>
          </p:txBody>
        </p:sp>
      </p:grpSp>
      <p:sp>
        <p:nvSpPr>
          <p:cNvPr id="30" name="Freeform 30"/>
          <p:cNvSpPr/>
          <p:nvPr/>
        </p:nvSpPr>
        <p:spPr>
          <a:xfrm>
            <a:off x="140104" y="121097"/>
            <a:ext cx="929750" cy="939142"/>
          </a:xfrm>
          <a:custGeom>
            <a:avLst/>
            <a:gdLst/>
            <a:ahLst/>
            <a:cxnLst/>
            <a:rect l="l" t="t" r="r" b="b"/>
            <a:pathLst>
              <a:path w="929750" h="939142">
                <a:moveTo>
                  <a:pt x="0" y="0"/>
                </a:moveTo>
                <a:lnTo>
                  <a:pt x="929750" y="0"/>
                </a:lnTo>
                <a:lnTo>
                  <a:pt x="929750" y="939142"/>
                </a:lnTo>
                <a:lnTo>
                  <a:pt x="0" y="939142"/>
                </a:lnTo>
                <a:lnTo>
                  <a:pt x="0" y="0"/>
                </a:lnTo>
                <a:close/>
              </a:path>
            </a:pathLst>
          </a:custGeom>
          <a:blipFill>
            <a:blip r:embed="rId4"/>
            <a:stretch>
              <a:fillRect/>
            </a:stretch>
          </a:blipFill>
        </p:spPr>
        <p:txBody>
          <a:bodyPr/>
          <a:lstStyle/>
          <a:p>
            <a:endParaRPr lang="en-US"/>
          </a:p>
        </p:txBody>
      </p:sp>
      <p:sp>
        <p:nvSpPr>
          <p:cNvPr id="31" name="Freeform 31"/>
          <p:cNvSpPr/>
          <p:nvPr/>
        </p:nvSpPr>
        <p:spPr>
          <a:xfrm>
            <a:off x="1259981" y="121097"/>
            <a:ext cx="4244708" cy="939142"/>
          </a:xfrm>
          <a:custGeom>
            <a:avLst/>
            <a:gdLst/>
            <a:ahLst/>
            <a:cxnLst/>
            <a:rect l="l" t="t" r="r" b="b"/>
            <a:pathLst>
              <a:path w="4244708" h="939142">
                <a:moveTo>
                  <a:pt x="0" y="0"/>
                </a:moveTo>
                <a:lnTo>
                  <a:pt x="4244707" y="0"/>
                </a:lnTo>
                <a:lnTo>
                  <a:pt x="4244707" y="939142"/>
                </a:lnTo>
                <a:lnTo>
                  <a:pt x="0" y="939142"/>
                </a:lnTo>
                <a:lnTo>
                  <a:pt x="0" y="0"/>
                </a:lnTo>
                <a:close/>
              </a:path>
            </a:pathLst>
          </a:custGeom>
          <a:blipFill>
            <a:blip r:embed="rId5"/>
            <a:stretch>
              <a:fillRect/>
            </a:stretch>
          </a:blipFill>
        </p:spPr>
        <p:txBody>
          <a:bodyPr/>
          <a:lstStyle/>
          <a:p>
            <a:endParaRPr lang="en-US"/>
          </a:p>
        </p:txBody>
      </p:sp>
      <p:sp>
        <p:nvSpPr>
          <p:cNvPr id="32" name="TextBox 32"/>
          <p:cNvSpPr txBox="1"/>
          <p:nvPr/>
        </p:nvSpPr>
        <p:spPr>
          <a:xfrm>
            <a:off x="140104" y="9021518"/>
            <a:ext cx="6266110" cy="523875"/>
          </a:xfrm>
          <a:prstGeom prst="rect">
            <a:avLst/>
          </a:prstGeom>
        </p:spPr>
        <p:txBody>
          <a:bodyPr lIns="0" tIns="0" rIns="0" bIns="0" rtlCol="0" anchor="t">
            <a:spAutoFit/>
          </a:bodyPr>
          <a:lstStyle/>
          <a:p>
            <a:pPr algn="l">
              <a:lnSpc>
                <a:spcPts val="4199"/>
              </a:lnSpc>
            </a:pPr>
            <a:r>
              <a:rPr lang="en-US" sz="2999" u="sng">
                <a:solidFill>
                  <a:srgbClr val="000000"/>
                </a:solidFill>
                <a:latin typeface="Poppins"/>
                <a:ea typeface="Poppins"/>
                <a:cs typeface="Poppins"/>
                <a:sym typeface="Poppins"/>
                <a:hlinkClick r:id="rId6" tooltip="https://www.coreiot.io"/>
              </a:rPr>
              <a:t>https://www.coreiot.io</a:t>
            </a:r>
          </a:p>
        </p:txBody>
      </p:sp>
      <p:sp>
        <p:nvSpPr>
          <p:cNvPr id="33" name="TextBox 33"/>
          <p:cNvSpPr txBox="1"/>
          <p:nvPr/>
        </p:nvSpPr>
        <p:spPr>
          <a:xfrm>
            <a:off x="169402" y="3679939"/>
            <a:ext cx="9218299" cy="862267"/>
          </a:xfrm>
          <a:prstGeom prst="rect">
            <a:avLst/>
          </a:prstGeom>
        </p:spPr>
        <p:txBody>
          <a:bodyPr lIns="0" tIns="0" rIns="0" bIns="0" rtlCol="0" anchor="t">
            <a:spAutoFit/>
          </a:bodyPr>
          <a:lstStyle/>
          <a:p>
            <a:pPr algn="l">
              <a:lnSpc>
                <a:spcPts val="7061"/>
              </a:lnSpc>
            </a:pPr>
            <a:r>
              <a:rPr lang="en-US" sz="5043">
                <a:solidFill>
                  <a:srgbClr val="082055"/>
                </a:solidFill>
                <a:latin typeface="Anton"/>
                <a:ea typeface="Anton"/>
                <a:cs typeface="Anton"/>
                <a:sym typeface="Anton"/>
              </a:rPr>
              <a:t>COREIOT -  OPEN SOURCE FRAMEWORK</a:t>
            </a:r>
          </a:p>
        </p:txBody>
      </p:sp>
      <p:sp>
        <p:nvSpPr>
          <p:cNvPr id="34" name="TextBox 34"/>
          <p:cNvSpPr txBox="1"/>
          <p:nvPr/>
        </p:nvSpPr>
        <p:spPr>
          <a:xfrm>
            <a:off x="169402" y="4678832"/>
            <a:ext cx="8289684" cy="464055"/>
          </a:xfrm>
          <a:prstGeom prst="rect">
            <a:avLst/>
          </a:prstGeom>
        </p:spPr>
        <p:txBody>
          <a:bodyPr lIns="0" tIns="0" rIns="0" bIns="0" rtlCol="0" anchor="t">
            <a:spAutoFit/>
          </a:bodyPr>
          <a:lstStyle/>
          <a:p>
            <a:pPr algn="l">
              <a:lnSpc>
                <a:spcPts val="3861"/>
              </a:lnSpc>
            </a:pPr>
            <a:r>
              <a:rPr lang="en-US" sz="2758" b="1" spc="60" dirty="0">
                <a:solidFill>
                  <a:srgbClr val="000000"/>
                </a:solidFill>
                <a:latin typeface="Antonio Bold"/>
                <a:ea typeface="Antonio Bold"/>
                <a:cs typeface="Antonio Bold"/>
                <a:sym typeface="Antonio Bold"/>
              </a:rPr>
              <a:t>Open-source &amp; Free Cloud IoT Platform</a:t>
            </a:r>
          </a:p>
        </p:txBody>
      </p:sp>
      <p:sp>
        <p:nvSpPr>
          <p:cNvPr id="35" name="TextBox 35"/>
          <p:cNvSpPr txBox="1"/>
          <p:nvPr/>
        </p:nvSpPr>
        <p:spPr>
          <a:xfrm>
            <a:off x="188452" y="5759820"/>
            <a:ext cx="7303786" cy="1619250"/>
          </a:xfrm>
          <a:prstGeom prst="rect">
            <a:avLst/>
          </a:prstGeom>
        </p:spPr>
        <p:txBody>
          <a:bodyPr lIns="0" tIns="0" rIns="0" bIns="0" rtlCol="0" anchor="t">
            <a:spAutoFit/>
          </a:bodyPr>
          <a:lstStyle/>
          <a:p>
            <a:pPr algn="just">
              <a:lnSpc>
                <a:spcPts val="2160"/>
              </a:lnSpc>
            </a:pPr>
            <a:r>
              <a:rPr lang="en-US" sz="1800" spc="14" dirty="0" err="1">
                <a:solidFill>
                  <a:srgbClr val="000000"/>
                </a:solidFill>
                <a:latin typeface="Poppins"/>
                <a:ea typeface="Poppins"/>
                <a:cs typeface="Poppins"/>
                <a:sym typeface="Poppins"/>
              </a:rPr>
              <a:t>CoreIOT</a:t>
            </a:r>
            <a:r>
              <a:rPr lang="en-US" sz="1800" spc="14" dirty="0">
                <a:solidFill>
                  <a:srgbClr val="000000"/>
                </a:solidFill>
                <a:latin typeface="Poppins"/>
                <a:ea typeface="Poppins"/>
                <a:cs typeface="Poppins"/>
                <a:sym typeface="Poppins"/>
              </a:rPr>
              <a:t> is an open-source IoT platform for data collection, processing, visualization, and device management. It enables device connectivity via industry standard IoT protocols - MQTT, CoAP and HTTP and supports both cloud and on-premises deployments. </a:t>
            </a:r>
          </a:p>
          <a:p>
            <a:pPr algn="just">
              <a:lnSpc>
                <a:spcPts val="2160"/>
              </a:lnSpc>
              <a:spcBef>
                <a:spcPct val="0"/>
              </a:spcBef>
            </a:pPr>
            <a:endParaRPr lang="en-US" sz="1800" spc="14" dirty="0">
              <a:solidFill>
                <a:srgbClr val="000000"/>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15193" y="-784285"/>
            <a:ext cx="20892576" cy="10951996"/>
            <a:chOff x="0" y="0"/>
            <a:chExt cx="812800" cy="426074"/>
          </a:xfrm>
        </p:grpSpPr>
        <p:sp>
          <p:nvSpPr>
            <p:cNvPr id="3" name="Freeform 3"/>
            <p:cNvSpPr/>
            <p:nvPr/>
          </p:nvSpPr>
          <p:spPr>
            <a:xfrm>
              <a:off x="0" y="0"/>
              <a:ext cx="812800" cy="426074"/>
            </a:xfrm>
            <a:custGeom>
              <a:avLst/>
              <a:gdLst/>
              <a:ahLst/>
              <a:cxnLst/>
              <a:rect l="l" t="t" r="r" b="b"/>
              <a:pathLst>
                <a:path w="812800" h="426074">
                  <a:moveTo>
                    <a:pt x="609600" y="0"/>
                  </a:moveTo>
                  <a:lnTo>
                    <a:pt x="0" y="0"/>
                  </a:lnTo>
                  <a:lnTo>
                    <a:pt x="203200" y="426074"/>
                  </a:lnTo>
                  <a:lnTo>
                    <a:pt x="812800" y="426074"/>
                  </a:lnTo>
                  <a:lnTo>
                    <a:pt x="609600" y="0"/>
                  </a:lnTo>
                  <a:close/>
                </a:path>
              </a:pathLst>
            </a:custGeom>
            <a:solidFill>
              <a:srgbClr val="082055"/>
            </a:solidFill>
          </p:spPr>
          <p:txBody>
            <a:bodyPr/>
            <a:lstStyle/>
            <a:p>
              <a:endParaRPr lang="en-US"/>
            </a:p>
          </p:txBody>
        </p:sp>
        <p:sp>
          <p:nvSpPr>
            <p:cNvPr id="4" name="TextBox 4"/>
            <p:cNvSpPr txBox="1"/>
            <p:nvPr/>
          </p:nvSpPr>
          <p:spPr>
            <a:xfrm>
              <a:off x="101600" y="-38100"/>
              <a:ext cx="609600" cy="46417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8231711" y="1162870"/>
            <a:ext cx="8742844" cy="951505"/>
            <a:chOff x="0" y="0"/>
            <a:chExt cx="3734182" cy="406400"/>
          </a:xfrm>
        </p:grpSpPr>
        <p:sp>
          <p:nvSpPr>
            <p:cNvPr id="6" name="Freeform 6"/>
            <p:cNvSpPr/>
            <p:nvPr/>
          </p:nvSpPr>
          <p:spPr>
            <a:xfrm>
              <a:off x="0" y="0"/>
              <a:ext cx="3734183" cy="406400"/>
            </a:xfrm>
            <a:custGeom>
              <a:avLst/>
              <a:gdLst/>
              <a:ahLst/>
              <a:cxnLst/>
              <a:rect l="l" t="t" r="r" b="b"/>
              <a:pathLst>
                <a:path w="3734183" h="406400">
                  <a:moveTo>
                    <a:pt x="3530983" y="0"/>
                  </a:moveTo>
                  <a:cubicBezTo>
                    <a:pt x="3643207" y="0"/>
                    <a:pt x="3734183" y="90976"/>
                    <a:pt x="3734183" y="203200"/>
                  </a:cubicBezTo>
                  <a:cubicBezTo>
                    <a:pt x="3734183" y="315424"/>
                    <a:pt x="3643207" y="406400"/>
                    <a:pt x="3530983" y="406400"/>
                  </a:cubicBezTo>
                  <a:lnTo>
                    <a:pt x="203200" y="406400"/>
                  </a:lnTo>
                  <a:cubicBezTo>
                    <a:pt x="90976" y="406400"/>
                    <a:pt x="0" y="315424"/>
                    <a:pt x="0" y="203200"/>
                  </a:cubicBezTo>
                  <a:cubicBezTo>
                    <a:pt x="0" y="90976"/>
                    <a:pt x="90976" y="0"/>
                    <a:pt x="203200" y="0"/>
                  </a:cubicBezTo>
                  <a:close/>
                </a:path>
              </a:pathLst>
            </a:custGeom>
            <a:solidFill>
              <a:srgbClr val="FFFFFF"/>
            </a:solidFill>
          </p:spPr>
          <p:txBody>
            <a:bodyPr/>
            <a:lstStyle/>
            <a:p>
              <a:endParaRPr lang="en-US"/>
            </a:p>
          </p:txBody>
        </p:sp>
        <p:sp>
          <p:nvSpPr>
            <p:cNvPr id="7" name="TextBox 7"/>
            <p:cNvSpPr txBox="1"/>
            <p:nvPr/>
          </p:nvSpPr>
          <p:spPr>
            <a:xfrm>
              <a:off x="0" y="-38100"/>
              <a:ext cx="3734182" cy="444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7597374" y="1004286"/>
            <a:ext cx="1268673" cy="126867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9A"/>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642771" y="2543897"/>
            <a:ext cx="8331784" cy="951505"/>
            <a:chOff x="0" y="0"/>
            <a:chExt cx="3558613" cy="406400"/>
          </a:xfrm>
        </p:grpSpPr>
        <p:sp>
          <p:nvSpPr>
            <p:cNvPr id="12" name="Freeform 12"/>
            <p:cNvSpPr/>
            <p:nvPr/>
          </p:nvSpPr>
          <p:spPr>
            <a:xfrm>
              <a:off x="0" y="0"/>
              <a:ext cx="3558613" cy="406400"/>
            </a:xfrm>
            <a:custGeom>
              <a:avLst/>
              <a:gdLst/>
              <a:ahLst/>
              <a:cxnLst/>
              <a:rect l="l" t="t" r="r" b="b"/>
              <a:pathLst>
                <a:path w="3558613" h="406400">
                  <a:moveTo>
                    <a:pt x="3355413" y="0"/>
                  </a:moveTo>
                  <a:cubicBezTo>
                    <a:pt x="3467638" y="0"/>
                    <a:pt x="3558613" y="90976"/>
                    <a:pt x="3558613" y="203200"/>
                  </a:cubicBezTo>
                  <a:cubicBezTo>
                    <a:pt x="3558613" y="315424"/>
                    <a:pt x="3467638" y="406400"/>
                    <a:pt x="3355413" y="406400"/>
                  </a:cubicBezTo>
                  <a:lnTo>
                    <a:pt x="203200" y="406400"/>
                  </a:lnTo>
                  <a:cubicBezTo>
                    <a:pt x="90976" y="406400"/>
                    <a:pt x="0" y="315424"/>
                    <a:pt x="0" y="203200"/>
                  </a:cubicBezTo>
                  <a:cubicBezTo>
                    <a:pt x="0" y="90976"/>
                    <a:pt x="90976" y="0"/>
                    <a:pt x="203200" y="0"/>
                  </a:cubicBezTo>
                  <a:close/>
                </a:path>
              </a:pathLst>
            </a:custGeom>
            <a:solidFill>
              <a:srgbClr val="FFFFFF"/>
            </a:solidFill>
          </p:spPr>
          <p:txBody>
            <a:bodyPr/>
            <a:lstStyle/>
            <a:p>
              <a:endParaRPr lang="en-US"/>
            </a:p>
          </p:txBody>
        </p:sp>
        <p:sp>
          <p:nvSpPr>
            <p:cNvPr id="13" name="TextBox 13"/>
            <p:cNvSpPr txBox="1"/>
            <p:nvPr/>
          </p:nvSpPr>
          <p:spPr>
            <a:xfrm>
              <a:off x="0" y="-38100"/>
              <a:ext cx="3558613" cy="44450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8231711" y="2387259"/>
            <a:ext cx="1268673" cy="126867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9A"/>
            </a:solidFill>
          </p:spPr>
          <p:txBody>
            <a:bodyPr/>
            <a:lstStyle/>
            <a:p>
              <a:endParaRPr lang="en-US"/>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9232991" y="3926869"/>
            <a:ext cx="7741564" cy="951505"/>
            <a:chOff x="0" y="0"/>
            <a:chExt cx="3306522" cy="406400"/>
          </a:xfrm>
        </p:grpSpPr>
        <p:sp>
          <p:nvSpPr>
            <p:cNvPr id="18" name="Freeform 18"/>
            <p:cNvSpPr/>
            <p:nvPr/>
          </p:nvSpPr>
          <p:spPr>
            <a:xfrm>
              <a:off x="0" y="0"/>
              <a:ext cx="3306523" cy="406400"/>
            </a:xfrm>
            <a:custGeom>
              <a:avLst/>
              <a:gdLst/>
              <a:ahLst/>
              <a:cxnLst/>
              <a:rect l="l" t="t" r="r" b="b"/>
              <a:pathLst>
                <a:path w="3306523" h="406400">
                  <a:moveTo>
                    <a:pt x="3103323" y="0"/>
                  </a:moveTo>
                  <a:cubicBezTo>
                    <a:pt x="3215547" y="0"/>
                    <a:pt x="3306523" y="90976"/>
                    <a:pt x="3306523" y="203200"/>
                  </a:cubicBezTo>
                  <a:cubicBezTo>
                    <a:pt x="3306523" y="315424"/>
                    <a:pt x="3215547" y="406400"/>
                    <a:pt x="3103323" y="406400"/>
                  </a:cubicBezTo>
                  <a:lnTo>
                    <a:pt x="203200" y="406400"/>
                  </a:lnTo>
                  <a:cubicBezTo>
                    <a:pt x="90976" y="406400"/>
                    <a:pt x="0" y="315424"/>
                    <a:pt x="0" y="203200"/>
                  </a:cubicBezTo>
                  <a:cubicBezTo>
                    <a:pt x="0" y="90976"/>
                    <a:pt x="90976" y="0"/>
                    <a:pt x="203200" y="0"/>
                  </a:cubicBezTo>
                  <a:close/>
                </a:path>
              </a:pathLst>
            </a:custGeom>
            <a:solidFill>
              <a:srgbClr val="FFFFFF"/>
            </a:solidFill>
          </p:spPr>
          <p:txBody>
            <a:bodyPr/>
            <a:lstStyle/>
            <a:p>
              <a:endParaRPr lang="en-US"/>
            </a:p>
          </p:txBody>
        </p:sp>
        <p:sp>
          <p:nvSpPr>
            <p:cNvPr id="19" name="TextBox 19"/>
            <p:cNvSpPr txBox="1"/>
            <p:nvPr/>
          </p:nvSpPr>
          <p:spPr>
            <a:xfrm>
              <a:off x="0" y="-38100"/>
              <a:ext cx="3306522" cy="444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8866047" y="3771626"/>
            <a:ext cx="1268673" cy="1268673"/>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9A"/>
            </a:solidFill>
          </p:spPr>
          <p:txBody>
            <a:bodyPr/>
            <a:lstStyle/>
            <a:p>
              <a:endParaRPr lang="en-US"/>
            </a:p>
          </p:txBody>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9991517" y="5313183"/>
            <a:ext cx="6983038" cy="951505"/>
            <a:chOff x="0" y="0"/>
            <a:chExt cx="2982546" cy="406400"/>
          </a:xfrm>
        </p:grpSpPr>
        <p:sp>
          <p:nvSpPr>
            <p:cNvPr id="24" name="Freeform 24"/>
            <p:cNvSpPr/>
            <p:nvPr/>
          </p:nvSpPr>
          <p:spPr>
            <a:xfrm>
              <a:off x="0" y="0"/>
              <a:ext cx="2982546" cy="406400"/>
            </a:xfrm>
            <a:custGeom>
              <a:avLst/>
              <a:gdLst/>
              <a:ahLst/>
              <a:cxnLst/>
              <a:rect l="l" t="t" r="r" b="b"/>
              <a:pathLst>
                <a:path w="2982546" h="406400">
                  <a:moveTo>
                    <a:pt x="2779346" y="0"/>
                  </a:moveTo>
                  <a:cubicBezTo>
                    <a:pt x="2891571" y="0"/>
                    <a:pt x="2982546" y="90976"/>
                    <a:pt x="2982546" y="203200"/>
                  </a:cubicBezTo>
                  <a:cubicBezTo>
                    <a:pt x="2982546" y="315424"/>
                    <a:pt x="2891571" y="406400"/>
                    <a:pt x="2779346" y="406400"/>
                  </a:cubicBezTo>
                  <a:lnTo>
                    <a:pt x="203200" y="406400"/>
                  </a:lnTo>
                  <a:cubicBezTo>
                    <a:pt x="90976" y="406400"/>
                    <a:pt x="0" y="315424"/>
                    <a:pt x="0" y="203200"/>
                  </a:cubicBezTo>
                  <a:cubicBezTo>
                    <a:pt x="0" y="90976"/>
                    <a:pt x="90976" y="0"/>
                    <a:pt x="203200" y="0"/>
                  </a:cubicBezTo>
                  <a:close/>
                </a:path>
              </a:pathLst>
            </a:custGeom>
            <a:solidFill>
              <a:srgbClr val="FFFFFF"/>
            </a:solidFill>
          </p:spPr>
          <p:txBody>
            <a:bodyPr/>
            <a:lstStyle/>
            <a:p>
              <a:endParaRPr lang="en-US"/>
            </a:p>
          </p:txBody>
        </p:sp>
        <p:sp>
          <p:nvSpPr>
            <p:cNvPr id="25" name="TextBox 25"/>
            <p:cNvSpPr txBox="1"/>
            <p:nvPr/>
          </p:nvSpPr>
          <p:spPr>
            <a:xfrm>
              <a:off x="0" y="-38100"/>
              <a:ext cx="2982546" cy="44450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9500384" y="5154599"/>
            <a:ext cx="1268673" cy="126867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9A"/>
            </a:solidFill>
          </p:spPr>
          <p:txBody>
            <a:bodyPr/>
            <a:lstStyle/>
            <a:p>
              <a:endParaRPr lang="en-US"/>
            </a:p>
          </p:txBody>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10573542" y="6696156"/>
            <a:ext cx="6401013" cy="951505"/>
            <a:chOff x="0" y="0"/>
            <a:chExt cx="2733956" cy="406400"/>
          </a:xfrm>
        </p:grpSpPr>
        <p:sp>
          <p:nvSpPr>
            <p:cNvPr id="30" name="Freeform 30"/>
            <p:cNvSpPr/>
            <p:nvPr/>
          </p:nvSpPr>
          <p:spPr>
            <a:xfrm>
              <a:off x="0" y="0"/>
              <a:ext cx="2733956" cy="406400"/>
            </a:xfrm>
            <a:custGeom>
              <a:avLst/>
              <a:gdLst/>
              <a:ahLst/>
              <a:cxnLst/>
              <a:rect l="l" t="t" r="r" b="b"/>
              <a:pathLst>
                <a:path w="2733956" h="406400">
                  <a:moveTo>
                    <a:pt x="2530756" y="0"/>
                  </a:moveTo>
                  <a:cubicBezTo>
                    <a:pt x="2642980" y="0"/>
                    <a:pt x="2733956" y="90976"/>
                    <a:pt x="2733956" y="203200"/>
                  </a:cubicBezTo>
                  <a:cubicBezTo>
                    <a:pt x="2733956" y="315424"/>
                    <a:pt x="2642980" y="406400"/>
                    <a:pt x="2530756" y="406400"/>
                  </a:cubicBezTo>
                  <a:lnTo>
                    <a:pt x="203200" y="406400"/>
                  </a:lnTo>
                  <a:cubicBezTo>
                    <a:pt x="90976" y="406400"/>
                    <a:pt x="0" y="315424"/>
                    <a:pt x="0" y="203200"/>
                  </a:cubicBezTo>
                  <a:cubicBezTo>
                    <a:pt x="0" y="90976"/>
                    <a:pt x="90976" y="0"/>
                    <a:pt x="203200" y="0"/>
                  </a:cubicBezTo>
                  <a:close/>
                </a:path>
              </a:pathLst>
            </a:custGeom>
            <a:solidFill>
              <a:srgbClr val="FFFFFF"/>
            </a:solidFill>
          </p:spPr>
          <p:txBody>
            <a:bodyPr/>
            <a:lstStyle/>
            <a:p>
              <a:endParaRPr lang="en-US"/>
            </a:p>
          </p:txBody>
        </p:sp>
        <p:sp>
          <p:nvSpPr>
            <p:cNvPr id="31" name="TextBox 31"/>
            <p:cNvSpPr txBox="1"/>
            <p:nvPr/>
          </p:nvSpPr>
          <p:spPr>
            <a:xfrm>
              <a:off x="0" y="-38100"/>
              <a:ext cx="2733956" cy="444500"/>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10134720" y="6537572"/>
            <a:ext cx="1268673" cy="1268673"/>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9A"/>
            </a:solidFill>
          </p:spPr>
          <p:txBody>
            <a:bodyPr/>
            <a:lstStyle/>
            <a:p>
              <a:endParaRPr lang="en-US"/>
            </a:p>
          </p:txBody>
        </p:sp>
        <p:sp>
          <p:nvSpPr>
            <p:cNvPr id="34" name="TextBox 3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a:off x="11203303" y="7964829"/>
            <a:ext cx="5771252" cy="951505"/>
            <a:chOff x="0" y="0"/>
            <a:chExt cx="2464977" cy="406400"/>
          </a:xfrm>
        </p:grpSpPr>
        <p:sp>
          <p:nvSpPr>
            <p:cNvPr id="36" name="Freeform 36"/>
            <p:cNvSpPr/>
            <p:nvPr/>
          </p:nvSpPr>
          <p:spPr>
            <a:xfrm>
              <a:off x="0" y="0"/>
              <a:ext cx="2464977" cy="406400"/>
            </a:xfrm>
            <a:custGeom>
              <a:avLst/>
              <a:gdLst/>
              <a:ahLst/>
              <a:cxnLst/>
              <a:rect l="l" t="t" r="r" b="b"/>
              <a:pathLst>
                <a:path w="2464977" h="406400">
                  <a:moveTo>
                    <a:pt x="2261777" y="0"/>
                  </a:moveTo>
                  <a:cubicBezTo>
                    <a:pt x="2374001" y="0"/>
                    <a:pt x="2464977" y="90976"/>
                    <a:pt x="2464977" y="203200"/>
                  </a:cubicBezTo>
                  <a:cubicBezTo>
                    <a:pt x="2464977" y="315424"/>
                    <a:pt x="2374001" y="406400"/>
                    <a:pt x="2261777" y="406400"/>
                  </a:cubicBezTo>
                  <a:lnTo>
                    <a:pt x="203200" y="406400"/>
                  </a:lnTo>
                  <a:cubicBezTo>
                    <a:pt x="90976" y="406400"/>
                    <a:pt x="0" y="315424"/>
                    <a:pt x="0" y="203200"/>
                  </a:cubicBezTo>
                  <a:cubicBezTo>
                    <a:pt x="0" y="90976"/>
                    <a:pt x="90976" y="0"/>
                    <a:pt x="203200" y="0"/>
                  </a:cubicBezTo>
                  <a:close/>
                </a:path>
              </a:pathLst>
            </a:custGeom>
            <a:solidFill>
              <a:srgbClr val="FFFFFF"/>
            </a:solidFill>
          </p:spPr>
          <p:txBody>
            <a:bodyPr/>
            <a:lstStyle/>
            <a:p>
              <a:endParaRPr lang="en-US"/>
            </a:p>
          </p:txBody>
        </p:sp>
        <p:sp>
          <p:nvSpPr>
            <p:cNvPr id="37" name="TextBox 37"/>
            <p:cNvSpPr txBox="1"/>
            <p:nvPr/>
          </p:nvSpPr>
          <p:spPr>
            <a:xfrm>
              <a:off x="0" y="-38100"/>
              <a:ext cx="2464977" cy="444500"/>
            </a:xfrm>
            <a:prstGeom prst="rect">
              <a:avLst/>
            </a:prstGeom>
          </p:spPr>
          <p:txBody>
            <a:bodyPr lIns="50800" tIns="50800" rIns="50800" bIns="50800" rtlCol="0" anchor="ctr"/>
            <a:lstStyle/>
            <a:p>
              <a:pPr algn="ctr">
                <a:lnSpc>
                  <a:spcPts val="2659"/>
                </a:lnSpc>
              </a:pPr>
              <a:endParaRPr/>
            </a:p>
          </p:txBody>
        </p:sp>
      </p:grpSp>
      <p:grpSp>
        <p:nvGrpSpPr>
          <p:cNvPr id="38" name="Group 38"/>
          <p:cNvGrpSpPr/>
          <p:nvPr/>
        </p:nvGrpSpPr>
        <p:grpSpPr>
          <a:xfrm>
            <a:off x="10799935" y="7806245"/>
            <a:ext cx="1268673" cy="1268673"/>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5B9A"/>
            </a:solidFill>
          </p:spPr>
          <p:txBody>
            <a:bodyPr/>
            <a:lstStyle/>
            <a:p>
              <a:endParaRPr lang="en-US"/>
            </a:p>
          </p:txBody>
        </p:sp>
        <p:sp>
          <p:nvSpPr>
            <p:cNvPr id="40" name="TextBox 4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41" name="Freeform 41"/>
          <p:cNvSpPr/>
          <p:nvPr/>
        </p:nvSpPr>
        <p:spPr>
          <a:xfrm>
            <a:off x="7797962" y="1204874"/>
            <a:ext cx="867497" cy="867497"/>
          </a:xfrm>
          <a:custGeom>
            <a:avLst/>
            <a:gdLst/>
            <a:ahLst/>
            <a:cxnLst/>
            <a:rect l="l" t="t" r="r" b="b"/>
            <a:pathLst>
              <a:path w="867497" h="867497">
                <a:moveTo>
                  <a:pt x="0" y="0"/>
                </a:moveTo>
                <a:lnTo>
                  <a:pt x="867497" y="0"/>
                </a:lnTo>
                <a:lnTo>
                  <a:pt x="867497" y="867497"/>
                </a:lnTo>
                <a:lnTo>
                  <a:pt x="0" y="8674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2" name="Freeform 42"/>
          <p:cNvSpPr/>
          <p:nvPr/>
        </p:nvSpPr>
        <p:spPr>
          <a:xfrm>
            <a:off x="8499103" y="2648998"/>
            <a:ext cx="733888" cy="741301"/>
          </a:xfrm>
          <a:custGeom>
            <a:avLst/>
            <a:gdLst/>
            <a:ahLst/>
            <a:cxnLst/>
            <a:rect l="l" t="t" r="r" b="b"/>
            <a:pathLst>
              <a:path w="733888" h="741301">
                <a:moveTo>
                  <a:pt x="0" y="0"/>
                </a:moveTo>
                <a:lnTo>
                  <a:pt x="733888" y="0"/>
                </a:lnTo>
                <a:lnTo>
                  <a:pt x="733888" y="741302"/>
                </a:lnTo>
                <a:lnTo>
                  <a:pt x="0" y="74130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3" name="Freeform 43"/>
          <p:cNvSpPr/>
          <p:nvPr/>
        </p:nvSpPr>
        <p:spPr>
          <a:xfrm>
            <a:off x="9034741" y="3926869"/>
            <a:ext cx="931285" cy="951505"/>
          </a:xfrm>
          <a:custGeom>
            <a:avLst/>
            <a:gdLst/>
            <a:ahLst/>
            <a:cxnLst/>
            <a:rect l="l" t="t" r="r" b="b"/>
            <a:pathLst>
              <a:path w="931285" h="951505">
                <a:moveTo>
                  <a:pt x="0" y="0"/>
                </a:moveTo>
                <a:lnTo>
                  <a:pt x="931285" y="0"/>
                </a:lnTo>
                <a:lnTo>
                  <a:pt x="931285" y="951505"/>
                </a:lnTo>
                <a:lnTo>
                  <a:pt x="0" y="9515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4" name="Freeform 44"/>
          <p:cNvSpPr/>
          <p:nvPr/>
        </p:nvSpPr>
        <p:spPr>
          <a:xfrm>
            <a:off x="9650566" y="5284608"/>
            <a:ext cx="968308" cy="1008655"/>
          </a:xfrm>
          <a:custGeom>
            <a:avLst/>
            <a:gdLst/>
            <a:ahLst/>
            <a:cxnLst/>
            <a:rect l="l" t="t" r="r" b="b"/>
            <a:pathLst>
              <a:path w="968308" h="1008655">
                <a:moveTo>
                  <a:pt x="0" y="0"/>
                </a:moveTo>
                <a:lnTo>
                  <a:pt x="968308" y="0"/>
                </a:lnTo>
                <a:lnTo>
                  <a:pt x="968308" y="1008655"/>
                </a:lnTo>
                <a:lnTo>
                  <a:pt x="0" y="100865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5" name="Freeform 45"/>
          <p:cNvSpPr/>
          <p:nvPr/>
        </p:nvSpPr>
        <p:spPr>
          <a:xfrm>
            <a:off x="10350638" y="6741619"/>
            <a:ext cx="798738" cy="798738"/>
          </a:xfrm>
          <a:custGeom>
            <a:avLst/>
            <a:gdLst/>
            <a:ahLst/>
            <a:cxnLst/>
            <a:rect l="l" t="t" r="r" b="b"/>
            <a:pathLst>
              <a:path w="798738" h="798738">
                <a:moveTo>
                  <a:pt x="0" y="0"/>
                </a:moveTo>
                <a:lnTo>
                  <a:pt x="798737" y="0"/>
                </a:lnTo>
                <a:lnTo>
                  <a:pt x="798737" y="798738"/>
                </a:lnTo>
                <a:lnTo>
                  <a:pt x="0" y="79873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6" name="Freeform 46"/>
          <p:cNvSpPr/>
          <p:nvPr/>
        </p:nvSpPr>
        <p:spPr>
          <a:xfrm>
            <a:off x="10901803" y="7914768"/>
            <a:ext cx="1064938" cy="1051626"/>
          </a:xfrm>
          <a:custGeom>
            <a:avLst/>
            <a:gdLst/>
            <a:ahLst/>
            <a:cxnLst/>
            <a:rect l="l" t="t" r="r" b="b"/>
            <a:pathLst>
              <a:path w="1064938" h="1051626">
                <a:moveTo>
                  <a:pt x="0" y="0"/>
                </a:moveTo>
                <a:lnTo>
                  <a:pt x="1064938" y="0"/>
                </a:lnTo>
                <a:lnTo>
                  <a:pt x="1064938" y="1051626"/>
                </a:lnTo>
                <a:lnTo>
                  <a:pt x="0" y="105162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47" name="TextBox 47"/>
          <p:cNvSpPr txBox="1"/>
          <p:nvPr/>
        </p:nvSpPr>
        <p:spPr>
          <a:xfrm>
            <a:off x="551339" y="2474832"/>
            <a:ext cx="7046035" cy="609600"/>
          </a:xfrm>
          <a:prstGeom prst="rect">
            <a:avLst/>
          </a:prstGeom>
        </p:spPr>
        <p:txBody>
          <a:bodyPr lIns="0" tIns="0" rIns="0" bIns="0" rtlCol="0" anchor="t">
            <a:spAutoFit/>
          </a:bodyPr>
          <a:lstStyle/>
          <a:p>
            <a:pPr algn="l">
              <a:lnSpc>
                <a:spcPts val="4560"/>
              </a:lnSpc>
            </a:pPr>
            <a:r>
              <a:rPr lang="en-US" sz="3800">
                <a:solidFill>
                  <a:srgbClr val="082055"/>
                </a:solidFill>
                <a:latin typeface="Poppins"/>
                <a:ea typeface="Poppins"/>
                <a:cs typeface="Poppins"/>
                <a:sym typeface="Poppins"/>
              </a:rPr>
              <a:t>Introduction to CoreIOT</a:t>
            </a:r>
          </a:p>
        </p:txBody>
      </p:sp>
      <p:sp>
        <p:nvSpPr>
          <p:cNvPr id="48" name="TextBox 48"/>
          <p:cNvSpPr txBox="1"/>
          <p:nvPr/>
        </p:nvSpPr>
        <p:spPr>
          <a:xfrm>
            <a:off x="9232991" y="1343347"/>
            <a:ext cx="7954705" cy="552450"/>
          </a:xfrm>
          <a:prstGeom prst="rect">
            <a:avLst/>
          </a:prstGeom>
        </p:spPr>
        <p:txBody>
          <a:bodyPr lIns="0" tIns="0" rIns="0" bIns="0" rtlCol="0" anchor="t">
            <a:spAutoFit/>
          </a:bodyPr>
          <a:lstStyle/>
          <a:p>
            <a:pPr algn="l">
              <a:lnSpc>
                <a:spcPts val="4079"/>
              </a:lnSpc>
            </a:pPr>
            <a:r>
              <a:rPr lang="en-US" sz="3399" b="1" spc="27">
                <a:solidFill>
                  <a:srgbClr val="000000"/>
                </a:solidFill>
                <a:latin typeface="Poppins Bold"/>
                <a:ea typeface="Poppins Bold"/>
                <a:cs typeface="Poppins Bold"/>
                <a:sym typeface="Poppins Bold"/>
              </a:rPr>
              <a:t>Create CoreIOT Account</a:t>
            </a:r>
          </a:p>
        </p:txBody>
      </p:sp>
      <p:sp>
        <p:nvSpPr>
          <p:cNvPr id="49" name="TextBox 49"/>
          <p:cNvSpPr txBox="1"/>
          <p:nvPr/>
        </p:nvSpPr>
        <p:spPr>
          <a:xfrm>
            <a:off x="9905792" y="2726320"/>
            <a:ext cx="6455213" cy="552450"/>
          </a:xfrm>
          <a:prstGeom prst="rect">
            <a:avLst/>
          </a:prstGeom>
        </p:spPr>
        <p:txBody>
          <a:bodyPr lIns="0" tIns="0" rIns="0" bIns="0" rtlCol="0" anchor="t">
            <a:spAutoFit/>
          </a:bodyPr>
          <a:lstStyle/>
          <a:p>
            <a:pPr algn="l">
              <a:lnSpc>
                <a:spcPts val="4079"/>
              </a:lnSpc>
            </a:pPr>
            <a:r>
              <a:rPr lang="en-US" sz="3399" b="1" spc="27">
                <a:solidFill>
                  <a:srgbClr val="000000"/>
                </a:solidFill>
                <a:latin typeface="Poppins Bold"/>
                <a:ea typeface="Poppins Bold"/>
                <a:cs typeface="Poppins Bold"/>
                <a:sym typeface="Poppins Bold"/>
              </a:rPr>
              <a:t>Create Devices</a:t>
            </a:r>
          </a:p>
        </p:txBody>
      </p:sp>
      <p:sp>
        <p:nvSpPr>
          <p:cNvPr id="50" name="TextBox 50"/>
          <p:cNvSpPr txBox="1"/>
          <p:nvPr/>
        </p:nvSpPr>
        <p:spPr>
          <a:xfrm>
            <a:off x="10534508" y="4139263"/>
            <a:ext cx="4402561" cy="552450"/>
          </a:xfrm>
          <a:prstGeom prst="rect">
            <a:avLst/>
          </a:prstGeom>
        </p:spPr>
        <p:txBody>
          <a:bodyPr lIns="0" tIns="0" rIns="0" bIns="0" rtlCol="0" anchor="t">
            <a:spAutoFit/>
          </a:bodyPr>
          <a:lstStyle/>
          <a:p>
            <a:pPr algn="l">
              <a:lnSpc>
                <a:spcPts val="4079"/>
              </a:lnSpc>
            </a:pPr>
            <a:r>
              <a:rPr lang="en-US" sz="3399" b="1" spc="27">
                <a:solidFill>
                  <a:srgbClr val="000000"/>
                </a:solidFill>
                <a:latin typeface="Poppins Bold"/>
                <a:ea typeface="Poppins Bold"/>
                <a:cs typeface="Poppins Bold"/>
                <a:sym typeface="Poppins Bold"/>
              </a:rPr>
              <a:t>Create Dashboard</a:t>
            </a:r>
          </a:p>
        </p:txBody>
      </p:sp>
      <p:sp>
        <p:nvSpPr>
          <p:cNvPr id="51" name="TextBox 51"/>
          <p:cNvSpPr txBox="1"/>
          <p:nvPr/>
        </p:nvSpPr>
        <p:spPr>
          <a:xfrm>
            <a:off x="11203303" y="5522236"/>
            <a:ext cx="5771252" cy="552450"/>
          </a:xfrm>
          <a:prstGeom prst="rect">
            <a:avLst/>
          </a:prstGeom>
        </p:spPr>
        <p:txBody>
          <a:bodyPr lIns="0" tIns="0" rIns="0" bIns="0" rtlCol="0" anchor="t">
            <a:spAutoFit/>
          </a:bodyPr>
          <a:lstStyle/>
          <a:p>
            <a:pPr algn="l">
              <a:lnSpc>
                <a:spcPts val="4079"/>
              </a:lnSpc>
            </a:pPr>
            <a:r>
              <a:rPr lang="en-US" sz="3399" b="1" spc="27">
                <a:solidFill>
                  <a:srgbClr val="000000"/>
                </a:solidFill>
                <a:latin typeface="Poppins Bold"/>
                <a:ea typeface="Poppins Bold"/>
                <a:cs typeface="Poppins Bold"/>
                <a:sym typeface="Poppins Bold"/>
              </a:rPr>
              <a:t>IOT Client using Python</a:t>
            </a:r>
          </a:p>
        </p:txBody>
      </p:sp>
      <p:sp>
        <p:nvSpPr>
          <p:cNvPr id="52" name="TextBox 52"/>
          <p:cNvSpPr txBox="1"/>
          <p:nvPr/>
        </p:nvSpPr>
        <p:spPr>
          <a:xfrm>
            <a:off x="11776136" y="6874288"/>
            <a:ext cx="4872070" cy="552450"/>
          </a:xfrm>
          <a:prstGeom prst="rect">
            <a:avLst/>
          </a:prstGeom>
        </p:spPr>
        <p:txBody>
          <a:bodyPr lIns="0" tIns="0" rIns="0" bIns="0" rtlCol="0" anchor="t">
            <a:spAutoFit/>
          </a:bodyPr>
          <a:lstStyle/>
          <a:p>
            <a:pPr algn="l">
              <a:lnSpc>
                <a:spcPts val="4079"/>
              </a:lnSpc>
            </a:pPr>
            <a:r>
              <a:rPr lang="en-US" sz="3399" b="1" spc="27">
                <a:solidFill>
                  <a:srgbClr val="000000"/>
                </a:solidFill>
                <a:latin typeface="Poppins Bold"/>
                <a:ea typeface="Poppins Bold"/>
                <a:cs typeface="Poppins Bold"/>
                <a:sym typeface="Poppins Bold"/>
              </a:rPr>
              <a:t>Testing and Validate</a:t>
            </a:r>
          </a:p>
        </p:txBody>
      </p:sp>
      <p:sp>
        <p:nvSpPr>
          <p:cNvPr id="53" name="TextBox 53"/>
          <p:cNvSpPr txBox="1"/>
          <p:nvPr/>
        </p:nvSpPr>
        <p:spPr>
          <a:xfrm>
            <a:off x="12376386" y="8173881"/>
            <a:ext cx="4811309" cy="552450"/>
          </a:xfrm>
          <a:prstGeom prst="rect">
            <a:avLst/>
          </a:prstGeom>
        </p:spPr>
        <p:txBody>
          <a:bodyPr lIns="0" tIns="0" rIns="0" bIns="0" rtlCol="0" anchor="t">
            <a:spAutoFit/>
          </a:bodyPr>
          <a:lstStyle/>
          <a:p>
            <a:pPr algn="l">
              <a:lnSpc>
                <a:spcPts val="4079"/>
              </a:lnSpc>
            </a:pPr>
            <a:r>
              <a:rPr lang="en-US" sz="3399" b="1" spc="27">
                <a:solidFill>
                  <a:srgbClr val="000000"/>
                </a:solidFill>
                <a:latin typeface="Poppins Bold"/>
                <a:ea typeface="Poppins Bold"/>
                <a:cs typeface="Poppins Bold"/>
                <a:sym typeface="Poppins Bold"/>
              </a:rPr>
              <a:t>Summary</a:t>
            </a:r>
          </a:p>
        </p:txBody>
      </p:sp>
      <p:sp>
        <p:nvSpPr>
          <p:cNvPr id="54" name="TextBox 54"/>
          <p:cNvSpPr txBox="1"/>
          <p:nvPr/>
        </p:nvSpPr>
        <p:spPr>
          <a:xfrm>
            <a:off x="560864" y="3793946"/>
            <a:ext cx="8091432" cy="2019300"/>
          </a:xfrm>
          <a:prstGeom prst="rect">
            <a:avLst/>
          </a:prstGeom>
        </p:spPr>
        <p:txBody>
          <a:bodyPr lIns="0" tIns="0" rIns="0" bIns="0" rtlCol="0" anchor="t">
            <a:spAutoFit/>
          </a:bodyPr>
          <a:lstStyle/>
          <a:p>
            <a:pPr algn="just">
              <a:lnSpc>
                <a:spcPts val="2639"/>
              </a:lnSpc>
            </a:pPr>
            <a:r>
              <a:rPr lang="en-US" sz="2199">
                <a:solidFill>
                  <a:srgbClr val="000000"/>
                </a:solidFill>
                <a:latin typeface="Poppins"/>
                <a:ea typeface="Poppins"/>
                <a:cs typeface="Poppins"/>
                <a:sym typeface="Poppins"/>
              </a:rPr>
              <a:t>Manual Videos:</a:t>
            </a:r>
          </a:p>
          <a:p>
            <a:pPr marL="474979" lvl="1" indent="-237490" algn="just">
              <a:lnSpc>
                <a:spcPts val="2639"/>
              </a:lnSpc>
              <a:buAutoNum type="arabicPeriod"/>
            </a:pPr>
            <a:r>
              <a:rPr lang="en-US" sz="2199">
                <a:solidFill>
                  <a:srgbClr val="000000"/>
                </a:solidFill>
                <a:latin typeface="Poppins"/>
                <a:ea typeface="Poppins"/>
                <a:cs typeface="Poppins"/>
                <a:sym typeface="Poppins"/>
              </a:rPr>
              <a:t>https://www.youtube.com/watch?v=l7AqpsF1ByQ</a:t>
            </a:r>
          </a:p>
          <a:p>
            <a:pPr marL="474979" lvl="1" indent="-237490" algn="just">
              <a:lnSpc>
                <a:spcPts val="2639"/>
              </a:lnSpc>
              <a:buAutoNum type="arabicPeriod"/>
            </a:pPr>
            <a:r>
              <a:rPr lang="en-US" sz="2199">
                <a:solidFill>
                  <a:srgbClr val="000000"/>
                </a:solidFill>
                <a:latin typeface="Poppins"/>
                <a:ea typeface="Poppins"/>
                <a:cs typeface="Poppins"/>
                <a:sym typeface="Poppins"/>
              </a:rPr>
              <a:t>https://www.youtube.com/watch?v=bigeRVU2iSE</a:t>
            </a:r>
          </a:p>
          <a:p>
            <a:pPr marL="474979" lvl="1" indent="-237490" algn="just">
              <a:lnSpc>
                <a:spcPts val="2639"/>
              </a:lnSpc>
              <a:buAutoNum type="arabicPeriod"/>
            </a:pPr>
            <a:r>
              <a:rPr lang="en-US" sz="2199">
                <a:solidFill>
                  <a:srgbClr val="000000"/>
                </a:solidFill>
                <a:latin typeface="Poppins"/>
                <a:ea typeface="Poppins"/>
                <a:cs typeface="Poppins"/>
                <a:sym typeface="Poppins"/>
              </a:rPr>
              <a:t>https://www.youtube.com/watch?v=Qdan24IpoH4</a:t>
            </a:r>
          </a:p>
          <a:p>
            <a:pPr marL="474979" lvl="1" indent="-237490" algn="just">
              <a:lnSpc>
                <a:spcPts val="2639"/>
              </a:lnSpc>
              <a:buAutoNum type="arabicPeriod"/>
            </a:pPr>
            <a:r>
              <a:rPr lang="en-US" sz="2199">
                <a:solidFill>
                  <a:srgbClr val="000000"/>
                </a:solidFill>
                <a:latin typeface="Poppins"/>
                <a:ea typeface="Poppins"/>
                <a:cs typeface="Poppins"/>
                <a:sym typeface="Poppins"/>
              </a:rPr>
              <a:t>https://www.youtube.com/watch?v=c5fX7SeRQsQ</a:t>
            </a:r>
          </a:p>
          <a:p>
            <a:pPr algn="just">
              <a:lnSpc>
                <a:spcPts val="2639"/>
              </a:lnSpc>
            </a:pPr>
            <a:endParaRPr lang="en-US" sz="2199">
              <a:solidFill>
                <a:srgbClr val="000000"/>
              </a:solidFill>
              <a:latin typeface="Poppins"/>
              <a:ea typeface="Poppins"/>
              <a:cs typeface="Poppins"/>
              <a:sym typeface="Poppins"/>
            </a:endParaRPr>
          </a:p>
        </p:txBody>
      </p:sp>
      <p:sp>
        <p:nvSpPr>
          <p:cNvPr id="55" name="AutoShape 55"/>
          <p:cNvSpPr/>
          <p:nvPr/>
        </p:nvSpPr>
        <p:spPr>
          <a:xfrm>
            <a:off x="-3699613" y="1028700"/>
            <a:ext cx="7399226" cy="0"/>
          </a:xfrm>
          <a:prstGeom prst="line">
            <a:avLst/>
          </a:prstGeom>
          <a:ln w="95250" cap="flat">
            <a:solidFill>
              <a:srgbClr val="082055"/>
            </a:solidFill>
            <a:prstDash val="solid"/>
            <a:headEnd type="none" w="sm" len="sm"/>
            <a:tailEnd type="oval" w="lg" len="lg"/>
          </a:ln>
        </p:spPr>
        <p:txBody>
          <a:bodyPr/>
          <a:lstStyle/>
          <a:p>
            <a:endParaRPr lang="en-US"/>
          </a:p>
        </p:txBody>
      </p:sp>
      <p:sp>
        <p:nvSpPr>
          <p:cNvPr id="56" name="AutoShape 56"/>
          <p:cNvSpPr/>
          <p:nvPr/>
        </p:nvSpPr>
        <p:spPr>
          <a:xfrm>
            <a:off x="8117411" y="9486900"/>
            <a:ext cx="7399226" cy="0"/>
          </a:xfrm>
          <a:prstGeom prst="line">
            <a:avLst/>
          </a:prstGeom>
          <a:ln w="95250" cap="flat">
            <a:solidFill>
              <a:srgbClr val="082055"/>
            </a:solidFill>
            <a:prstDash val="solid"/>
            <a:headEnd type="oval" w="lg" len="lg"/>
            <a:tailEnd type="none" w="sm" len="sm"/>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58993" y="85725"/>
            <a:ext cx="19760652" cy="3324905"/>
            <a:chOff x="0" y="0"/>
            <a:chExt cx="5204452" cy="875695"/>
          </a:xfrm>
        </p:grpSpPr>
        <p:sp>
          <p:nvSpPr>
            <p:cNvPr id="3" name="Freeform 3"/>
            <p:cNvSpPr/>
            <p:nvPr/>
          </p:nvSpPr>
          <p:spPr>
            <a:xfrm>
              <a:off x="0" y="0"/>
              <a:ext cx="5204452" cy="875695"/>
            </a:xfrm>
            <a:custGeom>
              <a:avLst/>
              <a:gdLst/>
              <a:ahLst/>
              <a:cxnLst/>
              <a:rect l="l" t="t" r="r" b="b"/>
              <a:pathLst>
                <a:path w="5204452" h="875695">
                  <a:moveTo>
                    <a:pt x="0" y="0"/>
                  </a:moveTo>
                  <a:lnTo>
                    <a:pt x="5204452" y="0"/>
                  </a:lnTo>
                  <a:lnTo>
                    <a:pt x="5204452" y="875695"/>
                  </a:lnTo>
                  <a:lnTo>
                    <a:pt x="0" y="875695"/>
                  </a:lnTo>
                  <a:close/>
                </a:path>
              </a:pathLst>
            </a:custGeom>
            <a:solidFill>
              <a:srgbClr val="082055"/>
            </a:solidFill>
          </p:spPr>
          <p:txBody>
            <a:bodyPr/>
            <a:lstStyle/>
            <a:p>
              <a:endParaRPr lang="en-US"/>
            </a:p>
          </p:txBody>
        </p:sp>
        <p:sp>
          <p:nvSpPr>
            <p:cNvPr id="4" name="TextBox 4"/>
            <p:cNvSpPr txBox="1"/>
            <p:nvPr/>
          </p:nvSpPr>
          <p:spPr>
            <a:xfrm>
              <a:off x="0" y="-38100"/>
              <a:ext cx="5204452" cy="91379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443761" y="3610655"/>
            <a:ext cx="4626720" cy="4930665"/>
          </a:xfrm>
          <a:custGeom>
            <a:avLst/>
            <a:gdLst/>
            <a:ahLst/>
            <a:cxnLst/>
            <a:rect l="l" t="t" r="r" b="b"/>
            <a:pathLst>
              <a:path w="4626720" h="4930665">
                <a:moveTo>
                  <a:pt x="0" y="0"/>
                </a:moveTo>
                <a:lnTo>
                  <a:pt x="4626720" y="0"/>
                </a:lnTo>
                <a:lnTo>
                  <a:pt x="4626720" y="4930665"/>
                </a:lnTo>
                <a:lnTo>
                  <a:pt x="0" y="4930665"/>
                </a:lnTo>
                <a:lnTo>
                  <a:pt x="0" y="0"/>
                </a:lnTo>
                <a:close/>
              </a:path>
            </a:pathLst>
          </a:custGeom>
          <a:blipFill>
            <a:blip r:embed="rId2"/>
            <a:stretch>
              <a:fillRect/>
            </a:stretch>
          </a:blipFill>
        </p:spPr>
        <p:txBody>
          <a:bodyPr/>
          <a:lstStyle/>
          <a:p>
            <a:endParaRPr lang="en-US"/>
          </a:p>
        </p:txBody>
      </p:sp>
      <p:sp>
        <p:nvSpPr>
          <p:cNvPr id="6" name="Freeform 6"/>
          <p:cNvSpPr/>
          <p:nvPr/>
        </p:nvSpPr>
        <p:spPr>
          <a:xfrm>
            <a:off x="6933491" y="3610655"/>
            <a:ext cx="4297464" cy="4930665"/>
          </a:xfrm>
          <a:custGeom>
            <a:avLst/>
            <a:gdLst/>
            <a:ahLst/>
            <a:cxnLst/>
            <a:rect l="l" t="t" r="r" b="b"/>
            <a:pathLst>
              <a:path w="4297464" h="4930665">
                <a:moveTo>
                  <a:pt x="0" y="0"/>
                </a:moveTo>
                <a:lnTo>
                  <a:pt x="4297464" y="0"/>
                </a:lnTo>
                <a:lnTo>
                  <a:pt x="4297464" y="4930665"/>
                </a:lnTo>
                <a:lnTo>
                  <a:pt x="0" y="4930665"/>
                </a:lnTo>
                <a:lnTo>
                  <a:pt x="0" y="0"/>
                </a:lnTo>
                <a:close/>
              </a:path>
            </a:pathLst>
          </a:custGeom>
          <a:blipFill>
            <a:blip r:embed="rId3"/>
            <a:stretch>
              <a:fillRect/>
            </a:stretch>
          </a:blipFill>
        </p:spPr>
        <p:txBody>
          <a:bodyPr/>
          <a:lstStyle/>
          <a:p>
            <a:endParaRPr lang="en-US"/>
          </a:p>
        </p:txBody>
      </p:sp>
      <p:sp>
        <p:nvSpPr>
          <p:cNvPr id="7" name="Freeform 7"/>
          <p:cNvSpPr/>
          <p:nvPr/>
        </p:nvSpPr>
        <p:spPr>
          <a:xfrm>
            <a:off x="12093964" y="3610655"/>
            <a:ext cx="5706254" cy="4930665"/>
          </a:xfrm>
          <a:custGeom>
            <a:avLst/>
            <a:gdLst/>
            <a:ahLst/>
            <a:cxnLst/>
            <a:rect l="l" t="t" r="r" b="b"/>
            <a:pathLst>
              <a:path w="5706254" h="4930665">
                <a:moveTo>
                  <a:pt x="0" y="0"/>
                </a:moveTo>
                <a:lnTo>
                  <a:pt x="5706254" y="0"/>
                </a:lnTo>
                <a:lnTo>
                  <a:pt x="5706254" y="4930665"/>
                </a:lnTo>
                <a:lnTo>
                  <a:pt x="0" y="4930665"/>
                </a:lnTo>
                <a:lnTo>
                  <a:pt x="0" y="0"/>
                </a:lnTo>
                <a:close/>
              </a:path>
            </a:pathLst>
          </a:custGeom>
          <a:blipFill>
            <a:blip r:embed="rId4"/>
            <a:stretch>
              <a:fillRect l="-17960" b="-7164"/>
            </a:stretch>
          </a:blipFill>
        </p:spPr>
        <p:txBody>
          <a:bodyPr/>
          <a:lstStyle/>
          <a:p>
            <a:endParaRPr lang="en-US"/>
          </a:p>
        </p:txBody>
      </p:sp>
      <p:sp>
        <p:nvSpPr>
          <p:cNvPr id="8" name="TextBox 8"/>
          <p:cNvSpPr txBox="1"/>
          <p:nvPr/>
        </p:nvSpPr>
        <p:spPr>
          <a:xfrm>
            <a:off x="4576051" y="845820"/>
            <a:ext cx="9290564" cy="771525"/>
          </a:xfrm>
          <a:prstGeom prst="rect">
            <a:avLst/>
          </a:prstGeom>
        </p:spPr>
        <p:txBody>
          <a:bodyPr lIns="0" tIns="0" rIns="0" bIns="0" rtlCol="0" anchor="t">
            <a:spAutoFit/>
          </a:bodyPr>
          <a:lstStyle/>
          <a:p>
            <a:pPr algn="ctr">
              <a:lnSpc>
                <a:spcPts val="5759"/>
              </a:lnSpc>
            </a:pPr>
            <a:r>
              <a:rPr lang="en-US" sz="4799" b="1" spc="38">
                <a:solidFill>
                  <a:srgbClr val="FFFFFF"/>
                </a:solidFill>
                <a:latin typeface="Poppins Bold"/>
                <a:ea typeface="Poppins Bold"/>
                <a:cs typeface="Poppins Bold"/>
                <a:sym typeface="Poppins Bold"/>
              </a:rPr>
              <a:t>Create Core IOT Account</a:t>
            </a:r>
          </a:p>
        </p:txBody>
      </p:sp>
      <p:sp>
        <p:nvSpPr>
          <p:cNvPr id="9" name="TextBox 9"/>
          <p:cNvSpPr txBox="1"/>
          <p:nvPr/>
        </p:nvSpPr>
        <p:spPr>
          <a:xfrm>
            <a:off x="1999670" y="8947150"/>
            <a:ext cx="3009538" cy="60325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Navigate to coreiot.io, click on Start Now</a:t>
            </a:r>
          </a:p>
        </p:txBody>
      </p:sp>
      <p:sp>
        <p:nvSpPr>
          <p:cNvPr id="10" name="TextBox 10"/>
          <p:cNvSpPr txBox="1"/>
          <p:nvPr/>
        </p:nvSpPr>
        <p:spPr>
          <a:xfrm>
            <a:off x="1443761" y="1750695"/>
            <a:ext cx="15555143" cy="879475"/>
          </a:xfrm>
          <a:prstGeom prst="rect">
            <a:avLst/>
          </a:prstGeom>
        </p:spPr>
        <p:txBody>
          <a:bodyPr lIns="0" tIns="0" rIns="0" bIns="0" rtlCol="0" anchor="t">
            <a:spAutoFit/>
          </a:bodyPr>
          <a:lstStyle/>
          <a:p>
            <a:pPr algn="ctr">
              <a:lnSpc>
                <a:spcPts val="3499"/>
              </a:lnSpc>
            </a:pPr>
            <a:r>
              <a:rPr lang="en-US" sz="2499">
                <a:solidFill>
                  <a:srgbClr val="FFFFFF"/>
                </a:solidFill>
                <a:latin typeface="Poppins"/>
                <a:ea typeface="Poppins"/>
                <a:cs typeface="Poppins"/>
                <a:sym typeface="Poppins"/>
              </a:rPr>
              <a:t>An account having administrator role is required to login to CoreIOT Platform</a:t>
            </a:r>
          </a:p>
          <a:p>
            <a:pPr algn="ctr">
              <a:lnSpc>
                <a:spcPts val="3499"/>
              </a:lnSpc>
            </a:pPr>
            <a:r>
              <a:rPr lang="en-US" sz="2499">
                <a:solidFill>
                  <a:srgbClr val="FFFFFF"/>
                </a:solidFill>
                <a:latin typeface="Poppins"/>
                <a:ea typeface="Poppins"/>
                <a:cs typeface="Poppins"/>
                <a:sym typeface="Poppins"/>
              </a:rPr>
              <a:t>https://www.youtube.com/watch?v=l7AqpsF1ByQ</a:t>
            </a:r>
          </a:p>
        </p:txBody>
      </p:sp>
      <p:sp>
        <p:nvSpPr>
          <p:cNvPr id="11" name="TextBox 11"/>
          <p:cNvSpPr txBox="1"/>
          <p:nvPr/>
        </p:nvSpPr>
        <p:spPr>
          <a:xfrm>
            <a:off x="7716563" y="8947150"/>
            <a:ext cx="3009538" cy="60325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Login by using your Google Account</a:t>
            </a:r>
          </a:p>
        </p:txBody>
      </p:sp>
      <p:sp>
        <p:nvSpPr>
          <p:cNvPr id="12" name="TextBox 12"/>
          <p:cNvSpPr txBox="1"/>
          <p:nvPr/>
        </p:nvSpPr>
        <p:spPr>
          <a:xfrm>
            <a:off x="13205078" y="8947150"/>
            <a:ext cx="3009538" cy="60325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You are Tenant administrator now!!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58993" y="85725"/>
            <a:ext cx="19760652" cy="3324905"/>
            <a:chOff x="0" y="0"/>
            <a:chExt cx="5204452" cy="875695"/>
          </a:xfrm>
        </p:grpSpPr>
        <p:sp>
          <p:nvSpPr>
            <p:cNvPr id="3" name="Freeform 3"/>
            <p:cNvSpPr/>
            <p:nvPr/>
          </p:nvSpPr>
          <p:spPr>
            <a:xfrm>
              <a:off x="0" y="0"/>
              <a:ext cx="5204452" cy="875695"/>
            </a:xfrm>
            <a:custGeom>
              <a:avLst/>
              <a:gdLst/>
              <a:ahLst/>
              <a:cxnLst/>
              <a:rect l="l" t="t" r="r" b="b"/>
              <a:pathLst>
                <a:path w="5204452" h="875695">
                  <a:moveTo>
                    <a:pt x="0" y="0"/>
                  </a:moveTo>
                  <a:lnTo>
                    <a:pt x="5204452" y="0"/>
                  </a:lnTo>
                  <a:lnTo>
                    <a:pt x="5204452" y="875695"/>
                  </a:lnTo>
                  <a:lnTo>
                    <a:pt x="0" y="875695"/>
                  </a:lnTo>
                  <a:close/>
                </a:path>
              </a:pathLst>
            </a:custGeom>
            <a:solidFill>
              <a:srgbClr val="082055"/>
            </a:solidFill>
          </p:spPr>
          <p:txBody>
            <a:bodyPr/>
            <a:lstStyle/>
            <a:p>
              <a:endParaRPr lang="en-US"/>
            </a:p>
          </p:txBody>
        </p:sp>
        <p:sp>
          <p:nvSpPr>
            <p:cNvPr id="4" name="TextBox 4"/>
            <p:cNvSpPr txBox="1"/>
            <p:nvPr/>
          </p:nvSpPr>
          <p:spPr>
            <a:xfrm>
              <a:off x="0" y="-38100"/>
              <a:ext cx="5204452" cy="91379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443761" y="3610655"/>
            <a:ext cx="2963448" cy="5082937"/>
          </a:xfrm>
          <a:custGeom>
            <a:avLst/>
            <a:gdLst/>
            <a:ahLst/>
            <a:cxnLst/>
            <a:rect l="l" t="t" r="r" b="b"/>
            <a:pathLst>
              <a:path w="2963448" h="5082937">
                <a:moveTo>
                  <a:pt x="0" y="0"/>
                </a:moveTo>
                <a:lnTo>
                  <a:pt x="2963448" y="0"/>
                </a:lnTo>
                <a:lnTo>
                  <a:pt x="2963448" y="5082937"/>
                </a:lnTo>
                <a:lnTo>
                  <a:pt x="0" y="5082937"/>
                </a:lnTo>
                <a:lnTo>
                  <a:pt x="0" y="0"/>
                </a:lnTo>
                <a:close/>
              </a:path>
            </a:pathLst>
          </a:custGeom>
          <a:blipFill>
            <a:blip r:embed="rId2"/>
            <a:stretch>
              <a:fillRect/>
            </a:stretch>
          </a:blipFill>
        </p:spPr>
        <p:txBody>
          <a:bodyPr/>
          <a:lstStyle/>
          <a:p>
            <a:endParaRPr lang="en-US"/>
          </a:p>
        </p:txBody>
      </p:sp>
      <p:sp>
        <p:nvSpPr>
          <p:cNvPr id="6" name="Freeform 6"/>
          <p:cNvSpPr/>
          <p:nvPr/>
        </p:nvSpPr>
        <p:spPr>
          <a:xfrm>
            <a:off x="6165960" y="3610655"/>
            <a:ext cx="4776247" cy="4716679"/>
          </a:xfrm>
          <a:custGeom>
            <a:avLst/>
            <a:gdLst/>
            <a:ahLst/>
            <a:cxnLst/>
            <a:rect l="l" t="t" r="r" b="b"/>
            <a:pathLst>
              <a:path w="4776247" h="4716679">
                <a:moveTo>
                  <a:pt x="0" y="0"/>
                </a:moveTo>
                <a:lnTo>
                  <a:pt x="4776248" y="0"/>
                </a:lnTo>
                <a:lnTo>
                  <a:pt x="4776248" y="4716679"/>
                </a:lnTo>
                <a:lnTo>
                  <a:pt x="0" y="4716679"/>
                </a:lnTo>
                <a:lnTo>
                  <a:pt x="0" y="0"/>
                </a:lnTo>
                <a:close/>
              </a:path>
            </a:pathLst>
          </a:custGeom>
          <a:blipFill>
            <a:blip r:embed="rId3"/>
            <a:stretch>
              <a:fillRect t="-18862"/>
            </a:stretch>
          </a:blipFill>
        </p:spPr>
        <p:txBody>
          <a:bodyPr/>
          <a:lstStyle/>
          <a:p>
            <a:endParaRPr lang="en-US"/>
          </a:p>
        </p:txBody>
      </p:sp>
      <p:sp>
        <p:nvSpPr>
          <p:cNvPr id="7" name="Freeform 7"/>
          <p:cNvSpPr/>
          <p:nvPr/>
        </p:nvSpPr>
        <p:spPr>
          <a:xfrm>
            <a:off x="12654434" y="3610655"/>
            <a:ext cx="4110826" cy="5082937"/>
          </a:xfrm>
          <a:custGeom>
            <a:avLst/>
            <a:gdLst/>
            <a:ahLst/>
            <a:cxnLst/>
            <a:rect l="l" t="t" r="r" b="b"/>
            <a:pathLst>
              <a:path w="4110826" h="5082937">
                <a:moveTo>
                  <a:pt x="0" y="0"/>
                </a:moveTo>
                <a:lnTo>
                  <a:pt x="4110826" y="0"/>
                </a:lnTo>
                <a:lnTo>
                  <a:pt x="4110826" y="5082937"/>
                </a:lnTo>
                <a:lnTo>
                  <a:pt x="0" y="5082937"/>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3757121" y="845820"/>
            <a:ext cx="11189970" cy="771525"/>
          </a:xfrm>
          <a:prstGeom prst="rect">
            <a:avLst/>
          </a:prstGeom>
        </p:spPr>
        <p:txBody>
          <a:bodyPr lIns="0" tIns="0" rIns="0" bIns="0" rtlCol="0" anchor="t">
            <a:spAutoFit/>
          </a:bodyPr>
          <a:lstStyle/>
          <a:p>
            <a:pPr algn="ctr">
              <a:lnSpc>
                <a:spcPts val="5759"/>
              </a:lnSpc>
            </a:pPr>
            <a:r>
              <a:rPr lang="en-US" sz="4799" b="1" spc="38">
                <a:solidFill>
                  <a:srgbClr val="FFFFFF"/>
                </a:solidFill>
                <a:latin typeface="Poppins Bold"/>
                <a:ea typeface="Poppins Bold"/>
                <a:cs typeface="Poppins Bold"/>
                <a:sym typeface="Poppins Bold"/>
              </a:rPr>
              <a:t>Create Device and Credential</a:t>
            </a:r>
          </a:p>
        </p:txBody>
      </p:sp>
      <p:sp>
        <p:nvSpPr>
          <p:cNvPr id="9" name="TextBox 9"/>
          <p:cNvSpPr txBox="1"/>
          <p:nvPr/>
        </p:nvSpPr>
        <p:spPr>
          <a:xfrm>
            <a:off x="1443761" y="8947150"/>
            <a:ext cx="3009538" cy="60325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Go to Entities</a:t>
            </a:r>
          </a:p>
          <a:p>
            <a:pPr algn="ctr">
              <a:lnSpc>
                <a:spcPts val="2300"/>
              </a:lnSpc>
            </a:pPr>
            <a:r>
              <a:rPr lang="en-US" sz="2000" b="1">
                <a:solidFill>
                  <a:srgbClr val="000000"/>
                </a:solidFill>
                <a:latin typeface="Poppins Bold"/>
                <a:ea typeface="Poppins Bold"/>
                <a:cs typeface="Poppins Bold"/>
                <a:sym typeface="Poppins Bold"/>
              </a:rPr>
              <a:t>Select Devices</a:t>
            </a:r>
          </a:p>
        </p:txBody>
      </p:sp>
      <p:sp>
        <p:nvSpPr>
          <p:cNvPr id="10" name="TextBox 10"/>
          <p:cNvSpPr txBox="1"/>
          <p:nvPr/>
        </p:nvSpPr>
        <p:spPr>
          <a:xfrm>
            <a:off x="1443761" y="1750695"/>
            <a:ext cx="15555143" cy="879475"/>
          </a:xfrm>
          <a:prstGeom prst="rect">
            <a:avLst/>
          </a:prstGeom>
        </p:spPr>
        <p:txBody>
          <a:bodyPr lIns="0" tIns="0" rIns="0" bIns="0" rtlCol="0" anchor="t">
            <a:spAutoFit/>
          </a:bodyPr>
          <a:lstStyle/>
          <a:p>
            <a:pPr algn="ctr">
              <a:lnSpc>
                <a:spcPts val="3499"/>
              </a:lnSpc>
            </a:pPr>
            <a:r>
              <a:rPr lang="en-US" sz="2499">
                <a:solidFill>
                  <a:srgbClr val="FFFFFF"/>
                </a:solidFill>
                <a:latin typeface="Poppins"/>
                <a:ea typeface="Poppins"/>
                <a:cs typeface="Poppins"/>
                <a:sym typeface="Poppins"/>
              </a:rPr>
              <a:t>Create your device and manage the credential</a:t>
            </a:r>
          </a:p>
          <a:p>
            <a:pPr algn="ctr">
              <a:lnSpc>
                <a:spcPts val="3499"/>
              </a:lnSpc>
            </a:pPr>
            <a:r>
              <a:rPr lang="en-US" sz="2499">
                <a:solidFill>
                  <a:srgbClr val="FFFFFF"/>
                </a:solidFill>
                <a:latin typeface="Poppins"/>
                <a:ea typeface="Poppins"/>
                <a:cs typeface="Poppins"/>
                <a:sym typeface="Poppins"/>
              </a:rPr>
              <a:t>https://www.youtube.com/watch?v=l7AqpsF1ByQ</a:t>
            </a:r>
          </a:p>
        </p:txBody>
      </p:sp>
      <p:sp>
        <p:nvSpPr>
          <p:cNvPr id="11" name="TextBox 11"/>
          <p:cNvSpPr txBox="1"/>
          <p:nvPr/>
        </p:nvSpPr>
        <p:spPr>
          <a:xfrm>
            <a:off x="6619310" y="8874567"/>
            <a:ext cx="3869547" cy="60325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Press ADD icon on the screen (top-right corner)</a:t>
            </a:r>
          </a:p>
        </p:txBody>
      </p:sp>
      <p:sp>
        <p:nvSpPr>
          <p:cNvPr id="12" name="TextBox 12"/>
          <p:cNvSpPr txBox="1"/>
          <p:nvPr/>
        </p:nvSpPr>
        <p:spPr>
          <a:xfrm>
            <a:off x="13205078" y="8947150"/>
            <a:ext cx="3009538" cy="60325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Choose Add new device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58993" y="85725"/>
            <a:ext cx="19760652" cy="3324905"/>
            <a:chOff x="0" y="0"/>
            <a:chExt cx="5204452" cy="875695"/>
          </a:xfrm>
        </p:grpSpPr>
        <p:sp>
          <p:nvSpPr>
            <p:cNvPr id="3" name="Freeform 3"/>
            <p:cNvSpPr/>
            <p:nvPr/>
          </p:nvSpPr>
          <p:spPr>
            <a:xfrm>
              <a:off x="0" y="0"/>
              <a:ext cx="5204452" cy="875695"/>
            </a:xfrm>
            <a:custGeom>
              <a:avLst/>
              <a:gdLst/>
              <a:ahLst/>
              <a:cxnLst/>
              <a:rect l="l" t="t" r="r" b="b"/>
              <a:pathLst>
                <a:path w="5204452" h="875695">
                  <a:moveTo>
                    <a:pt x="0" y="0"/>
                  </a:moveTo>
                  <a:lnTo>
                    <a:pt x="5204452" y="0"/>
                  </a:lnTo>
                  <a:lnTo>
                    <a:pt x="5204452" y="875695"/>
                  </a:lnTo>
                  <a:lnTo>
                    <a:pt x="0" y="875695"/>
                  </a:lnTo>
                  <a:close/>
                </a:path>
              </a:pathLst>
            </a:custGeom>
            <a:solidFill>
              <a:srgbClr val="082055"/>
            </a:solidFill>
          </p:spPr>
          <p:txBody>
            <a:bodyPr/>
            <a:lstStyle/>
            <a:p>
              <a:endParaRPr lang="en-US"/>
            </a:p>
          </p:txBody>
        </p:sp>
        <p:sp>
          <p:nvSpPr>
            <p:cNvPr id="4" name="TextBox 4"/>
            <p:cNvSpPr txBox="1"/>
            <p:nvPr/>
          </p:nvSpPr>
          <p:spPr>
            <a:xfrm>
              <a:off x="0" y="-38100"/>
              <a:ext cx="5204452" cy="91379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899471" y="3610655"/>
            <a:ext cx="4098118" cy="5082937"/>
          </a:xfrm>
          <a:custGeom>
            <a:avLst/>
            <a:gdLst/>
            <a:ahLst/>
            <a:cxnLst/>
            <a:rect l="l" t="t" r="r" b="b"/>
            <a:pathLst>
              <a:path w="4098118" h="5082937">
                <a:moveTo>
                  <a:pt x="0" y="0"/>
                </a:moveTo>
                <a:lnTo>
                  <a:pt x="4098118" y="0"/>
                </a:lnTo>
                <a:lnTo>
                  <a:pt x="4098118" y="5082937"/>
                </a:lnTo>
                <a:lnTo>
                  <a:pt x="0" y="5082937"/>
                </a:lnTo>
                <a:lnTo>
                  <a:pt x="0" y="0"/>
                </a:lnTo>
                <a:close/>
              </a:path>
            </a:pathLst>
          </a:custGeom>
          <a:blipFill>
            <a:blip r:embed="rId2"/>
            <a:stretch>
              <a:fillRect/>
            </a:stretch>
          </a:blipFill>
        </p:spPr>
        <p:txBody>
          <a:bodyPr/>
          <a:lstStyle/>
          <a:p>
            <a:endParaRPr lang="en-US"/>
          </a:p>
        </p:txBody>
      </p:sp>
      <p:sp>
        <p:nvSpPr>
          <p:cNvPr id="6" name="Freeform 6"/>
          <p:cNvSpPr/>
          <p:nvPr/>
        </p:nvSpPr>
        <p:spPr>
          <a:xfrm>
            <a:off x="5980735" y="3610655"/>
            <a:ext cx="4199777" cy="5082937"/>
          </a:xfrm>
          <a:custGeom>
            <a:avLst/>
            <a:gdLst/>
            <a:ahLst/>
            <a:cxnLst/>
            <a:rect l="l" t="t" r="r" b="b"/>
            <a:pathLst>
              <a:path w="4199777" h="5082937">
                <a:moveTo>
                  <a:pt x="0" y="0"/>
                </a:moveTo>
                <a:lnTo>
                  <a:pt x="4199777" y="0"/>
                </a:lnTo>
                <a:lnTo>
                  <a:pt x="4199777" y="5082937"/>
                </a:lnTo>
                <a:lnTo>
                  <a:pt x="0" y="5082937"/>
                </a:lnTo>
                <a:lnTo>
                  <a:pt x="0" y="0"/>
                </a:lnTo>
                <a:close/>
              </a:path>
            </a:pathLst>
          </a:custGeom>
          <a:blipFill>
            <a:blip r:embed="rId3"/>
            <a:stretch>
              <a:fillRect/>
            </a:stretch>
          </a:blipFill>
        </p:spPr>
        <p:txBody>
          <a:bodyPr/>
          <a:lstStyle/>
          <a:p>
            <a:endParaRPr lang="en-US"/>
          </a:p>
        </p:txBody>
      </p:sp>
      <p:sp>
        <p:nvSpPr>
          <p:cNvPr id="7" name="Freeform 7"/>
          <p:cNvSpPr/>
          <p:nvPr/>
        </p:nvSpPr>
        <p:spPr>
          <a:xfrm>
            <a:off x="10865001" y="3610655"/>
            <a:ext cx="6880457" cy="5082937"/>
          </a:xfrm>
          <a:custGeom>
            <a:avLst/>
            <a:gdLst/>
            <a:ahLst/>
            <a:cxnLst/>
            <a:rect l="l" t="t" r="r" b="b"/>
            <a:pathLst>
              <a:path w="6880457" h="5082937">
                <a:moveTo>
                  <a:pt x="0" y="0"/>
                </a:moveTo>
                <a:lnTo>
                  <a:pt x="6880456" y="0"/>
                </a:lnTo>
                <a:lnTo>
                  <a:pt x="6880456" y="5082937"/>
                </a:lnTo>
                <a:lnTo>
                  <a:pt x="0" y="5082937"/>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3757121" y="845820"/>
            <a:ext cx="11189970" cy="771525"/>
          </a:xfrm>
          <a:prstGeom prst="rect">
            <a:avLst/>
          </a:prstGeom>
        </p:spPr>
        <p:txBody>
          <a:bodyPr lIns="0" tIns="0" rIns="0" bIns="0" rtlCol="0" anchor="t">
            <a:spAutoFit/>
          </a:bodyPr>
          <a:lstStyle/>
          <a:p>
            <a:pPr algn="ctr">
              <a:lnSpc>
                <a:spcPts val="5759"/>
              </a:lnSpc>
            </a:pPr>
            <a:r>
              <a:rPr lang="en-US" sz="4799" b="1" spc="38">
                <a:solidFill>
                  <a:srgbClr val="FFFFFF"/>
                </a:solidFill>
                <a:latin typeface="Poppins Bold"/>
                <a:ea typeface="Poppins Bold"/>
                <a:cs typeface="Poppins Bold"/>
                <a:sym typeface="Poppins Bold"/>
              </a:rPr>
              <a:t>Create Device and Credential</a:t>
            </a:r>
          </a:p>
        </p:txBody>
      </p:sp>
      <p:sp>
        <p:nvSpPr>
          <p:cNvPr id="9" name="TextBox 9"/>
          <p:cNvSpPr txBox="1"/>
          <p:nvPr/>
        </p:nvSpPr>
        <p:spPr>
          <a:xfrm>
            <a:off x="1443761" y="8947150"/>
            <a:ext cx="3009538" cy="60325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Fill in the name for your device</a:t>
            </a:r>
          </a:p>
        </p:txBody>
      </p:sp>
      <p:sp>
        <p:nvSpPr>
          <p:cNvPr id="10" name="TextBox 10"/>
          <p:cNvSpPr txBox="1"/>
          <p:nvPr/>
        </p:nvSpPr>
        <p:spPr>
          <a:xfrm>
            <a:off x="1443761" y="1750695"/>
            <a:ext cx="15555143" cy="879475"/>
          </a:xfrm>
          <a:prstGeom prst="rect">
            <a:avLst/>
          </a:prstGeom>
        </p:spPr>
        <p:txBody>
          <a:bodyPr lIns="0" tIns="0" rIns="0" bIns="0" rtlCol="0" anchor="t">
            <a:spAutoFit/>
          </a:bodyPr>
          <a:lstStyle/>
          <a:p>
            <a:pPr algn="ctr">
              <a:lnSpc>
                <a:spcPts val="3499"/>
              </a:lnSpc>
            </a:pPr>
            <a:r>
              <a:rPr lang="en-US" sz="2499">
                <a:solidFill>
                  <a:srgbClr val="FFFFFF"/>
                </a:solidFill>
                <a:latin typeface="Poppins"/>
                <a:ea typeface="Poppins"/>
                <a:cs typeface="Poppins"/>
                <a:sym typeface="Poppins"/>
              </a:rPr>
              <a:t>Create your device and manage the credential</a:t>
            </a:r>
          </a:p>
          <a:p>
            <a:pPr algn="ctr">
              <a:lnSpc>
                <a:spcPts val="3499"/>
              </a:lnSpc>
            </a:pPr>
            <a:r>
              <a:rPr lang="en-US" sz="2499">
                <a:solidFill>
                  <a:srgbClr val="FFFFFF"/>
                </a:solidFill>
                <a:latin typeface="Poppins"/>
                <a:ea typeface="Poppins"/>
                <a:cs typeface="Poppins"/>
                <a:sym typeface="Poppins"/>
              </a:rPr>
              <a:t>https://www.youtube.com/watch?v=l7AqpsF1ByQ</a:t>
            </a:r>
          </a:p>
        </p:txBody>
      </p:sp>
      <p:sp>
        <p:nvSpPr>
          <p:cNvPr id="11" name="TextBox 11"/>
          <p:cNvSpPr txBox="1"/>
          <p:nvPr/>
        </p:nvSpPr>
        <p:spPr>
          <a:xfrm>
            <a:off x="6145850" y="8947150"/>
            <a:ext cx="3869547" cy="60325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View the connectivity settings of the device</a:t>
            </a:r>
          </a:p>
        </p:txBody>
      </p:sp>
      <p:sp>
        <p:nvSpPr>
          <p:cNvPr id="12" name="TextBox 12"/>
          <p:cNvSpPr txBox="1"/>
          <p:nvPr/>
        </p:nvSpPr>
        <p:spPr>
          <a:xfrm>
            <a:off x="12800460" y="8874567"/>
            <a:ext cx="3009538" cy="88900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Select your newly created device to show more details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58993" y="85725"/>
            <a:ext cx="19760652" cy="3324905"/>
            <a:chOff x="0" y="0"/>
            <a:chExt cx="5204452" cy="875695"/>
          </a:xfrm>
        </p:grpSpPr>
        <p:sp>
          <p:nvSpPr>
            <p:cNvPr id="3" name="Freeform 3"/>
            <p:cNvSpPr/>
            <p:nvPr/>
          </p:nvSpPr>
          <p:spPr>
            <a:xfrm>
              <a:off x="0" y="0"/>
              <a:ext cx="5204452" cy="875695"/>
            </a:xfrm>
            <a:custGeom>
              <a:avLst/>
              <a:gdLst/>
              <a:ahLst/>
              <a:cxnLst/>
              <a:rect l="l" t="t" r="r" b="b"/>
              <a:pathLst>
                <a:path w="5204452" h="875695">
                  <a:moveTo>
                    <a:pt x="0" y="0"/>
                  </a:moveTo>
                  <a:lnTo>
                    <a:pt x="5204452" y="0"/>
                  </a:lnTo>
                  <a:lnTo>
                    <a:pt x="5204452" y="875695"/>
                  </a:lnTo>
                  <a:lnTo>
                    <a:pt x="0" y="875695"/>
                  </a:lnTo>
                  <a:close/>
                </a:path>
              </a:pathLst>
            </a:custGeom>
            <a:solidFill>
              <a:srgbClr val="082055"/>
            </a:solidFill>
          </p:spPr>
          <p:txBody>
            <a:bodyPr/>
            <a:lstStyle/>
            <a:p>
              <a:endParaRPr lang="en-US"/>
            </a:p>
          </p:txBody>
        </p:sp>
        <p:sp>
          <p:nvSpPr>
            <p:cNvPr id="4" name="TextBox 4"/>
            <p:cNvSpPr txBox="1"/>
            <p:nvPr/>
          </p:nvSpPr>
          <p:spPr>
            <a:xfrm>
              <a:off x="0" y="-38100"/>
              <a:ext cx="5204452" cy="91379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846241" y="4247584"/>
            <a:ext cx="5316397" cy="3784769"/>
          </a:xfrm>
          <a:custGeom>
            <a:avLst/>
            <a:gdLst/>
            <a:ahLst/>
            <a:cxnLst/>
            <a:rect l="l" t="t" r="r" b="b"/>
            <a:pathLst>
              <a:path w="5316397" h="3784769">
                <a:moveTo>
                  <a:pt x="0" y="0"/>
                </a:moveTo>
                <a:lnTo>
                  <a:pt x="5316397" y="0"/>
                </a:lnTo>
                <a:lnTo>
                  <a:pt x="5316397" y="3784768"/>
                </a:lnTo>
                <a:lnTo>
                  <a:pt x="0" y="3784768"/>
                </a:lnTo>
                <a:lnTo>
                  <a:pt x="0" y="0"/>
                </a:lnTo>
                <a:close/>
              </a:path>
            </a:pathLst>
          </a:custGeom>
          <a:blipFill>
            <a:blip r:embed="rId2"/>
            <a:stretch>
              <a:fillRect/>
            </a:stretch>
          </a:blipFill>
        </p:spPr>
        <p:txBody>
          <a:bodyPr/>
          <a:lstStyle/>
          <a:p>
            <a:endParaRPr lang="en-US"/>
          </a:p>
        </p:txBody>
      </p:sp>
      <p:sp>
        <p:nvSpPr>
          <p:cNvPr id="6" name="Freeform 6"/>
          <p:cNvSpPr/>
          <p:nvPr/>
        </p:nvSpPr>
        <p:spPr>
          <a:xfrm>
            <a:off x="7043310" y="3601130"/>
            <a:ext cx="4458968" cy="5077676"/>
          </a:xfrm>
          <a:custGeom>
            <a:avLst/>
            <a:gdLst/>
            <a:ahLst/>
            <a:cxnLst/>
            <a:rect l="l" t="t" r="r" b="b"/>
            <a:pathLst>
              <a:path w="4458968" h="5077676">
                <a:moveTo>
                  <a:pt x="0" y="0"/>
                </a:moveTo>
                <a:lnTo>
                  <a:pt x="4458968" y="0"/>
                </a:lnTo>
                <a:lnTo>
                  <a:pt x="4458968" y="5077676"/>
                </a:lnTo>
                <a:lnTo>
                  <a:pt x="0" y="5077676"/>
                </a:lnTo>
                <a:lnTo>
                  <a:pt x="0" y="0"/>
                </a:lnTo>
                <a:close/>
              </a:path>
            </a:pathLst>
          </a:custGeom>
          <a:blipFill>
            <a:blip r:embed="rId3"/>
            <a:stretch>
              <a:fillRect/>
            </a:stretch>
          </a:blipFill>
        </p:spPr>
        <p:txBody>
          <a:bodyPr/>
          <a:lstStyle/>
          <a:p>
            <a:endParaRPr lang="en-US"/>
          </a:p>
        </p:txBody>
      </p:sp>
      <p:sp>
        <p:nvSpPr>
          <p:cNvPr id="7" name="Freeform 7"/>
          <p:cNvSpPr/>
          <p:nvPr/>
        </p:nvSpPr>
        <p:spPr>
          <a:xfrm>
            <a:off x="12382950" y="3601130"/>
            <a:ext cx="4398890" cy="5077676"/>
          </a:xfrm>
          <a:custGeom>
            <a:avLst/>
            <a:gdLst/>
            <a:ahLst/>
            <a:cxnLst/>
            <a:rect l="l" t="t" r="r" b="b"/>
            <a:pathLst>
              <a:path w="4398890" h="5077676">
                <a:moveTo>
                  <a:pt x="0" y="0"/>
                </a:moveTo>
                <a:lnTo>
                  <a:pt x="4398889" y="0"/>
                </a:lnTo>
                <a:lnTo>
                  <a:pt x="4398889" y="5077676"/>
                </a:lnTo>
                <a:lnTo>
                  <a:pt x="0" y="5077676"/>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3757121" y="845820"/>
            <a:ext cx="11189970" cy="771525"/>
          </a:xfrm>
          <a:prstGeom prst="rect">
            <a:avLst/>
          </a:prstGeom>
        </p:spPr>
        <p:txBody>
          <a:bodyPr lIns="0" tIns="0" rIns="0" bIns="0" rtlCol="0" anchor="t">
            <a:spAutoFit/>
          </a:bodyPr>
          <a:lstStyle/>
          <a:p>
            <a:pPr algn="ctr">
              <a:lnSpc>
                <a:spcPts val="5759"/>
              </a:lnSpc>
            </a:pPr>
            <a:r>
              <a:rPr lang="en-US" sz="4799" b="1" spc="38">
                <a:solidFill>
                  <a:srgbClr val="FFFFFF"/>
                </a:solidFill>
                <a:latin typeface="Poppins Bold"/>
                <a:ea typeface="Poppins Bold"/>
                <a:cs typeface="Poppins Bold"/>
                <a:sym typeface="Poppins Bold"/>
              </a:rPr>
              <a:t>Create Device and Credential</a:t>
            </a:r>
          </a:p>
        </p:txBody>
      </p:sp>
      <p:sp>
        <p:nvSpPr>
          <p:cNvPr id="9" name="TextBox 9"/>
          <p:cNvSpPr txBox="1"/>
          <p:nvPr/>
        </p:nvSpPr>
        <p:spPr>
          <a:xfrm>
            <a:off x="1999670" y="8947150"/>
            <a:ext cx="3009538" cy="88900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Click on Manage Credentials to view the access token</a:t>
            </a:r>
          </a:p>
        </p:txBody>
      </p:sp>
      <p:sp>
        <p:nvSpPr>
          <p:cNvPr id="10" name="TextBox 10"/>
          <p:cNvSpPr txBox="1"/>
          <p:nvPr/>
        </p:nvSpPr>
        <p:spPr>
          <a:xfrm>
            <a:off x="1443761" y="1750695"/>
            <a:ext cx="15555143" cy="879475"/>
          </a:xfrm>
          <a:prstGeom prst="rect">
            <a:avLst/>
          </a:prstGeom>
        </p:spPr>
        <p:txBody>
          <a:bodyPr lIns="0" tIns="0" rIns="0" bIns="0" rtlCol="0" anchor="t">
            <a:spAutoFit/>
          </a:bodyPr>
          <a:lstStyle/>
          <a:p>
            <a:pPr algn="ctr">
              <a:lnSpc>
                <a:spcPts val="3499"/>
              </a:lnSpc>
            </a:pPr>
            <a:r>
              <a:rPr lang="en-US" sz="2499">
                <a:solidFill>
                  <a:srgbClr val="FFFFFF"/>
                </a:solidFill>
                <a:latin typeface="Poppins"/>
                <a:ea typeface="Poppins"/>
                <a:cs typeface="Poppins"/>
                <a:sym typeface="Poppins"/>
              </a:rPr>
              <a:t>Create your device and manage the credential</a:t>
            </a:r>
          </a:p>
          <a:p>
            <a:pPr algn="ctr">
              <a:lnSpc>
                <a:spcPts val="3499"/>
              </a:lnSpc>
            </a:pPr>
            <a:r>
              <a:rPr lang="en-US" sz="2499">
                <a:solidFill>
                  <a:srgbClr val="FFFFFF"/>
                </a:solidFill>
                <a:latin typeface="Poppins"/>
                <a:ea typeface="Poppins"/>
                <a:cs typeface="Poppins"/>
                <a:sym typeface="Poppins"/>
              </a:rPr>
              <a:t>https://www.youtube.com/watch?v=l7AqpsF1ByQ</a:t>
            </a:r>
          </a:p>
        </p:txBody>
      </p:sp>
      <p:sp>
        <p:nvSpPr>
          <p:cNvPr id="11" name="TextBox 11"/>
          <p:cNvSpPr txBox="1"/>
          <p:nvPr/>
        </p:nvSpPr>
        <p:spPr>
          <a:xfrm>
            <a:off x="7716563" y="8947150"/>
            <a:ext cx="3009538" cy="60325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Or setup ID and password for access</a:t>
            </a:r>
          </a:p>
        </p:txBody>
      </p:sp>
      <p:sp>
        <p:nvSpPr>
          <p:cNvPr id="12" name="TextBox 12"/>
          <p:cNvSpPr txBox="1"/>
          <p:nvPr/>
        </p:nvSpPr>
        <p:spPr>
          <a:xfrm>
            <a:off x="13205078" y="8947150"/>
            <a:ext cx="3009538" cy="88900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Create a group of devices with the Groups tab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58993" y="85725"/>
            <a:ext cx="19760652" cy="3324905"/>
            <a:chOff x="0" y="0"/>
            <a:chExt cx="5204452" cy="875695"/>
          </a:xfrm>
        </p:grpSpPr>
        <p:sp>
          <p:nvSpPr>
            <p:cNvPr id="3" name="Freeform 3"/>
            <p:cNvSpPr/>
            <p:nvPr/>
          </p:nvSpPr>
          <p:spPr>
            <a:xfrm>
              <a:off x="0" y="0"/>
              <a:ext cx="5204452" cy="875695"/>
            </a:xfrm>
            <a:custGeom>
              <a:avLst/>
              <a:gdLst/>
              <a:ahLst/>
              <a:cxnLst/>
              <a:rect l="l" t="t" r="r" b="b"/>
              <a:pathLst>
                <a:path w="5204452" h="875695">
                  <a:moveTo>
                    <a:pt x="0" y="0"/>
                  </a:moveTo>
                  <a:lnTo>
                    <a:pt x="5204452" y="0"/>
                  </a:lnTo>
                  <a:lnTo>
                    <a:pt x="5204452" y="875695"/>
                  </a:lnTo>
                  <a:lnTo>
                    <a:pt x="0" y="875695"/>
                  </a:lnTo>
                  <a:close/>
                </a:path>
              </a:pathLst>
            </a:custGeom>
            <a:solidFill>
              <a:srgbClr val="082055"/>
            </a:solidFill>
          </p:spPr>
          <p:txBody>
            <a:bodyPr/>
            <a:lstStyle/>
            <a:p>
              <a:endParaRPr lang="en-US"/>
            </a:p>
          </p:txBody>
        </p:sp>
        <p:sp>
          <p:nvSpPr>
            <p:cNvPr id="4" name="TextBox 4"/>
            <p:cNvSpPr txBox="1"/>
            <p:nvPr/>
          </p:nvSpPr>
          <p:spPr>
            <a:xfrm>
              <a:off x="0" y="-38100"/>
              <a:ext cx="5204452" cy="91379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258396" y="3951370"/>
            <a:ext cx="9200684" cy="4580484"/>
          </a:xfrm>
          <a:custGeom>
            <a:avLst/>
            <a:gdLst/>
            <a:ahLst/>
            <a:cxnLst/>
            <a:rect l="l" t="t" r="r" b="b"/>
            <a:pathLst>
              <a:path w="9200684" h="4580484">
                <a:moveTo>
                  <a:pt x="0" y="0"/>
                </a:moveTo>
                <a:lnTo>
                  <a:pt x="9200685" y="0"/>
                </a:lnTo>
                <a:lnTo>
                  <a:pt x="9200685" y="4580485"/>
                </a:lnTo>
                <a:lnTo>
                  <a:pt x="0" y="4580485"/>
                </a:lnTo>
                <a:lnTo>
                  <a:pt x="0" y="0"/>
                </a:lnTo>
                <a:close/>
              </a:path>
            </a:pathLst>
          </a:custGeom>
          <a:blipFill>
            <a:blip r:embed="rId2"/>
            <a:stretch>
              <a:fillRect/>
            </a:stretch>
          </a:blipFill>
        </p:spPr>
        <p:txBody>
          <a:bodyPr/>
          <a:lstStyle/>
          <a:p>
            <a:endParaRPr lang="en-US"/>
          </a:p>
        </p:txBody>
      </p:sp>
      <p:sp>
        <p:nvSpPr>
          <p:cNvPr id="6" name="Freeform 6"/>
          <p:cNvSpPr/>
          <p:nvPr/>
        </p:nvSpPr>
        <p:spPr>
          <a:xfrm>
            <a:off x="9837763" y="3951370"/>
            <a:ext cx="8121507" cy="4580484"/>
          </a:xfrm>
          <a:custGeom>
            <a:avLst/>
            <a:gdLst/>
            <a:ahLst/>
            <a:cxnLst/>
            <a:rect l="l" t="t" r="r" b="b"/>
            <a:pathLst>
              <a:path w="8121507" h="4580484">
                <a:moveTo>
                  <a:pt x="0" y="0"/>
                </a:moveTo>
                <a:lnTo>
                  <a:pt x="8121507" y="0"/>
                </a:lnTo>
                <a:lnTo>
                  <a:pt x="8121507" y="4580485"/>
                </a:lnTo>
                <a:lnTo>
                  <a:pt x="0" y="4580485"/>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3757121" y="845820"/>
            <a:ext cx="11189970" cy="771525"/>
          </a:xfrm>
          <a:prstGeom prst="rect">
            <a:avLst/>
          </a:prstGeom>
        </p:spPr>
        <p:txBody>
          <a:bodyPr lIns="0" tIns="0" rIns="0" bIns="0" rtlCol="0" anchor="t">
            <a:spAutoFit/>
          </a:bodyPr>
          <a:lstStyle/>
          <a:p>
            <a:pPr algn="ctr">
              <a:lnSpc>
                <a:spcPts val="5759"/>
              </a:lnSpc>
            </a:pPr>
            <a:r>
              <a:rPr lang="en-US" sz="4799" b="1" spc="38">
                <a:solidFill>
                  <a:srgbClr val="FFFFFF"/>
                </a:solidFill>
                <a:latin typeface="Poppins Bold"/>
                <a:ea typeface="Poppins Bold"/>
                <a:cs typeface="Poppins Bold"/>
                <a:sym typeface="Poppins Bold"/>
              </a:rPr>
              <a:t>Create Device and Credential</a:t>
            </a:r>
          </a:p>
        </p:txBody>
      </p:sp>
      <p:sp>
        <p:nvSpPr>
          <p:cNvPr id="8" name="TextBox 8"/>
          <p:cNvSpPr txBox="1"/>
          <p:nvPr/>
        </p:nvSpPr>
        <p:spPr>
          <a:xfrm>
            <a:off x="3353970" y="8953500"/>
            <a:ext cx="3009538" cy="88900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Add devices to group by choosing “All” group</a:t>
            </a:r>
          </a:p>
        </p:txBody>
      </p:sp>
      <p:sp>
        <p:nvSpPr>
          <p:cNvPr id="9" name="TextBox 9"/>
          <p:cNvSpPr txBox="1"/>
          <p:nvPr/>
        </p:nvSpPr>
        <p:spPr>
          <a:xfrm>
            <a:off x="1443761" y="1750695"/>
            <a:ext cx="15555143" cy="879475"/>
          </a:xfrm>
          <a:prstGeom prst="rect">
            <a:avLst/>
          </a:prstGeom>
        </p:spPr>
        <p:txBody>
          <a:bodyPr lIns="0" tIns="0" rIns="0" bIns="0" rtlCol="0" anchor="t">
            <a:spAutoFit/>
          </a:bodyPr>
          <a:lstStyle/>
          <a:p>
            <a:pPr algn="ctr">
              <a:lnSpc>
                <a:spcPts val="3499"/>
              </a:lnSpc>
            </a:pPr>
            <a:r>
              <a:rPr lang="en-US" sz="2499">
                <a:solidFill>
                  <a:srgbClr val="FFFFFF"/>
                </a:solidFill>
                <a:latin typeface="Poppins"/>
                <a:ea typeface="Poppins"/>
                <a:cs typeface="Poppins"/>
                <a:sym typeface="Poppins"/>
              </a:rPr>
              <a:t>Create your device and manage the credential</a:t>
            </a:r>
          </a:p>
          <a:p>
            <a:pPr algn="ctr">
              <a:lnSpc>
                <a:spcPts val="3499"/>
              </a:lnSpc>
            </a:pPr>
            <a:r>
              <a:rPr lang="en-US" sz="2499">
                <a:solidFill>
                  <a:srgbClr val="FFFFFF"/>
                </a:solidFill>
                <a:latin typeface="Poppins"/>
                <a:ea typeface="Poppins"/>
                <a:cs typeface="Poppins"/>
                <a:sym typeface="Poppins"/>
              </a:rPr>
              <a:t>https://www.youtube.com/watch?v=l7AqpsF1ByQ</a:t>
            </a:r>
          </a:p>
        </p:txBody>
      </p:sp>
      <p:sp>
        <p:nvSpPr>
          <p:cNvPr id="10" name="TextBox 10"/>
          <p:cNvSpPr txBox="1"/>
          <p:nvPr/>
        </p:nvSpPr>
        <p:spPr>
          <a:xfrm>
            <a:off x="12393748" y="9239250"/>
            <a:ext cx="3009538" cy="31750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Then Add to group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58993" y="85725"/>
            <a:ext cx="19760652" cy="3324905"/>
            <a:chOff x="0" y="0"/>
            <a:chExt cx="5204452" cy="875695"/>
          </a:xfrm>
        </p:grpSpPr>
        <p:sp>
          <p:nvSpPr>
            <p:cNvPr id="3" name="Freeform 3"/>
            <p:cNvSpPr/>
            <p:nvPr/>
          </p:nvSpPr>
          <p:spPr>
            <a:xfrm>
              <a:off x="0" y="0"/>
              <a:ext cx="5204452" cy="875695"/>
            </a:xfrm>
            <a:custGeom>
              <a:avLst/>
              <a:gdLst/>
              <a:ahLst/>
              <a:cxnLst/>
              <a:rect l="l" t="t" r="r" b="b"/>
              <a:pathLst>
                <a:path w="5204452" h="875695">
                  <a:moveTo>
                    <a:pt x="0" y="0"/>
                  </a:moveTo>
                  <a:lnTo>
                    <a:pt x="5204452" y="0"/>
                  </a:lnTo>
                  <a:lnTo>
                    <a:pt x="5204452" y="875695"/>
                  </a:lnTo>
                  <a:lnTo>
                    <a:pt x="0" y="875695"/>
                  </a:lnTo>
                  <a:close/>
                </a:path>
              </a:pathLst>
            </a:custGeom>
            <a:solidFill>
              <a:srgbClr val="082055"/>
            </a:solidFill>
          </p:spPr>
          <p:txBody>
            <a:bodyPr/>
            <a:lstStyle/>
            <a:p>
              <a:endParaRPr lang="en-US"/>
            </a:p>
          </p:txBody>
        </p:sp>
        <p:sp>
          <p:nvSpPr>
            <p:cNvPr id="4" name="TextBox 4"/>
            <p:cNvSpPr txBox="1"/>
            <p:nvPr/>
          </p:nvSpPr>
          <p:spPr>
            <a:xfrm>
              <a:off x="0" y="-38100"/>
              <a:ext cx="5204452" cy="91379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028700" y="4044223"/>
            <a:ext cx="7076197" cy="4580484"/>
          </a:xfrm>
          <a:custGeom>
            <a:avLst/>
            <a:gdLst/>
            <a:ahLst/>
            <a:cxnLst/>
            <a:rect l="l" t="t" r="r" b="b"/>
            <a:pathLst>
              <a:path w="7076197" h="4580484">
                <a:moveTo>
                  <a:pt x="0" y="0"/>
                </a:moveTo>
                <a:lnTo>
                  <a:pt x="7076197" y="0"/>
                </a:lnTo>
                <a:lnTo>
                  <a:pt x="7076197" y="4580484"/>
                </a:lnTo>
                <a:lnTo>
                  <a:pt x="0" y="4580484"/>
                </a:lnTo>
                <a:lnTo>
                  <a:pt x="0" y="0"/>
                </a:lnTo>
                <a:close/>
              </a:path>
            </a:pathLst>
          </a:custGeom>
          <a:blipFill>
            <a:blip r:embed="rId2"/>
            <a:stretch>
              <a:fillRect/>
            </a:stretch>
          </a:blipFill>
        </p:spPr>
        <p:txBody>
          <a:bodyPr/>
          <a:lstStyle/>
          <a:p>
            <a:endParaRPr lang="en-US"/>
          </a:p>
        </p:txBody>
      </p:sp>
      <p:sp>
        <p:nvSpPr>
          <p:cNvPr id="6" name="Freeform 6"/>
          <p:cNvSpPr/>
          <p:nvPr/>
        </p:nvSpPr>
        <p:spPr>
          <a:xfrm>
            <a:off x="9936483" y="4044223"/>
            <a:ext cx="7062421" cy="4580484"/>
          </a:xfrm>
          <a:custGeom>
            <a:avLst/>
            <a:gdLst/>
            <a:ahLst/>
            <a:cxnLst/>
            <a:rect l="l" t="t" r="r" b="b"/>
            <a:pathLst>
              <a:path w="7062421" h="4580484">
                <a:moveTo>
                  <a:pt x="0" y="0"/>
                </a:moveTo>
                <a:lnTo>
                  <a:pt x="7062421" y="0"/>
                </a:lnTo>
                <a:lnTo>
                  <a:pt x="7062421" y="4580484"/>
                </a:lnTo>
                <a:lnTo>
                  <a:pt x="0" y="4580484"/>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3757121" y="845820"/>
            <a:ext cx="11189970" cy="771525"/>
          </a:xfrm>
          <a:prstGeom prst="rect">
            <a:avLst/>
          </a:prstGeom>
        </p:spPr>
        <p:txBody>
          <a:bodyPr lIns="0" tIns="0" rIns="0" bIns="0" rtlCol="0" anchor="t">
            <a:spAutoFit/>
          </a:bodyPr>
          <a:lstStyle/>
          <a:p>
            <a:pPr algn="ctr">
              <a:lnSpc>
                <a:spcPts val="5759"/>
              </a:lnSpc>
            </a:pPr>
            <a:r>
              <a:rPr lang="en-US" sz="4799" b="1" spc="38">
                <a:solidFill>
                  <a:srgbClr val="FFFFFF"/>
                </a:solidFill>
                <a:latin typeface="Poppins Bold"/>
                <a:ea typeface="Poppins Bold"/>
                <a:cs typeface="Poppins Bold"/>
                <a:sym typeface="Poppins Bold"/>
              </a:rPr>
              <a:t>Create Device and Credential</a:t>
            </a:r>
          </a:p>
        </p:txBody>
      </p:sp>
      <p:sp>
        <p:nvSpPr>
          <p:cNvPr id="8" name="TextBox 8"/>
          <p:cNvSpPr txBox="1"/>
          <p:nvPr/>
        </p:nvSpPr>
        <p:spPr>
          <a:xfrm>
            <a:off x="3062030" y="8947150"/>
            <a:ext cx="3009538" cy="60325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You can make a group public</a:t>
            </a:r>
          </a:p>
        </p:txBody>
      </p:sp>
      <p:sp>
        <p:nvSpPr>
          <p:cNvPr id="9" name="TextBox 9"/>
          <p:cNvSpPr txBox="1"/>
          <p:nvPr/>
        </p:nvSpPr>
        <p:spPr>
          <a:xfrm>
            <a:off x="1443761" y="1750695"/>
            <a:ext cx="15555143" cy="879475"/>
          </a:xfrm>
          <a:prstGeom prst="rect">
            <a:avLst/>
          </a:prstGeom>
        </p:spPr>
        <p:txBody>
          <a:bodyPr lIns="0" tIns="0" rIns="0" bIns="0" rtlCol="0" anchor="t">
            <a:spAutoFit/>
          </a:bodyPr>
          <a:lstStyle/>
          <a:p>
            <a:pPr algn="ctr">
              <a:lnSpc>
                <a:spcPts val="3499"/>
              </a:lnSpc>
            </a:pPr>
            <a:r>
              <a:rPr lang="en-US" sz="2499">
                <a:solidFill>
                  <a:srgbClr val="FFFFFF"/>
                </a:solidFill>
                <a:latin typeface="Poppins"/>
                <a:ea typeface="Poppins"/>
                <a:cs typeface="Poppins"/>
                <a:sym typeface="Poppins"/>
              </a:rPr>
              <a:t>Create your device and manage the credential</a:t>
            </a:r>
          </a:p>
          <a:p>
            <a:pPr algn="ctr">
              <a:lnSpc>
                <a:spcPts val="3499"/>
              </a:lnSpc>
            </a:pPr>
            <a:r>
              <a:rPr lang="en-US" sz="2499">
                <a:solidFill>
                  <a:srgbClr val="FFFFFF"/>
                </a:solidFill>
                <a:latin typeface="Poppins"/>
                <a:ea typeface="Poppins"/>
                <a:cs typeface="Poppins"/>
                <a:sym typeface="Poppins"/>
              </a:rPr>
              <a:t>https://www.youtube.com/watch?v=l7AqpsF1ByQ</a:t>
            </a:r>
          </a:p>
        </p:txBody>
      </p:sp>
      <p:sp>
        <p:nvSpPr>
          <p:cNvPr id="10" name="TextBox 10"/>
          <p:cNvSpPr txBox="1"/>
          <p:nvPr/>
        </p:nvSpPr>
        <p:spPr>
          <a:xfrm>
            <a:off x="11962924" y="9090025"/>
            <a:ext cx="3009538" cy="317500"/>
          </a:xfrm>
          <a:prstGeom prst="rect">
            <a:avLst/>
          </a:prstGeom>
        </p:spPr>
        <p:txBody>
          <a:bodyPr lIns="0" tIns="0" rIns="0" bIns="0" rtlCol="0" anchor="t">
            <a:spAutoFit/>
          </a:bodyPr>
          <a:lstStyle/>
          <a:p>
            <a:pPr algn="ctr">
              <a:lnSpc>
                <a:spcPts val="2300"/>
              </a:lnSpc>
            </a:pPr>
            <a:r>
              <a:rPr lang="en-US" sz="2000" b="1">
                <a:solidFill>
                  <a:srgbClr val="000000"/>
                </a:solidFill>
                <a:latin typeface="Poppins Bold"/>
                <a:ea typeface="Poppins Bold"/>
                <a:cs typeface="Poppins Bold"/>
                <a:sym typeface="Poppins Bold"/>
              </a:rPr>
              <a:t>Or private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12497" y="510550"/>
            <a:ext cx="5139634" cy="9456940"/>
            <a:chOff x="0" y="0"/>
            <a:chExt cx="757241" cy="1393326"/>
          </a:xfrm>
        </p:grpSpPr>
        <p:sp>
          <p:nvSpPr>
            <p:cNvPr id="3" name="Freeform 3"/>
            <p:cNvSpPr/>
            <p:nvPr/>
          </p:nvSpPr>
          <p:spPr>
            <a:xfrm>
              <a:off x="0" y="0"/>
              <a:ext cx="757241" cy="1393326"/>
            </a:xfrm>
            <a:custGeom>
              <a:avLst/>
              <a:gdLst/>
              <a:ahLst/>
              <a:cxnLst/>
              <a:rect l="l" t="t" r="r" b="b"/>
              <a:pathLst>
                <a:path w="757241" h="1393326">
                  <a:moveTo>
                    <a:pt x="0" y="0"/>
                  </a:moveTo>
                  <a:lnTo>
                    <a:pt x="757241" y="0"/>
                  </a:lnTo>
                  <a:lnTo>
                    <a:pt x="757241" y="1393326"/>
                  </a:lnTo>
                  <a:lnTo>
                    <a:pt x="0" y="1393326"/>
                  </a:lnTo>
                  <a:close/>
                </a:path>
              </a:pathLst>
            </a:custGeom>
            <a:ln w="38100" cap="sq">
              <a:solidFill>
                <a:srgbClr val="004AAD"/>
              </a:solidFill>
              <a:prstDash val="solid"/>
              <a:miter/>
            </a:ln>
          </p:spPr>
          <p:txBody>
            <a:bodyPr/>
            <a:lstStyle/>
            <a:p>
              <a:endParaRPr lang="en-US"/>
            </a:p>
          </p:txBody>
        </p:sp>
        <p:sp>
          <p:nvSpPr>
            <p:cNvPr id="4" name="TextBox 4"/>
            <p:cNvSpPr txBox="1"/>
            <p:nvPr/>
          </p:nvSpPr>
          <p:spPr>
            <a:xfrm>
              <a:off x="0" y="-57150"/>
              <a:ext cx="757241" cy="1450476"/>
            </a:xfrm>
            <a:prstGeom prst="rect">
              <a:avLst/>
            </a:prstGeom>
          </p:spPr>
          <p:txBody>
            <a:bodyPr lIns="50800" tIns="50800" rIns="50800" bIns="50800" rtlCol="0" anchor="ctr"/>
            <a:lstStyle/>
            <a:p>
              <a:pPr marL="0" lvl="0" indent="0" algn="ctr">
                <a:lnSpc>
                  <a:spcPts val="2926"/>
                </a:lnSpc>
                <a:spcBef>
                  <a:spcPct val="0"/>
                </a:spcBef>
              </a:pPr>
              <a:endParaRPr/>
            </a:p>
          </p:txBody>
        </p:sp>
      </p:grpSp>
      <p:sp>
        <p:nvSpPr>
          <p:cNvPr id="5" name="AutoShape 5"/>
          <p:cNvSpPr/>
          <p:nvPr/>
        </p:nvSpPr>
        <p:spPr>
          <a:xfrm>
            <a:off x="8543106" y="5062494"/>
            <a:ext cx="1278416" cy="0"/>
          </a:xfrm>
          <a:prstGeom prst="line">
            <a:avLst/>
          </a:prstGeom>
          <a:ln w="9525" cap="flat">
            <a:solidFill>
              <a:srgbClr val="FFFFFF"/>
            </a:solidFill>
            <a:prstDash val="solid"/>
            <a:headEnd type="none" w="sm" len="sm"/>
            <a:tailEnd type="none" w="sm" len="sm"/>
          </a:ln>
        </p:spPr>
        <p:txBody>
          <a:bodyPr/>
          <a:lstStyle/>
          <a:p>
            <a:endParaRPr lang="en-US"/>
          </a:p>
        </p:txBody>
      </p:sp>
      <p:grpSp>
        <p:nvGrpSpPr>
          <p:cNvPr id="6" name="Group 6"/>
          <p:cNvGrpSpPr/>
          <p:nvPr/>
        </p:nvGrpSpPr>
        <p:grpSpPr>
          <a:xfrm>
            <a:off x="1105328" y="510550"/>
            <a:ext cx="5139634" cy="9456940"/>
            <a:chOff x="0" y="0"/>
            <a:chExt cx="757241" cy="1393326"/>
          </a:xfrm>
        </p:grpSpPr>
        <p:sp>
          <p:nvSpPr>
            <p:cNvPr id="7" name="Freeform 7"/>
            <p:cNvSpPr/>
            <p:nvPr/>
          </p:nvSpPr>
          <p:spPr>
            <a:xfrm>
              <a:off x="0" y="0"/>
              <a:ext cx="757241" cy="1393326"/>
            </a:xfrm>
            <a:custGeom>
              <a:avLst/>
              <a:gdLst/>
              <a:ahLst/>
              <a:cxnLst/>
              <a:rect l="l" t="t" r="r" b="b"/>
              <a:pathLst>
                <a:path w="757241" h="1393326">
                  <a:moveTo>
                    <a:pt x="0" y="0"/>
                  </a:moveTo>
                  <a:lnTo>
                    <a:pt x="757241" y="0"/>
                  </a:lnTo>
                  <a:lnTo>
                    <a:pt x="757241" y="1393326"/>
                  </a:lnTo>
                  <a:lnTo>
                    <a:pt x="0" y="1393326"/>
                  </a:lnTo>
                  <a:close/>
                </a:path>
              </a:pathLst>
            </a:custGeom>
            <a:ln w="38100" cap="sq">
              <a:solidFill>
                <a:srgbClr val="004AAD"/>
              </a:solidFill>
              <a:prstDash val="solid"/>
              <a:miter/>
            </a:ln>
          </p:spPr>
          <p:txBody>
            <a:bodyPr/>
            <a:lstStyle/>
            <a:p>
              <a:endParaRPr lang="en-US"/>
            </a:p>
          </p:txBody>
        </p:sp>
        <p:sp>
          <p:nvSpPr>
            <p:cNvPr id="8" name="TextBox 8"/>
            <p:cNvSpPr txBox="1"/>
            <p:nvPr/>
          </p:nvSpPr>
          <p:spPr>
            <a:xfrm>
              <a:off x="0" y="-57150"/>
              <a:ext cx="757241" cy="1450476"/>
            </a:xfrm>
            <a:prstGeom prst="rect">
              <a:avLst/>
            </a:prstGeom>
          </p:spPr>
          <p:txBody>
            <a:bodyPr lIns="50800" tIns="50800" rIns="50800" bIns="50800" rtlCol="0" anchor="ctr"/>
            <a:lstStyle/>
            <a:p>
              <a:pPr algn="ctr">
                <a:lnSpc>
                  <a:spcPts val="2926"/>
                </a:lnSpc>
              </a:pPr>
              <a:endParaRPr/>
            </a:p>
          </p:txBody>
        </p:sp>
      </p:grpSp>
      <p:sp>
        <p:nvSpPr>
          <p:cNvPr id="9" name="AutoShape 9"/>
          <p:cNvSpPr/>
          <p:nvPr/>
        </p:nvSpPr>
        <p:spPr>
          <a:xfrm>
            <a:off x="3035937" y="5062494"/>
            <a:ext cx="1278416" cy="0"/>
          </a:xfrm>
          <a:prstGeom prst="line">
            <a:avLst/>
          </a:prstGeom>
          <a:ln w="9525" cap="flat">
            <a:solidFill>
              <a:srgbClr val="FFFFFF"/>
            </a:solidFill>
            <a:prstDash val="solid"/>
            <a:headEnd type="none" w="sm" len="sm"/>
            <a:tailEnd type="none" w="sm" len="sm"/>
          </a:ln>
        </p:spPr>
        <p:txBody>
          <a:bodyPr/>
          <a:lstStyle/>
          <a:p>
            <a:endParaRPr lang="en-US"/>
          </a:p>
        </p:txBody>
      </p:sp>
      <p:grpSp>
        <p:nvGrpSpPr>
          <p:cNvPr id="10" name="Group 10"/>
          <p:cNvGrpSpPr/>
          <p:nvPr/>
        </p:nvGrpSpPr>
        <p:grpSpPr>
          <a:xfrm>
            <a:off x="12119666" y="510550"/>
            <a:ext cx="5139634" cy="9456940"/>
            <a:chOff x="0" y="0"/>
            <a:chExt cx="757241" cy="1393326"/>
          </a:xfrm>
        </p:grpSpPr>
        <p:sp>
          <p:nvSpPr>
            <p:cNvPr id="11" name="Freeform 11"/>
            <p:cNvSpPr/>
            <p:nvPr/>
          </p:nvSpPr>
          <p:spPr>
            <a:xfrm>
              <a:off x="0" y="0"/>
              <a:ext cx="757241" cy="1393326"/>
            </a:xfrm>
            <a:custGeom>
              <a:avLst/>
              <a:gdLst/>
              <a:ahLst/>
              <a:cxnLst/>
              <a:rect l="l" t="t" r="r" b="b"/>
              <a:pathLst>
                <a:path w="757241" h="1393326">
                  <a:moveTo>
                    <a:pt x="0" y="0"/>
                  </a:moveTo>
                  <a:lnTo>
                    <a:pt x="757241" y="0"/>
                  </a:lnTo>
                  <a:lnTo>
                    <a:pt x="757241" y="1393326"/>
                  </a:lnTo>
                  <a:lnTo>
                    <a:pt x="0" y="1393326"/>
                  </a:lnTo>
                  <a:close/>
                </a:path>
              </a:pathLst>
            </a:custGeom>
            <a:ln w="38100" cap="sq">
              <a:solidFill>
                <a:srgbClr val="004AAD"/>
              </a:solidFill>
              <a:prstDash val="solid"/>
              <a:miter/>
            </a:ln>
          </p:spPr>
          <p:txBody>
            <a:bodyPr/>
            <a:lstStyle/>
            <a:p>
              <a:endParaRPr lang="en-US"/>
            </a:p>
          </p:txBody>
        </p:sp>
        <p:sp>
          <p:nvSpPr>
            <p:cNvPr id="12" name="TextBox 12"/>
            <p:cNvSpPr txBox="1"/>
            <p:nvPr/>
          </p:nvSpPr>
          <p:spPr>
            <a:xfrm>
              <a:off x="0" y="-57150"/>
              <a:ext cx="757241" cy="1450476"/>
            </a:xfrm>
            <a:prstGeom prst="rect">
              <a:avLst/>
            </a:prstGeom>
          </p:spPr>
          <p:txBody>
            <a:bodyPr lIns="50800" tIns="50800" rIns="50800" bIns="50800" rtlCol="0" anchor="ctr"/>
            <a:lstStyle/>
            <a:p>
              <a:pPr marL="0" lvl="0" indent="0" algn="ctr">
                <a:lnSpc>
                  <a:spcPts val="2926"/>
                </a:lnSpc>
                <a:spcBef>
                  <a:spcPct val="0"/>
                </a:spcBef>
              </a:pPr>
              <a:endParaRPr/>
            </a:p>
          </p:txBody>
        </p:sp>
      </p:grpSp>
      <p:sp>
        <p:nvSpPr>
          <p:cNvPr id="13" name="AutoShape 13"/>
          <p:cNvSpPr/>
          <p:nvPr/>
        </p:nvSpPr>
        <p:spPr>
          <a:xfrm>
            <a:off x="14090171" y="5062494"/>
            <a:ext cx="1198623" cy="0"/>
          </a:xfrm>
          <a:prstGeom prst="line">
            <a:avLst/>
          </a:prstGeom>
          <a:ln w="9525" cap="flat">
            <a:solidFill>
              <a:srgbClr val="FFFFFF"/>
            </a:solidFill>
            <a:prstDash val="solid"/>
            <a:headEnd type="none" w="sm" len="sm"/>
            <a:tailEnd type="none" w="sm" len="sm"/>
          </a:ln>
        </p:spPr>
        <p:txBody>
          <a:bodyPr/>
          <a:lstStyle/>
          <a:p>
            <a:endParaRPr lang="en-US"/>
          </a:p>
        </p:txBody>
      </p:sp>
      <p:sp>
        <p:nvSpPr>
          <p:cNvPr id="14" name="TextBox 14"/>
          <p:cNvSpPr txBox="1"/>
          <p:nvPr/>
        </p:nvSpPr>
        <p:spPr>
          <a:xfrm>
            <a:off x="7207966" y="3386094"/>
            <a:ext cx="4544165" cy="2933700"/>
          </a:xfrm>
          <a:prstGeom prst="rect">
            <a:avLst/>
          </a:prstGeom>
        </p:spPr>
        <p:txBody>
          <a:bodyPr lIns="0" tIns="0" rIns="0" bIns="0" rtlCol="0" anchor="t">
            <a:spAutoFit/>
          </a:bodyPr>
          <a:lstStyle/>
          <a:p>
            <a:pPr marL="604519" lvl="1" indent="-302260" algn="l">
              <a:lnSpc>
                <a:spcPts val="3359"/>
              </a:lnSpc>
              <a:spcBef>
                <a:spcPct val="0"/>
              </a:spcBef>
              <a:buFont typeface="Arial"/>
              <a:buChar char="•"/>
            </a:pPr>
            <a:r>
              <a:rPr lang="en-US" sz="2799">
                <a:solidFill>
                  <a:srgbClr val="000000"/>
                </a:solidFill>
                <a:latin typeface="Nunito"/>
                <a:ea typeface="Nunito"/>
                <a:cs typeface="Nunito"/>
                <a:sym typeface="Nunito"/>
              </a:rPr>
              <a:t>Shared attributes are intended for shared use between the device and the server. Both the device and server can update and read the attributes.</a:t>
            </a:r>
          </a:p>
        </p:txBody>
      </p:sp>
      <p:grpSp>
        <p:nvGrpSpPr>
          <p:cNvPr id="15" name="Group 15"/>
          <p:cNvGrpSpPr/>
          <p:nvPr/>
        </p:nvGrpSpPr>
        <p:grpSpPr>
          <a:xfrm>
            <a:off x="1105328" y="6837049"/>
            <a:ext cx="5139634" cy="673198"/>
            <a:chOff x="0" y="0"/>
            <a:chExt cx="1353648" cy="177303"/>
          </a:xfrm>
        </p:grpSpPr>
        <p:sp>
          <p:nvSpPr>
            <p:cNvPr id="16" name="Freeform 16"/>
            <p:cNvSpPr/>
            <p:nvPr/>
          </p:nvSpPr>
          <p:spPr>
            <a:xfrm>
              <a:off x="0" y="0"/>
              <a:ext cx="1353648" cy="177303"/>
            </a:xfrm>
            <a:custGeom>
              <a:avLst/>
              <a:gdLst/>
              <a:ahLst/>
              <a:cxnLst/>
              <a:rect l="l" t="t" r="r" b="b"/>
              <a:pathLst>
                <a:path w="1353648" h="177303">
                  <a:moveTo>
                    <a:pt x="0" y="0"/>
                  </a:moveTo>
                  <a:lnTo>
                    <a:pt x="1353648" y="0"/>
                  </a:lnTo>
                  <a:lnTo>
                    <a:pt x="1353648" y="177303"/>
                  </a:lnTo>
                  <a:lnTo>
                    <a:pt x="0" y="177303"/>
                  </a:lnTo>
                  <a:close/>
                </a:path>
              </a:pathLst>
            </a:custGeom>
            <a:solidFill>
              <a:srgbClr val="003CAF"/>
            </a:solidFill>
          </p:spPr>
          <p:txBody>
            <a:bodyPr/>
            <a:lstStyle/>
            <a:p>
              <a:endParaRPr lang="en-US"/>
            </a:p>
          </p:txBody>
        </p:sp>
        <p:sp>
          <p:nvSpPr>
            <p:cNvPr id="17" name="TextBox 17"/>
            <p:cNvSpPr txBox="1"/>
            <p:nvPr/>
          </p:nvSpPr>
          <p:spPr>
            <a:xfrm>
              <a:off x="0" y="-47625"/>
              <a:ext cx="1353648" cy="224928"/>
            </a:xfrm>
            <a:prstGeom prst="rect">
              <a:avLst/>
            </a:prstGeom>
          </p:spPr>
          <p:txBody>
            <a:bodyPr lIns="50800" tIns="50800" rIns="50800" bIns="50800" rtlCol="0" anchor="ctr"/>
            <a:lstStyle/>
            <a:p>
              <a:pPr algn="ctr">
                <a:lnSpc>
                  <a:spcPts val="3219"/>
                </a:lnSpc>
              </a:pPr>
              <a:endParaRPr/>
            </a:p>
          </p:txBody>
        </p:sp>
      </p:grpSp>
      <p:sp>
        <p:nvSpPr>
          <p:cNvPr id="18" name="TextBox 18"/>
          <p:cNvSpPr txBox="1"/>
          <p:nvPr/>
        </p:nvSpPr>
        <p:spPr>
          <a:xfrm>
            <a:off x="1284426" y="3334416"/>
            <a:ext cx="4870797" cy="3352800"/>
          </a:xfrm>
          <a:prstGeom prst="rect">
            <a:avLst/>
          </a:prstGeom>
        </p:spPr>
        <p:txBody>
          <a:bodyPr lIns="0" tIns="0" rIns="0" bIns="0" rtlCol="0" anchor="t">
            <a:spAutoFit/>
          </a:bodyPr>
          <a:lstStyle/>
          <a:p>
            <a:pPr marL="604519" lvl="1" indent="-302260" algn="l">
              <a:lnSpc>
                <a:spcPts val="3359"/>
              </a:lnSpc>
              <a:buFont typeface="Arial"/>
              <a:buChar char="•"/>
            </a:pPr>
            <a:r>
              <a:rPr lang="en-US" sz="2799">
                <a:solidFill>
                  <a:srgbClr val="000000"/>
                </a:solidFill>
                <a:latin typeface="Nunito"/>
                <a:ea typeface="Nunito"/>
                <a:cs typeface="Nunito"/>
                <a:sym typeface="Nunito"/>
              </a:rPr>
              <a:t>These are attributes that are typically set by the device and sent to the CoreIOT platform. </a:t>
            </a:r>
          </a:p>
          <a:p>
            <a:pPr marL="604519" lvl="1" indent="-302260" algn="l">
              <a:lnSpc>
                <a:spcPts val="3359"/>
              </a:lnSpc>
              <a:buFont typeface="Arial"/>
              <a:buChar char="•"/>
            </a:pPr>
            <a:r>
              <a:rPr lang="en-US" sz="2799">
                <a:solidFill>
                  <a:srgbClr val="000000"/>
                </a:solidFill>
                <a:latin typeface="Nunito"/>
                <a:ea typeface="Nunito"/>
                <a:cs typeface="Nunito"/>
                <a:sym typeface="Nunito"/>
              </a:rPr>
              <a:t>Client attributes represent the state or configuration of a device as reported to the server</a:t>
            </a:r>
          </a:p>
        </p:txBody>
      </p:sp>
      <p:sp>
        <p:nvSpPr>
          <p:cNvPr id="19" name="TextBox 19"/>
          <p:cNvSpPr txBox="1"/>
          <p:nvPr/>
        </p:nvSpPr>
        <p:spPr>
          <a:xfrm>
            <a:off x="1693008" y="1975342"/>
            <a:ext cx="3903664" cy="1225724"/>
          </a:xfrm>
          <a:prstGeom prst="rect">
            <a:avLst/>
          </a:prstGeom>
        </p:spPr>
        <p:txBody>
          <a:bodyPr lIns="0" tIns="0" rIns="0" bIns="0" rtlCol="0" anchor="t">
            <a:spAutoFit/>
          </a:bodyPr>
          <a:lstStyle/>
          <a:p>
            <a:pPr algn="ctr">
              <a:lnSpc>
                <a:spcPts val="4967"/>
              </a:lnSpc>
            </a:pPr>
            <a:r>
              <a:rPr lang="en-US" sz="3289" b="1" spc="167">
                <a:solidFill>
                  <a:srgbClr val="000000"/>
                </a:solidFill>
                <a:latin typeface="Montserrat Bold"/>
                <a:ea typeface="Montserrat Bold"/>
                <a:cs typeface="Montserrat Bold"/>
                <a:sym typeface="Montserrat Bold"/>
              </a:rPr>
              <a:t>CLIENT ATTRIBUTE</a:t>
            </a:r>
          </a:p>
        </p:txBody>
      </p:sp>
      <p:sp>
        <p:nvSpPr>
          <p:cNvPr id="20" name="TextBox 20"/>
          <p:cNvSpPr txBox="1"/>
          <p:nvPr/>
        </p:nvSpPr>
        <p:spPr>
          <a:xfrm>
            <a:off x="2793495" y="590230"/>
            <a:ext cx="1763302" cy="1343025"/>
          </a:xfrm>
          <a:prstGeom prst="rect">
            <a:avLst/>
          </a:prstGeom>
        </p:spPr>
        <p:txBody>
          <a:bodyPr lIns="0" tIns="0" rIns="0" bIns="0" rtlCol="0" anchor="t">
            <a:spAutoFit/>
          </a:bodyPr>
          <a:lstStyle/>
          <a:p>
            <a:pPr algn="ctr">
              <a:lnSpc>
                <a:spcPts val="11025"/>
              </a:lnSpc>
            </a:pPr>
            <a:r>
              <a:rPr lang="en-US" sz="7500" b="1">
                <a:solidFill>
                  <a:srgbClr val="1EAEFF"/>
                </a:solidFill>
                <a:latin typeface="Montserrat Ultra-Bold"/>
                <a:ea typeface="Montserrat Ultra-Bold"/>
                <a:cs typeface="Montserrat Ultra-Bold"/>
                <a:sym typeface="Montserrat Ultra-Bold"/>
              </a:rPr>
              <a:t>01</a:t>
            </a:r>
          </a:p>
        </p:txBody>
      </p:sp>
      <p:sp>
        <p:nvSpPr>
          <p:cNvPr id="21" name="TextBox 21"/>
          <p:cNvSpPr txBox="1"/>
          <p:nvPr/>
        </p:nvSpPr>
        <p:spPr>
          <a:xfrm>
            <a:off x="12209331" y="3484249"/>
            <a:ext cx="4806388" cy="2933700"/>
          </a:xfrm>
          <a:prstGeom prst="rect">
            <a:avLst/>
          </a:prstGeom>
        </p:spPr>
        <p:txBody>
          <a:bodyPr lIns="0" tIns="0" rIns="0" bIns="0" rtlCol="0" anchor="t">
            <a:spAutoFit/>
          </a:bodyPr>
          <a:lstStyle/>
          <a:p>
            <a:pPr marL="604519" lvl="1" indent="-302260" algn="l">
              <a:lnSpc>
                <a:spcPts val="3359"/>
              </a:lnSpc>
              <a:spcBef>
                <a:spcPct val="0"/>
              </a:spcBef>
              <a:buFont typeface="Arial"/>
              <a:buChar char="•"/>
            </a:pPr>
            <a:r>
              <a:rPr lang="en-US" sz="2799" dirty="0">
                <a:solidFill>
                  <a:srgbClr val="000000"/>
                </a:solidFill>
                <a:latin typeface="Nunito"/>
                <a:ea typeface="Nunito"/>
                <a:cs typeface="Nunito"/>
                <a:sym typeface="Nunito"/>
              </a:rPr>
              <a:t>These are attributes that are solely managed by the IOT server. They are intended to maintain server-side metadata about devices or other entities.</a:t>
            </a:r>
          </a:p>
        </p:txBody>
      </p:sp>
      <p:sp>
        <p:nvSpPr>
          <p:cNvPr id="22" name="TextBox 22"/>
          <p:cNvSpPr txBox="1"/>
          <p:nvPr/>
        </p:nvSpPr>
        <p:spPr>
          <a:xfrm>
            <a:off x="12646735" y="1975342"/>
            <a:ext cx="4024885" cy="1225724"/>
          </a:xfrm>
          <a:prstGeom prst="rect">
            <a:avLst/>
          </a:prstGeom>
        </p:spPr>
        <p:txBody>
          <a:bodyPr lIns="0" tIns="0" rIns="0" bIns="0" rtlCol="0" anchor="t">
            <a:spAutoFit/>
          </a:bodyPr>
          <a:lstStyle/>
          <a:p>
            <a:pPr marL="0" lvl="0" indent="0" algn="ctr">
              <a:lnSpc>
                <a:spcPts val="4967"/>
              </a:lnSpc>
              <a:spcBef>
                <a:spcPct val="0"/>
              </a:spcBef>
            </a:pPr>
            <a:r>
              <a:rPr lang="en-US" sz="3289" b="1" spc="167">
                <a:solidFill>
                  <a:srgbClr val="000000"/>
                </a:solidFill>
                <a:latin typeface="Montserrat Bold"/>
                <a:ea typeface="Montserrat Bold"/>
                <a:cs typeface="Montserrat Bold"/>
                <a:sym typeface="Montserrat Bold"/>
              </a:rPr>
              <a:t>SERVER ATTRIBUTE</a:t>
            </a:r>
          </a:p>
        </p:txBody>
      </p:sp>
      <p:sp>
        <p:nvSpPr>
          <p:cNvPr id="23" name="TextBox 23"/>
          <p:cNvSpPr txBox="1"/>
          <p:nvPr/>
        </p:nvSpPr>
        <p:spPr>
          <a:xfrm>
            <a:off x="13756813" y="590230"/>
            <a:ext cx="1865341" cy="1343025"/>
          </a:xfrm>
          <a:prstGeom prst="rect">
            <a:avLst/>
          </a:prstGeom>
        </p:spPr>
        <p:txBody>
          <a:bodyPr lIns="0" tIns="0" rIns="0" bIns="0" rtlCol="0" anchor="t">
            <a:spAutoFit/>
          </a:bodyPr>
          <a:lstStyle/>
          <a:p>
            <a:pPr algn="ctr">
              <a:lnSpc>
                <a:spcPts val="11025"/>
              </a:lnSpc>
            </a:pPr>
            <a:r>
              <a:rPr lang="en-US" sz="7500" b="1">
                <a:solidFill>
                  <a:srgbClr val="1EAEFF"/>
                </a:solidFill>
                <a:latin typeface="Montserrat Ultra-Bold"/>
                <a:ea typeface="Montserrat Ultra-Bold"/>
                <a:cs typeface="Montserrat Ultra-Bold"/>
                <a:sym typeface="Montserrat Ultra-Bold"/>
              </a:rPr>
              <a:t>03</a:t>
            </a:r>
          </a:p>
        </p:txBody>
      </p:sp>
      <p:sp>
        <p:nvSpPr>
          <p:cNvPr id="24" name="TextBox 24"/>
          <p:cNvSpPr txBox="1"/>
          <p:nvPr/>
        </p:nvSpPr>
        <p:spPr>
          <a:xfrm>
            <a:off x="6996985" y="1975342"/>
            <a:ext cx="4310047" cy="1225724"/>
          </a:xfrm>
          <a:prstGeom prst="rect">
            <a:avLst/>
          </a:prstGeom>
        </p:spPr>
        <p:txBody>
          <a:bodyPr lIns="0" tIns="0" rIns="0" bIns="0" rtlCol="0" anchor="t">
            <a:spAutoFit/>
          </a:bodyPr>
          <a:lstStyle/>
          <a:p>
            <a:pPr marL="0" lvl="0" indent="0" algn="ctr">
              <a:lnSpc>
                <a:spcPts val="4967"/>
              </a:lnSpc>
              <a:spcBef>
                <a:spcPct val="0"/>
              </a:spcBef>
            </a:pPr>
            <a:r>
              <a:rPr lang="en-US" sz="3289" b="1" spc="167">
                <a:solidFill>
                  <a:srgbClr val="000000"/>
                </a:solidFill>
                <a:latin typeface="Montserrat Bold"/>
                <a:ea typeface="Montserrat Bold"/>
                <a:cs typeface="Montserrat Bold"/>
                <a:sym typeface="Montserrat Bold"/>
              </a:rPr>
              <a:t>SHARED ATTRIBUTE</a:t>
            </a:r>
          </a:p>
        </p:txBody>
      </p:sp>
      <p:sp>
        <p:nvSpPr>
          <p:cNvPr id="25" name="TextBox 25"/>
          <p:cNvSpPr txBox="1"/>
          <p:nvPr/>
        </p:nvSpPr>
        <p:spPr>
          <a:xfrm>
            <a:off x="8421885" y="590230"/>
            <a:ext cx="1520859" cy="1343025"/>
          </a:xfrm>
          <a:prstGeom prst="rect">
            <a:avLst/>
          </a:prstGeom>
        </p:spPr>
        <p:txBody>
          <a:bodyPr lIns="0" tIns="0" rIns="0" bIns="0" rtlCol="0" anchor="t">
            <a:spAutoFit/>
          </a:bodyPr>
          <a:lstStyle/>
          <a:p>
            <a:pPr algn="ctr">
              <a:lnSpc>
                <a:spcPts val="11025"/>
              </a:lnSpc>
            </a:pPr>
            <a:r>
              <a:rPr lang="en-US" sz="7500" b="1">
                <a:solidFill>
                  <a:srgbClr val="1EAEFF"/>
                </a:solidFill>
                <a:latin typeface="Montserrat Ultra-Bold"/>
                <a:ea typeface="Montserrat Ultra-Bold"/>
                <a:cs typeface="Montserrat Ultra-Bold"/>
                <a:sym typeface="Montserrat Ultra-Bold"/>
              </a:rPr>
              <a:t>02</a:t>
            </a:r>
          </a:p>
        </p:txBody>
      </p:sp>
      <p:sp>
        <p:nvSpPr>
          <p:cNvPr id="26" name="TextBox 26"/>
          <p:cNvSpPr txBox="1"/>
          <p:nvPr/>
        </p:nvSpPr>
        <p:spPr>
          <a:xfrm>
            <a:off x="1168778" y="7690030"/>
            <a:ext cx="4778810" cy="1744067"/>
          </a:xfrm>
          <a:prstGeom prst="rect">
            <a:avLst/>
          </a:prstGeom>
        </p:spPr>
        <p:txBody>
          <a:bodyPr lIns="0" tIns="0" rIns="0" bIns="0" rtlCol="0" anchor="t">
            <a:spAutoFit/>
          </a:bodyPr>
          <a:lstStyle/>
          <a:p>
            <a:pPr marL="302259" lvl="1" algn="l">
              <a:lnSpc>
                <a:spcPts val="3359"/>
              </a:lnSpc>
            </a:pPr>
            <a:r>
              <a:rPr lang="en-US" sz="2799" dirty="0">
                <a:solidFill>
                  <a:srgbClr val="000000"/>
                </a:solidFill>
                <a:latin typeface="Nunito"/>
                <a:ea typeface="Nunito"/>
                <a:cs typeface="Nunito"/>
                <a:sym typeface="Nunito"/>
              </a:rPr>
              <a:t>These are usually read-only from the dashboard and cannot be modified directly through the server.</a:t>
            </a:r>
          </a:p>
        </p:txBody>
      </p:sp>
      <p:sp>
        <p:nvSpPr>
          <p:cNvPr id="27" name="TextBox 27"/>
          <p:cNvSpPr txBox="1"/>
          <p:nvPr/>
        </p:nvSpPr>
        <p:spPr>
          <a:xfrm>
            <a:off x="1767993" y="6875149"/>
            <a:ext cx="3903664" cy="508889"/>
          </a:xfrm>
          <a:prstGeom prst="rect">
            <a:avLst/>
          </a:prstGeom>
        </p:spPr>
        <p:txBody>
          <a:bodyPr lIns="0" tIns="0" rIns="0" bIns="0" rtlCol="0" anchor="t">
            <a:spAutoFit/>
          </a:bodyPr>
          <a:lstStyle/>
          <a:p>
            <a:pPr algn="ctr">
              <a:lnSpc>
                <a:spcPts val="4227"/>
              </a:lnSpc>
            </a:pPr>
            <a:r>
              <a:rPr lang="en-US" sz="2799" spc="142">
                <a:solidFill>
                  <a:srgbClr val="FFFFFF"/>
                </a:solidFill>
                <a:latin typeface="Nunito Sans"/>
                <a:ea typeface="Nunito Sans"/>
                <a:cs typeface="Nunito Sans"/>
                <a:sym typeface="Nunito Sans"/>
              </a:rPr>
              <a:t>USE CASE</a:t>
            </a:r>
          </a:p>
        </p:txBody>
      </p:sp>
      <p:grpSp>
        <p:nvGrpSpPr>
          <p:cNvPr id="28" name="Group 28"/>
          <p:cNvGrpSpPr/>
          <p:nvPr/>
        </p:nvGrpSpPr>
        <p:grpSpPr>
          <a:xfrm>
            <a:off x="6612497" y="6835857"/>
            <a:ext cx="5139634" cy="673198"/>
            <a:chOff x="0" y="0"/>
            <a:chExt cx="1353648" cy="177303"/>
          </a:xfrm>
        </p:grpSpPr>
        <p:sp>
          <p:nvSpPr>
            <p:cNvPr id="29" name="Freeform 29"/>
            <p:cNvSpPr/>
            <p:nvPr/>
          </p:nvSpPr>
          <p:spPr>
            <a:xfrm>
              <a:off x="0" y="0"/>
              <a:ext cx="1353648" cy="177303"/>
            </a:xfrm>
            <a:custGeom>
              <a:avLst/>
              <a:gdLst/>
              <a:ahLst/>
              <a:cxnLst/>
              <a:rect l="l" t="t" r="r" b="b"/>
              <a:pathLst>
                <a:path w="1353648" h="177303">
                  <a:moveTo>
                    <a:pt x="0" y="0"/>
                  </a:moveTo>
                  <a:lnTo>
                    <a:pt x="1353648" y="0"/>
                  </a:lnTo>
                  <a:lnTo>
                    <a:pt x="1353648" y="177303"/>
                  </a:lnTo>
                  <a:lnTo>
                    <a:pt x="0" y="177303"/>
                  </a:lnTo>
                  <a:close/>
                </a:path>
              </a:pathLst>
            </a:custGeom>
            <a:solidFill>
              <a:srgbClr val="003CAF"/>
            </a:solidFill>
          </p:spPr>
          <p:txBody>
            <a:bodyPr/>
            <a:lstStyle/>
            <a:p>
              <a:endParaRPr lang="en-US"/>
            </a:p>
          </p:txBody>
        </p:sp>
        <p:sp>
          <p:nvSpPr>
            <p:cNvPr id="30" name="TextBox 30"/>
            <p:cNvSpPr txBox="1"/>
            <p:nvPr/>
          </p:nvSpPr>
          <p:spPr>
            <a:xfrm>
              <a:off x="0" y="-47625"/>
              <a:ext cx="1353648" cy="224928"/>
            </a:xfrm>
            <a:prstGeom prst="rect">
              <a:avLst/>
            </a:prstGeom>
          </p:spPr>
          <p:txBody>
            <a:bodyPr lIns="50800" tIns="50800" rIns="50800" bIns="50800" rtlCol="0" anchor="ctr"/>
            <a:lstStyle/>
            <a:p>
              <a:pPr algn="ctr">
                <a:lnSpc>
                  <a:spcPts val="3219"/>
                </a:lnSpc>
              </a:pPr>
              <a:endParaRPr/>
            </a:p>
          </p:txBody>
        </p:sp>
      </p:grpSp>
      <p:sp>
        <p:nvSpPr>
          <p:cNvPr id="31" name="TextBox 31"/>
          <p:cNvSpPr txBox="1"/>
          <p:nvPr/>
        </p:nvSpPr>
        <p:spPr>
          <a:xfrm>
            <a:off x="7275162" y="6873957"/>
            <a:ext cx="3903664" cy="508889"/>
          </a:xfrm>
          <a:prstGeom prst="rect">
            <a:avLst/>
          </a:prstGeom>
        </p:spPr>
        <p:txBody>
          <a:bodyPr lIns="0" tIns="0" rIns="0" bIns="0" rtlCol="0" anchor="t">
            <a:spAutoFit/>
          </a:bodyPr>
          <a:lstStyle/>
          <a:p>
            <a:pPr algn="ctr">
              <a:lnSpc>
                <a:spcPts val="4227"/>
              </a:lnSpc>
            </a:pPr>
            <a:r>
              <a:rPr lang="en-US" sz="2799" b="1" spc="142">
                <a:solidFill>
                  <a:srgbClr val="FFFFFF"/>
                </a:solidFill>
                <a:latin typeface="Nunito Sans Bold"/>
                <a:ea typeface="Nunito Sans Bold"/>
                <a:cs typeface="Nunito Sans Bold"/>
                <a:sym typeface="Nunito Sans Bold"/>
              </a:rPr>
              <a:t>USE CASE</a:t>
            </a:r>
          </a:p>
        </p:txBody>
      </p:sp>
      <p:grpSp>
        <p:nvGrpSpPr>
          <p:cNvPr id="32" name="Group 32"/>
          <p:cNvGrpSpPr/>
          <p:nvPr/>
        </p:nvGrpSpPr>
        <p:grpSpPr>
          <a:xfrm>
            <a:off x="12104556" y="6834665"/>
            <a:ext cx="5139634" cy="673198"/>
            <a:chOff x="0" y="0"/>
            <a:chExt cx="1353648" cy="177303"/>
          </a:xfrm>
        </p:grpSpPr>
        <p:sp>
          <p:nvSpPr>
            <p:cNvPr id="33" name="Freeform 33"/>
            <p:cNvSpPr/>
            <p:nvPr/>
          </p:nvSpPr>
          <p:spPr>
            <a:xfrm>
              <a:off x="0" y="0"/>
              <a:ext cx="1353648" cy="177303"/>
            </a:xfrm>
            <a:custGeom>
              <a:avLst/>
              <a:gdLst/>
              <a:ahLst/>
              <a:cxnLst/>
              <a:rect l="l" t="t" r="r" b="b"/>
              <a:pathLst>
                <a:path w="1353648" h="177303">
                  <a:moveTo>
                    <a:pt x="0" y="0"/>
                  </a:moveTo>
                  <a:lnTo>
                    <a:pt x="1353648" y="0"/>
                  </a:lnTo>
                  <a:lnTo>
                    <a:pt x="1353648" y="177303"/>
                  </a:lnTo>
                  <a:lnTo>
                    <a:pt x="0" y="177303"/>
                  </a:lnTo>
                  <a:close/>
                </a:path>
              </a:pathLst>
            </a:custGeom>
            <a:solidFill>
              <a:srgbClr val="003CAF"/>
            </a:solidFill>
          </p:spPr>
          <p:txBody>
            <a:bodyPr/>
            <a:lstStyle/>
            <a:p>
              <a:endParaRPr lang="en-US"/>
            </a:p>
          </p:txBody>
        </p:sp>
        <p:sp>
          <p:nvSpPr>
            <p:cNvPr id="34" name="TextBox 34"/>
            <p:cNvSpPr txBox="1"/>
            <p:nvPr/>
          </p:nvSpPr>
          <p:spPr>
            <a:xfrm>
              <a:off x="0" y="-47625"/>
              <a:ext cx="1353648" cy="224928"/>
            </a:xfrm>
            <a:prstGeom prst="rect">
              <a:avLst/>
            </a:prstGeom>
          </p:spPr>
          <p:txBody>
            <a:bodyPr lIns="50800" tIns="50800" rIns="50800" bIns="50800" rtlCol="0" anchor="ctr"/>
            <a:lstStyle/>
            <a:p>
              <a:pPr algn="ctr">
                <a:lnSpc>
                  <a:spcPts val="3219"/>
                </a:lnSpc>
              </a:pPr>
              <a:endParaRPr/>
            </a:p>
          </p:txBody>
        </p:sp>
      </p:grpSp>
      <p:sp>
        <p:nvSpPr>
          <p:cNvPr id="35" name="TextBox 35"/>
          <p:cNvSpPr txBox="1"/>
          <p:nvPr/>
        </p:nvSpPr>
        <p:spPr>
          <a:xfrm>
            <a:off x="12767221" y="6872765"/>
            <a:ext cx="3903664" cy="508889"/>
          </a:xfrm>
          <a:prstGeom prst="rect">
            <a:avLst/>
          </a:prstGeom>
        </p:spPr>
        <p:txBody>
          <a:bodyPr lIns="0" tIns="0" rIns="0" bIns="0" rtlCol="0" anchor="t">
            <a:spAutoFit/>
          </a:bodyPr>
          <a:lstStyle/>
          <a:p>
            <a:pPr algn="ctr">
              <a:lnSpc>
                <a:spcPts val="4227"/>
              </a:lnSpc>
            </a:pPr>
            <a:r>
              <a:rPr lang="en-US" sz="2799" b="1" spc="142">
                <a:solidFill>
                  <a:srgbClr val="FFFFFF"/>
                </a:solidFill>
                <a:latin typeface="Nunito Sans Bold"/>
                <a:ea typeface="Nunito Sans Bold"/>
                <a:cs typeface="Nunito Sans Bold"/>
                <a:sym typeface="Nunito Sans Bold"/>
              </a:rPr>
              <a:t>USE CASE</a:t>
            </a:r>
          </a:p>
        </p:txBody>
      </p:sp>
      <p:sp>
        <p:nvSpPr>
          <p:cNvPr id="36" name="TextBox 36"/>
          <p:cNvSpPr txBox="1"/>
          <p:nvPr/>
        </p:nvSpPr>
        <p:spPr>
          <a:xfrm>
            <a:off x="6762867" y="7645976"/>
            <a:ext cx="4544165" cy="2180084"/>
          </a:xfrm>
          <a:prstGeom prst="rect">
            <a:avLst/>
          </a:prstGeom>
        </p:spPr>
        <p:txBody>
          <a:bodyPr lIns="0" tIns="0" rIns="0" bIns="0" rtlCol="0" anchor="t">
            <a:spAutoFit/>
          </a:bodyPr>
          <a:lstStyle/>
          <a:p>
            <a:pPr marL="302259" lvl="1" algn="l">
              <a:lnSpc>
                <a:spcPts val="3359"/>
              </a:lnSpc>
            </a:pPr>
            <a:r>
              <a:rPr lang="en-US" sz="2799" dirty="0">
                <a:solidFill>
                  <a:srgbClr val="000000"/>
                </a:solidFill>
                <a:latin typeface="Nunito"/>
                <a:ea typeface="Nunito"/>
                <a:cs typeface="Nunito"/>
                <a:sym typeface="Nunito"/>
              </a:rPr>
              <a:t>Used to configure device behavior, such as setting thresholds, mode of operation, schedule settings, </a:t>
            </a:r>
            <a:r>
              <a:rPr lang="en-US" sz="2799" dirty="0" err="1">
                <a:solidFill>
                  <a:srgbClr val="000000"/>
                </a:solidFill>
                <a:latin typeface="Nunito"/>
                <a:ea typeface="Nunito"/>
                <a:cs typeface="Nunito"/>
                <a:sym typeface="Nunito"/>
              </a:rPr>
              <a:t>etc</a:t>
            </a:r>
            <a:endParaRPr lang="en-US" sz="2799" dirty="0">
              <a:solidFill>
                <a:srgbClr val="000000"/>
              </a:solidFill>
              <a:latin typeface="Nunito"/>
              <a:ea typeface="Nunito"/>
              <a:cs typeface="Nunito"/>
              <a:sym typeface="Nunito"/>
            </a:endParaRPr>
          </a:p>
        </p:txBody>
      </p:sp>
      <p:sp>
        <p:nvSpPr>
          <p:cNvPr id="37" name="TextBox 37"/>
          <p:cNvSpPr txBox="1"/>
          <p:nvPr/>
        </p:nvSpPr>
        <p:spPr>
          <a:xfrm>
            <a:off x="12123606" y="7662647"/>
            <a:ext cx="4892113" cy="2163413"/>
          </a:xfrm>
          <a:prstGeom prst="rect">
            <a:avLst/>
          </a:prstGeom>
        </p:spPr>
        <p:txBody>
          <a:bodyPr lIns="0" tIns="0" rIns="0" bIns="0" rtlCol="0" anchor="t">
            <a:spAutoFit/>
          </a:bodyPr>
          <a:lstStyle/>
          <a:p>
            <a:pPr marL="302259" lvl="1" algn="l">
              <a:lnSpc>
                <a:spcPts val="3359"/>
              </a:lnSpc>
            </a:pPr>
            <a:r>
              <a:rPr lang="en-US" sz="2400" dirty="0">
                <a:solidFill>
                  <a:srgbClr val="000000"/>
                </a:solidFill>
                <a:latin typeface="Nunito"/>
                <a:ea typeface="Nunito"/>
                <a:cs typeface="Nunito"/>
                <a:sym typeface="Nunito"/>
              </a:rPr>
              <a:t>Typically used for information that is only relevant to the server: device ownership, last configuration change timestamp, access permissions, </a:t>
            </a:r>
            <a:r>
              <a:rPr lang="en-US" sz="2400" dirty="0" err="1">
                <a:solidFill>
                  <a:srgbClr val="000000"/>
                </a:solidFill>
                <a:latin typeface="Nunito"/>
                <a:ea typeface="Nunito"/>
                <a:cs typeface="Nunito"/>
                <a:sym typeface="Nunito"/>
              </a:rPr>
              <a:t>etc</a:t>
            </a:r>
            <a:endParaRPr lang="en-US" sz="2400" dirty="0">
              <a:solidFill>
                <a:srgbClr val="000000"/>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610492" y="615326"/>
            <a:ext cx="7609071" cy="595727"/>
          </a:xfrm>
          <a:prstGeom prst="rect">
            <a:avLst/>
          </a:prstGeom>
        </p:spPr>
        <p:txBody>
          <a:bodyPr lIns="0" tIns="0" rIns="0" bIns="0" rtlCol="0" anchor="t">
            <a:spAutoFit/>
          </a:bodyPr>
          <a:lstStyle/>
          <a:p>
            <a:pPr algn="ctr">
              <a:lnSpc>
                <a:spcPts val="4967"/>
              </a:lnSpc>
            </a:pPr>
            <a:r>
              <a:rPr lang="en-US" sz="3289" b="1" spc="167">
                <a:solidFill>
                  <a:srgbClr val="000000"/>
                </a:solidFill>
                <a:latin typeface="Montserrat Bold"/>
                <a:ea typeface="Montserrat Bold"/>
                <a:cs typeface="Montserrat Bold"/>
                <a:sym typeface="Montserrat Bold"/>
              </a:rPr>
              <a:t>TELEMETRY ATTRIBUTES</a:t>
            </a:r>
          </a:p>
        </p:txBody>
      </p:sp>
      <p:sp>
        <p:nvSpPr>
          <p:cNvPr id="3" name="TextBox 3"/>
          <p:cNvSpPr txBox="1"/>
          <p:nvPr/>
        </p:nvSpPr>
        <p:spPr>
          <a:xfrm>
            <a:off x="1028700" y="189290"/>
            <a:ext cx="1763302" cy="1343025"/>
          </a:xfrm>
          <a:prstGeom prst="rect">
            <a:avLst/>
          </a:prstGeom>
        </p:spPr>
        <p:txBody>
          <a:bodyPr lIns="0" tIns="0" rIns="0" bIns="0" rtlCol="0" anchor="t">
            <a:spAutoFit/>
          </a:bodyPr>
          <a:lstStyle/>
          <a:p>
            <a:pPr algn="ctr">
              <a:lnSpc>
                <a:spcPts val="11025"/>
              </a:lnSpc>
            </a:pPr>
            <a:r>
              <a:rPr lang="en-US" sz="7500" b="1">
                <a:solidFill>
                  <a:srgbClr val="1EAEFF"/>
                </a:solidFill>
                <a:latin typeface="Montserrat Ultra-Bold"/>
                <a:ea typeface="Montserrat Ultra-Bold"/>
                <a:cs typeface="Montserrat Ultra-Bold"/>
                <a:sym typeface="Montserrat Ultra-Bold"/>
              </a:rPr>
              <a:t>04</a:t>
            </a:r>
          </a:p>
        </p:txBody>
      </p:sp>
      <p:sp>
        <p:nvSpPr>
          <p:cNvPr id="4" name="TextBox 4"/>
          <p:cNvSpPr txBox="1"/>
          <p:nvPr/>
        </p:nvSpPr>
        <p:spPr>
          <a:xfrm>
            <a:off x="660384" y="3140257"/>
            <a:ext cx="6754643" cy="3352800"/>
          </a:xfrm>
          <a:prstGeom prst="rect">
            <a:avLst/>
          </a:prstGeom>
        </p:spPr>
        <p:txBody>
          <a:bodyPr lIns="0" tIns="0" rIns="0" bIns="0" rtlCol="0" anchor="t">
            <a:spAutoFit/>
          </a:bodyPr>
          <a:lstStyle/>
          <a:p>
            <a:pPr marL="604521" lvl="1" indent="-302261" algn="l">
              <a:lnSpc>
                <a:spcPts val="3360"/>
              </a:lnSpc>
              <a:buFont typeface="Arial"/>
              <a:buChar char="•"/>
            </a:pPr>
            <a:r>
              <a:rPr lang="en-US" sz="2800">
                <a:solidFill>
                  <a:srgbClr val="000000"/>
                </a:solidFill>
                <a:latin typeface="Nunito"/>
                <a:ea typeface="Nunito"/>
                <a:cs typeface="Nunito"/>
                <a:sym typeface="Nunito"/>
              </a:rPr>
              <a:t>Telemetry attributes are data points associated with a specific timestamp that record the behavior or state of a device at a given time. These data points are continuously updated and collected to provide insights into the device's operations</a:t>
            </a:r>
          </a:p>
          <a:p>
            <a:pPr algn="l">
              <a:lnSpc>
                <a:spcPts val="3360"/>
              </a:lnSpc>
              <a:spcBef>
                <a:spcPct val="0"/>
              </a:spcBef>
            </a:pPr>
            <a:endParaRPr lang="en-US" sz="2800">
              <a:solidFill>
                <a:srgbClr val="000000"/>
              </a:solidFill>
              <a:latin typeface="Nunito"/>
              <a:ea typeface="Nunito"/>
              <a:cs typeface="Nunito"/>
              <a:sym typeface="Nunito"/>
            </a:endParaRPr>
          </a:p>
        </p:txBody>
      </p:sp>
      <p:sp>
        <p:nvSpPr>
          <p:cNvPr id="5" name="TextBox 5"/>
          <p:cNvSpPr txBox="1"/>
          <p:nvPr/>
        </p:nvSpPr>
        <p:spPr>
          <a:xfrm>
            <a:off x="9545642" y="3140257"/>
            <a:ext cx="7435029" cy="2095500"/>
          </a:xfrm>
          <a:prstGeom prst="rect">
            <a:avLst/>
          </a:prstGeom>
        </p:spPr>
        <p:txBody>
          <a:bodyPr lIns="0" tIns="0" rIns="0" bIns="0" rtlCol="0" anchor="t">
            <a:spAutoFit/>
          </a:bodyPr>
          <a:lstStyle/>
          <a:p>
            <a:pPr marL="604521" lvl="1" indent="-302261" algn="l">
              <a:lnSpc>
                <a:spcPts val="3360"/>
              </a:lnSpc>
              <a:spcBef>
                <a:spcPct val="0"/>
              </a:spcBef>
              <a:buFont typeface="Arial"/>
              <a:buChar char="•"/>
            </a:pPr>
            <a:r>
              <a:rPr lang="en-US" sz="2800">
                <a:solidFill>
                  <a:srgbClr val="000000"/>
                </a:solidFill>
                <a:latin typeface="Nunito"/>
                <a:ea typeface="Nunito"/>
                <a:cs typeface="Nunito"/>
                <a:sym typeface="Nunito"/>
              </a:rPr>
              <a:t>Devices send telemetry data to the ThingsBoard platform via protocols like MQTT, HTTP, or CoAP. The data is stored in a time-series database, which allows for efficient querying and analysis over time.</a:t>
            </a:r>
          </a:p>
        </p:txBody>
      </p:sp>
      <p:sp>
        <p:nvSpPr>
          <p:cNvPr id="6" name="TextBox 6"/>
          <p:cNvSpPr txBox="1"/>
          <p:nvPr/>
        </p:nvSpPr>
        <p:spPr>
          <a:xfrm>
            <a:off x="9824271" y="6495629"/>
            <a:ext cx="6877771" cy="3366384"/>
          </a:xfrm>
          <a:prstGeom prst="rect">
            <a:avLst/>
          </a:prstGeom>
        </p:spPr>
        <p:txBody>
          <a:bodyPr lIns="0" tIns="0" rIns="0" bIns="0" rtlCol="0" anchor="t">
            <a:spAutoFit/>
          </a:bodyPr>
          <a:lstStyle/>
          <a:p>
            <a:pPr marL="604521" lvl="1" indent="-302260" algn="l">
              <a:lnSpc>
                <a:spcPts val="3360"/>
              </a:lnSpc>
              <a:spcBef>
                <a:spcPct val="0"/>
              </a:spcBef>
              <a:buFont typeface="Arial"/>
              <a:buChar char="•"/>
            </a:pPr>
            <a:r>
              <a:rPr lang="en-US" sz="2800">
                <a:solidFill>
                  <a:srgbClr val="000000"/>
                </a:solidFill>
                <a:latin typeface="Nunito"/>
                <a:ea typeface="Nunito"/>
                <a:cs typeface="Nunito"/>
                <a:sym typeface="Nunito"/>
              </a:rPr>
              <a:t>Telemetry data can be accessed through the dashboard and is often visualized using widgets such as charts, graphs, and real-time indicators. This allows users to monitor real-time events and historical trends and make informed decisions based on the data.</a:t>
            </a:r>
          </a:p>
        </p:txBody>
      </p:sp>
      <p:sp>
        <p:nvSpPr>
          <p:cNvPr id="7" name="TextBox 7"/>
          <p:cNvSpPr txBox="1"/>
          <p:nvPr/>
        </p:nvSpPr>
        <p:spPr>
          <a:xfrm>
            <a:off x="660384" y="7258326"/>
            <a:ext cx="7203971" cy="2945586"/>
          </a:xfrm>
          <a:prstGeom prst="rect">
            <a:avLst/>
          </a:prstGeom>
        </p:spPr>
        <p:txBody>
          <a:bodyPr lIns="0" tIns="0" rIns="0" bIns="0" rtlCol="0" anchor="t">
            <a:spAutoFit/>
          </a:bodyPr>
          <a:lstStyle/>
          <a:p>
            <a:pPr marL="604521" lvl="1" indent="-302260" algn="l">
              <a:lnSpc>
                <a:spcPts val="3360"/>
              </a:lnSpc>
              <a:spcBef>
                <a:spcPct val="0"/>
              </a:spcBef>
              <a:buFont typeface="Arial"/>
              <a:buChar char="•"/>
            </a:pPr>
            <a:r>
              <a:rPr lang="en-US" sz="2800">
                <a:solidFill>
                  <a:srgbClr val="000000"/>
                </a:solidFill>
                <a:latin typeface="Nunito"/>
                <a:ea typeface="Nunito"/>
                <a:cs typeface="Nunito"/>
                <a:sym typeface="Nunito"/>
              </a:rPr>
              <a:t>They are used for capturing and analyzing real-time data such as temperature, humidity, pressure, battery level, speed, or any other measurement that can vary over time. This data is crucial for monitoring trends, generating alerts, and performing analytics</a:t>
            </a:r>
          </a:p>
        </p:txBody>
      </p:sp>
      <p:grpSp>
        <p:nvGrpSpPr>
          <p:cNvPr id="8" name="Group 8"/>
          <p:cNvGrpSpPr/>
          <p:nvPr/>
        </p:nvGrpSpPr>
        <p:grpSpPr>
          <a:xfrm>
            <a:off x="1028700" y="2000334"/>
            <a:ext cx="5139634" cy="673198"/>
            <a:chOff x="0" y="0"/>
            <a:chExt cx="1353648" cy="177303"/>
          </a:xfrm>
        </p:grpSpPr>
        <p:sp>
          <p:nvSpPr>
            <p:cNvPr id="9" name="Freeform 9"/>
            <p:cNvSpPr/>
            <p:nvPr/>
          </p:nvSpPr>
          <p:spPr>
            <a:xfrm>
              <a:off x="0" y="0"/>
              <a:ext cx="1353648" cy="177303"/>
            </a:xfrm>
            <a:custGeom>
              <a:avLst/>
              <a:gdLst/>
              <a:ahLst/>
              <a:cxnLst/>
              <a:rect l="l" t="t" r="r" b="b"/>
              <a:pathLst>
                <a:path w="1353648" h="177303">
                  <a:moveTo>
                    <a:pt x="0" y="0"/>
                  </a:moveTo>
                  <a:lnTo>
                    <a:pt x="1353648" y="0"/>
                  </a:lnTo>
                  <a:lnTo>
                    <a:pt x="1353648" y="177303"/>
                  </a:lnTo>
                  <a:lnTo>
                    <a:pt x="0" y="177303"/>
                  </a:lnTo>
                  <a:close/>
                </a:path>
              </a:pathLst>
            </a:custGeom>
            <a:solidFill>
              <a:srgbClr val="003CAF"/>
            </a:solidFill>
          </p:spPr>
          <p:txBody>
            <a:bodyPr/>
            <a:lstStyle/>
            <a:p>
              <a:endParaRPr lang="en-US"/>
            </a:p>
          </p:txBody>
        </p:sp>
        <p:sp>
          <p:nvSpPr>
            <p:cNvPr id="10" name="TextBox 10"/>
            <p:cNvSpPr txBox="1"/>
            <p:nvPr/>
          </p:nvSpPr>
          <p:spPr>
            <a:xfrm>
              <a:off x="0" y="-47625"/>
              <a:ext cx="1353648" cy="224928"/>
            </a:xfrm>
            <a:prstGeom prst="rect">
              <a:avLst/>
            </a:prstGeom>
          </p:spPr>
          <p:txBody>
            <a:bodyPr lIns="50800" tIns="50800" rIns="50800" bIns="50800" rtlCol="0" anchor="ctr"/>
            <a:lstStyle/>
            <a:p>
              <a:pPr algn="ctr">
                <a:lnSpc>
                  <a:spcPts val="3219"/>
                </a:lnSpc>
              </a:pPr>
              <a:endParaRPr/>
            </a:p>
          </p:txBody>
        </p:sp>
      </p:grpSp>
      <p:sp>
        <p:nvSpPr>
          <p:cNvPr id="11" name="TextBox 11"/>
          <p:cNvSpPr txBox="1"/>
          <p:nvPr/>
        </p:nvSpPr>
        <p:spPr>
          <a:xfrm>
            <a:off x="1328597" y="2039626"/>
            <a:ext cx="3903664" cy="508889"/>
          </a:xfrm>
          <a:prstGeom prst="rect">
            <a:avLst/>
          </a:prstGeom>
        </p:spPr>
        <p:txBody>
          <a:bodyPr lIns="0" tIns="0" rIns="0" bIns="0" rtlCol="0" anchor="t">
            <a:spAutoFit/>
          </a:bodyPr>
          <a:lstStyle/>
          <a:p>
            <a:pPr algn="l">
              <a:lnSpc>
                <a:spcPts val="4227"/>
              </a:lnSpc>
            </a:pPr>
            <a:r>
              <a:rPr lang="en-US" sz="2799" b="1" spc="142">
                <a:solidFill>
                  <a:srgbClr val="FFFFFF"/>
                </a:solidFill>
                <a:latin typeface="Nunito Sans Bold"/>
                <a:ea typeface="Nunito Sans Bold"/>
                <a:cs typeface="Nunito Sans Bold"/>
                <a:sym typeface="Nunito Sans Bold"/>
              </a:rPr>
              <a:t>Definition</a:t>
            </a:r>
          </a:p>
        </p:txBody>
      </p:sp>
      <p:grpSp>
        <p:nvGrpSpPr>
          <p:cNvPr id="12" name="Group 12"/>
          <p:cNvGrpSpPr/>
          <p:nvPr/>
        </p:nvGrpSpPr>
        <p:grpSpPr>
          <a:xfrm>
            <a:off x="9824271" y="5546206"/>
            <a:ext cx="5139634" cy="673198"/>
            <a:chOff x="0" y="0"/>
            <a:chExt cx="1353648" cy="177303"/>
          </a:xfrm>
        </p:grpSpPr>
        <p:sp>
          <p:nvSpPr>
            <p:cNvPr id="13" name="Freeform 13"/>
            <p:cNvSpPr/>
            <p:nvPr/>
          </p:nvSpPr>
          <p:spPr>
            <a:xfrm>
              <a:off x="0" y="0"/>
              <a:ext cx="1353648" cy="177303"/>
            </a:xfrm>
            <a:custGeom>
              <a:avLst/>
              <a:gdLst/>
              <a:ahLst/>
              <a:cxnLst/>
              <a:rect l="l" t="t" r="r" b="b"/>
              <a:pathLst>
                <a:path w="1353648" h="177303">
                  <a:moveTo>
                    <a:pt x="0" y="0"/>
                  </a:moveTo>
                  <a:lnTo>
                    <a:pt x="1353648" y="0"/>
                  </a:lnTo>
                  <a:lnTo>
                    <a:pt x="1353648" y="177303"/>
                  </a:lnTo>
                  <a:lnTo>
                    <a:pt x="0" y="177303"/>
                  </a:lnTo>
                  <a:close/>
                </a:path>
              </a:pathLst>
            </a:custGeom>
            <a:solidFill>
              <a:srgbClr val="003CAF"/>
            </a:solidFill>
          </p:spPr>
          <p:txBody>
            <a:bodyPr/>
            <a:lstStyle/>
            <a:p>
              <a:endParaRPr lang="en-US"/>
            </a:p>
          </p:txBody>
        </p:sp>
        <p:sp>
          <p:nvSpPr>
            <p:cNvPr id="14" name="TextBox 14"/>
            <p:cNvSpPr txBox="1"/>
            <p:nvPr/>
          </p:nvSpPr>
          <p:spPr>
            <a:xfrm>
              <a:off x="0" y="-47625"/>
              <a:ext cx="1353648" cy="224928"/>
            </a:xfrm>
            <a:prstGeom prst="rect">
              <a:avLst/>
            </a:prstGeom>
          </p:spPr>
          <p:txBody>
            <a:bodyPr lIns="50800" tIns="50800" rIns="50800" bIns="50800" rtlCol="0" anchor="ctr"/>
            <a:lstStyle/>
            <a:p>
              <a:pPr algn="ctr">
                <a:lnSpc>
                  <a:spcPts val="3219"/>
                </a:lnSpc>
              </a:pPr>
              <a:endParaRPr/>
            </a:p>
          </p:txBody>
        </p:sp>
      </p:grpSp>
      <p:sp>
        <p:nvSpPr>
          <p:cNvPr id="15" name="TextBox 15"/>
          <p:cNvSpPr txBox="1"/>
          <p:nvPr/>
        </p:nvSpPr>
        <p:spPr>
          <a:xfrm>
            <a:off x="10124169" y="5585498"/>
            <a:ext cx="4499638" cy="508889"/>
          </a:xfrm>
          <a:prstGeom prst="rect">
            <a:avLst/>
          </a:prstGeom>
        </p:spPr>
        <p:txBody>
          <a:bodyPr lIns="0" tIns="0" rIns="0" bIns="0" rtlCol="0" anchor="t">
            <a:spAutoFit/>
          </a:bodyPr>
          <a:lstStyle/>
          <a:p>
            <a:pPr algn="l">
              <a:lnSpc>
                <a:spcPts val="4227"/>
              </a:lnSpc>
            </a:pPr>
            <a:r>
              <a:rPr lang="en-US" sz="2799" b="1" spc="142">
                <a:solidFill>
                  <a:srgbClr val="FFFFFF"/>
                </a:solidFill>
                <a:latin typeface="Nunito Sans Bold"/>
                <a:ea typeface="Nunito Sans Bold"/>
                <a:cs typeface="Nunito Sans Bold"/>
                <a:sym typeface="Nunito Sans Bold"/>
              </a:rPr>
              <a:t>Access and Visulization</a:t>
            </a:r>
          </a:p>
        </p:txBody>
      </p:sp>
      <p:grpSp>
        <p:nvGrpSpPr>
          <p:cNvPr id="16" name="Group 16"/>
          <p:cNvGrpSpPr/>
          <p:nvPr/>
        </p:nvGrpSpPr>
        <p:grpSpPr>
          <a:xfrm>
            <a:off x="1028700" y="6537503"/>
            <a:ext cx="5139634" cy="673198"/>
            <a:chOff x="0" y="0"/>
            <a:chExt cx="1353648" cy="177303"/>
          </a:xfrm>
        </p:grpSpPr>
        <p:sp>
          <p:nvSpPr>
            <p:cNvPr id="17" name="Freeform 17"/>
            <p:cNvSpPr/>
            <p:nvPr/>
          </p:nvSpPr>
          <p:spPr>
            <a:xfrm>
              <a:off x="0" y="0"/>
              <a:ext cx="1353648" cy="177303"/>
            </a:xfrm>
            <a:custGeom>
              <a:avLst/>
              <a:gdLst/>
              <a:ahLst/>
              <a:cxnLst/>
              <a:rect l="l" t="t" r="r" b="b"/>
              <a:pathLst>
                <a:path w="1353648" h="177303">
                  <a:moveTo>
                    <a:pt x="0" y="0"/>
                  </a:moveTo>
                  <a:lnTo>
                    <a:pt x="1353648" y="0"/>
                  </a:lnTo>
                  <a:lnTo>
                    <a:pt x="1353648" y="177303"/>
                  </a:lnTo>
                  <a:lnTo>
                    <a:pt x="0" y="177303"/>
                  </a:lnTo>
                  <a:close/>
                </a:path>
              </a:pathLst>
            </a:custGeom>
            <a:solidFill>
              <a:srgbClr val="003CAF"/>
            </a:solidFill>
          </p:spPr>
          <p:txBody>
            <a:bodyPr/>
            <a:lstStyle/>
            <a:p>
              <a:endParaRPr lang="en-US"/>
            </a:p>
          </p:txBody>
        </p:sp>
        <p:sp>
          <p:nvSpPr>
            <p:cNvPr id="18" name="TextBox 18"/>
            <p:cNvSpPr txBox="1"/>
            <p:nvPr/>
          </p:nvSpPr>
          <p:spPr>
            <a:xfrm>
              <a:off x="0" y="-47625"/>
              <a:ext cx="1353648" cy="224928"/>
            </a:xfrm>
            <a:prstGeom prst="rect">
              <a:avLst/>
            </a:prstGeom>
          </p:spPr>
          <p:txBody>
            <a:bodyPr lIns="50800" tIns="50800" rIns="50800" bIns="50800" rtlCol="0" anchor="ctr"/>
            <a:lstStyle/>
            <a:p>
              <a:pPr algn="ctr">
                <a:lnSpc>
                  <a:spcPts val="3219"/>
                </a:lnSpc>
              </a:pPr>
              <a:endParaRPr/>
            </a:p>
          </p:txBody>
        </p:sp>
      </p:grpSp>
      <p:sp>
        <p:nvSpPr>
          <p:cNvPr id="19" name="TextBox 19"/>
          <p:cNvSpPr txBox="1"/>
          <p:nvPr/>
        </p:nvSpPr>
        <p:spPr>
          <a:xfrm>
            <a:off x="1328597" y="6576795"/>
            <a:ext cx="3903664" cy="508889"/>
          </a:xfrm>
          <a:prstGeom prst="rect">
            <a:avLst/>
          </a:prstGeom>
        </p:spPr>
        <p:txBody>
          <a:bodyPr lIns="0" tIns="0" rIns="0" bIns="0" rtlCol="0" anchor="t">
            <a:spAutoFit/>
          </a:bodyPr>
          <a:lstStyle/>
          <a:p>
            <a:pPr algn="l">
              <a:lnSpc>
                <a:spcPts val="4227"/>
              </a:lnSpc>
            </a:pPr>
            <a:r>
              <a:rPr lang="en-US" sz="2799" spc="142">
                <a:solidFill>
                  <a:srgbClr val="FFFFFF"/>
                </a:solidFill>
                <a:latin typeface="Nunito Sans"/>
                <a:ea typeface="Nunito Sans"/>
                <a:cs typeface="Nunito Sans"/>
                <a:sym typeface="Nunito Sans"/>
              </a:rPr>
              <a:t>Use Case</a:t>
            </a:r>
          </a:p>
        </p:txBody>
      </p:sp>
      <p:grpSp>
        <p:nvGrpSpPr>
          <p:cNvPr id="20" name="Group 20"/>
          <p:cNvGrpSpPr/>
          <p:nvPr/>
        </p:nvGrpSpPr>
        <p:grpSpPr>
          <a:xfrm>
            <a:off x="9824271" y="2020716"/>
            <a:ext cx="5139634" cy="673198"/>
            <a:chOff x="0" y="0"/>
            <a:chExt cx="1353648" cy="177303"/>
          </a:xfrm>
        </p:grpSpPr>
        <p:sp>
          <p:nvSpPr>
            <p:cNvPr id="21" name="Freeform 21"/>
            <p:cNvSpPr/>
            <p:nvPr/>
          </p:nvSpPr>
          <p:spPr>
            <a:xfrm>
              <a:off x="0" y="0"/>
              <a:ext cx="1353648" cy="177303"/>
            </a:xfrm>
            <a:custGeom>
              <a:avLst/>
              <a:gdLst/>
              <a:ahLst/>
              <a:cxnLst/>
              <a:rect l="l" t="t" r="r" b="b"/>
              <a:pathLst>
                <a:path w="1353648" h="177303">
                  <a:moveTo>
                    <a:pt x="0" y="0"/>
                  </a:moveTo>
                  <a:lnTo>
                    <a:pt x="1353648" y="0"/>
                  </a:lnTo>
                  <a:lnTo>
                    <a:pt x="1353648" y="177303"/>
                  </a:lnTo>
                  <a:lnTo>
                    <a:pt x="0" y="177303"/>
                  </a:lnTo>
                  <a:close/>
                </a:path>
              </a:pathLst>
            </a:custGeom>
            <a:solidFill>
              <a:srgbClr val="003CAF"/>
            </a:solidFill>
          </p:spPr>
          <p:txBody>
            <a:bodyPr/>
            <a:lstStyle/>
            <a:p>
              <a:endParaRPr lang="en-US"/>
            </a:p>
          </p:txBody>
        </p:sp>
        <p:sp>
          <p:nvSpPr>
            <p:cNvPr id="22" name="TextBox 22"/>
            <p:cNvSpPr txBox="1"/>
            <p:nvPr/>
          </p:nvSpPr>
          <p:spPr>
            <a:xfrm>
              <a:off x="0" y="-47625"/>
              <a:ext cx="1353648" cy="224928"/>
            </a:xfrm>
            <a:prstGeom prst="rect">
              <a:avLst/>
            </a:prstGeom>
          </p:spPr>
          <p:txBody>
            <a:bodyPr lIns="50800" tIns="50800" rIns="50800" bIns="50800" rtlCol="0" anchor="ctr"/>
            <a:lstStyle/>
            <a:p>
              <a:pPr algn="ctr">
                <a:lnSpc>
                  <a:spcPts val="3219"/>
                </a:lnSpc>
              </a:pPr>
              <a:endParaRPr/>
            </a:p>
          </p:txBody>
        </p:sp>
      </p:grpSp>
      <p:sp>
        <p:nvSpPr>
          <p:cNvPr id="23" name="TextBox 23"/>
          <p:cNvSpPr txBox="1"/>
          <p:nvPr/>
        </p:nvSpPr>
        <p:spPr>
          <a:xfrm>
            <a:off x="10124169" y="2060008"/>
            <a:ext cx="3903664" cy="508889"/>
          </a:xfrm>
          <a:prstGeom prst="rect">
            <a:avLst/>
          </a:prstGeom>
        </p:spPr>
        <p:txBody>
          <a:bodyPr lIns="0" tIns="0" rIns="0" bIns="0" rtlCol="0" anchor="t">
            <a:spAutoFit/>
          </a:bodyPr>
          <a:lstStyle/>
          <a:p>
            <a:pPr algn="l">
              <a:lnSpc>
                <a:spcPts val="4227"/>
              </a:lnSpc>
            </a:pPr>
            <a:r>
              <a:rPr lang="en-US" sz="2799" b="1" spc="142">
                <a:solidFill>
                  <a:srgbClr val="FFFFFF"/>
                </a:solidFill>
                <a:latin typeface="Nunito Sans Bold"/>
                <a:ea typeface="Nunito Sans Bold"/>
                <a:cs typeface="Nunito Sans Bold"/>
                <a:sym typeface="Nunito Sans Bold"/>
              </a:rPr>
              <a:t>Connection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639968"/>
            <a:ext cx="16438134" cy="1315559"/>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REMOTE PROCEDURE CALL - RPC</a:t>
            </a:r>
          </a:p>
        </p:txBody>
      </p:sp>
      <p:grpSp>
        <p:nvGrpSpPr>
          <p:cNvPr id="3" name="Group 3"/>
          <p:cNvGrpSpPr/>
          <p:nvPr/>
        </p:nvGrpSpPr>
        <p:grpSpPr>
          <a:xfrm>
            <a:off x="2515646" y="3850040"/>
            <a:ext cx="2958901" cy="5903519"/>
            <a:chOff x="0" y="0"/>
            <a:chExt cx="926281" cy="1848091"/>
          </a:xfrm>
        </p:grpSpPr>
        <p:sp>
          <p:nvSpPr>
            <p:cNvPr id="4" name="Freeform 4"/>
            <p:cNvSpPr/>
            <p:nvPr/>
          </p:nvSpPr>
          <p:spPr>
            <a:xfrm>
              <a:off x="0" y="0"/>
              <a:ext cx="926281" cy="1848091"/>
            </a:xfrm>
            <a:custGeom>
              <a:avLst/>
              <a:gdLst/>
              <a:ahLst/>
              <a:cxnLst/>
              <a:rect l="l" t="t" r="r" b="b"/>
              <a:pathLst>
                <a:path w="926281" h="1848091">
                  <a:moveTo>
                    <a:pt x="41864" y="0"/>
                  </a:moveTo>
                  <a:lnTo>
                    <a:pt x="884417" y="0"/>
                  </a:lnTo>
                  <a:cubicBezTo>
                    <a:pt x="895520" y="0"/>
                    <a:pt x="906168" y="4411"/>
                    <a:pt x="914019" y="12262"/>
                  </a:cubicBezTo>
                  <a:cubicBezTo>
                    <a:pt x="921870" y="20113"/>
                    <a:pt x="926281" y="30761"/>
                    <a:pt x="926281" y="41864"/>
                  </a:cubicBezTo>
                  <a:lnTo>
                    <a:pt x="926281" y="1806227"/>
                  </a:lnTo>
                  <a:cubicBezTo>
                    <a:pt x="926281" y="1817330"/>
                    <a:pt x="921870" y="1827979"/>
                    <a:pt x="914019" y="1835829"/>
                  </a:cubicBezTo>
                  <a:cubicBezTo>
                    <a:pt x="906168" y="1843680"/>
                    <a:pt x="895520" y="1848091"/>
                    <a:pt x="884417" y="1848091"/>
                  </a:cubicBezTo>
                  <a:lnTo>
                    <a:pt x="41864" y="1848091"/>
                  </a:lnTo>
                  <a:cubicBezTo>
                    <a:pt x="30761" y="1848091"/>
                    <a:pt x="20113" y="1843680"/>
                    <a:pt x="12262" y="1835829"/>
                  </a:cubicBezTo>
                  <a:cubicBezTo>
                    <a:pt x="4411" y="1827979"/>
                    <a:pt x="0" y="1817330"/>
                    <a:pt x="0" y="1806227"/>
                  </a:cubicBezTo>
                  <a:lnTo>
                    <a:pt x="0" y="41864"/>
                  </a:lnTo>
                  <a:cubicBezTo>
                    <a:pt x="0" y="30761"/>
                    <a:pt x="4411" y="20113"/>
                    <a:pt x="12262" y="12262"/>
                  </a:cubicBezTo>
                  <a:cubicBezTo>
                    <a:pt x="20113" y="4411"/>
                    <a:pt x="30761" y="0"/>
                    <a:pt x="41864" y="0"/>
                  </a:cubicBezTo>
                  <a:close/>
                </a:path>
              </a:pathLst>
            </a:custGeom>
            <a:solidFill>
              <a:srgbClr val="48699F"/>
            </a:solidFill>
          </p:spPr>
          <p:txBody>
            <a:bodyPr/>
            <a:lstStyle/>
            <a:p>
              <a:endParaRPr lang="en-US"/>
            </a:p>
          </p:txBody>
        </p:sp>
        <p:sp>
          <p:nvSpPr>
            <p:cNvPr id="5" name="TextBox 5"/>
            <p:cNvSpPr txBox="1"/>
            <p:nvPr/>
          </p:nvSpPr>
          <p:spPr>
            <a:xfrm>
              <a:off x="0" y="-38100"/>
              <a:ext cx="926281" cy="1886191"/>
            </a:xfrm>
            <a:prstGeom prst="rect">
              <a:avLst/>
            </a:prstGeom>
          </p:spPr>
          <p:txBody>
            <a:bodyPr lIns="0" tIns="0" rIns="0" bIns="0" rtlCol="0" anchor="ctr"/>
            <a:lstStyle/>
            <a:p>
              <a:pPr algn="ctr">
                <a:lnSpc>
                  <a:spcPts val="3111"/>
                </a:lnSpc>
              </a:pPr>
              <a:endParaRPr/>
            </a:p>
          </p:txBody>
        </p:sp>
      </p:grpSp>
      <p:grpSp>
        <p:nvGrpSpPr>
          <p:cNvPr id="6" name="Group 6"/>
          <p:cNvGrpSpPr/>
          <p:nvPr/>
        </p:nvGrpSpPr>
        <p:grpSpPr>
          <a:xfrm>
            <a:off x="9151496" y="3850040"/>
            <a:ext cx="2958901" cy="5903519"/>
            <a:chOff x="0" y="0"/>
            <a:chExt cx="926281" cy="1848091"/>
          </a:xfrm>
        </p:grpSpPr>
        <p:sp>
          <p:nvSpPr>
            <p:cNvPr id="7" name="Freeform 7"/>
            <p:cNvSpPr/>
            <p:nvPr/>
          </p:nvSpPr>
          <p:spPr>
            <a:xfrm>
              <a:off x="0" y="0"/>
              <a:ext cx="926281" cy="1848091"/>
            </a:xfrm>
            <a:custGeom>
              <a:avLst/>
              <a:gdLst/>
              <a:ahLst/>
              <a:cxnLst/>
              <a:rect l="l" t="t" r="r" b="b"/>
              <a:pathLst>
                <a:path w="926281" h="1848091">
                  <a:moveTo>
                    <a:pt x="41864" y="0"/>
                  </a:moveTo>
                  <a:lnTo>
                    <a:pt x="884417" y="0"/>
                  </a:lnTo>
                  <a:cubicBezTo>
                    <a:pt x="895520" y="0"/>
                    <a:pt x="906168" y="4411"/>
                    <a:pt x="914019" y="12262"/>
                  </a:cubicBezTo>
                  <a:cubicBezTo>
                    <a:pt x="921870" y="20113"/>
                    <a:pt x="926281" y="30761"/>
                    <a:pt x="926281" y="41864"/>
                  </a:cubicBezTo>
                  <a:lnTo>
                    <a:pt x="926281" y="1806227"/>
                  </a:lnTo>
                  <a:cubicBezTo>
                    <a:pt x="926281" y="1817330"/>
                    <a:pt x="921870" y="1827979"/>
                    <a:pt x="914019" y="1835829"/>
                  </a:cubicBezTo>
                  <a:cubicBezTo>
                    <a:pt x="906168" y="1843680"/>
                    <a:pt x="895520" y="1848091"/>
                    <a:pt x="884417" y="1848091"/>
                  </a:cubicBezTo>
                  <a:lnTo>
                    <a:pt x="41864" y="1848091"/>
                  </a:lnTo>
                  <a:cubicBezTo>
                    <a:pt x="30761" y="1848091"/>
                    <a:pt x="20113" y="1843680"/>
                    <a:pt x="12262" y="1835829"/>
                  </a:cubicBezTo>
                  <a:cubicBezTo>
                    <a:pt x="4411" y="1827979"/>
                    <a:pt x="0" y="1817330"/>
                    <a:pt x="0" y="1806227"/>
                  </a:cubicBezTo>
                  <a:lnTo>
                    <a:pt x="0" y="41864"/>
                  </a:lnTo>
                  <a:cubicBezTo>
                    <a:pt x="0" y="30761"/>
                    <a:pt x="4411" y="20113"/>
                    <a:pt x="12262" y="12262"/>
                  </a:cubicBezTo>
                  <a:cubicBezTo>
                    <a:pt x="20113" y="4411"/>
                    <a:pt x="30761" y="0"/>
                    <a:pt x="41864" y="0"/>
                  </a:cubicBezTo>
                  <a:close/>
                </a:path>
              </a:pathLst>
            </a:custGeom>
            <a:solidFill>
              <a:srgbClr val="48699F"/>
            </a:solidFill>
          </p:spPr>
          <p:txBody>
            <a:bodyPr/>
            <a:lstStyle/>
            <a:p>
              <a:endParaRPr lang="en-US"/>
            </a:p>
          </p:txBody>
        </p:sp>
        <p:sp>
          <p:nvSpPr>
            <p:cNvPr id="8" name="TextBox 8"/>
            <p:cNvSpPr txBox="1"/>
            <p:nvPr/>
          </p:nvSpPr>
          <p:spPr>
            <a:xfrm>
              <a:off x="0" y="-38100"/>
              <a:ext cx="926281" cy="1886191"/>
            </a:xfrm>
            <a:prstGeom prst="rect">
              <a:avLst/>
            </a:prstGeom>
          </p:spPr>
          <p:txBody>
            <a:bodyPr lIns="0" tIns="0" rIns="0" bIns="0" rtlCol="0" anchor="ctr"/>
            <a:lstStyle/>
            <a:p>
              <a:pPr algn="ctr">
                <a:lnSpc>
                  <a:spcPts val="3111"/>
                </a:lnSpc>
              </a:pPr>
              <a:endParaRPr/>
            </a:p>
          </p:txBody>
        </p:sp>
      </p:grpSp>
      <p:grpSp>
        <p:nvGrpSpPr>
          <p:cNvPr id="9" name="Group 9"/>
          <p:cNvGrpSpPr/>
          <p:nvPr/>
        </p:nvGrpSpPr>
        <p:grpSpPr>
          <a:xfrm>
            <a:off x="5835061" y="3850040"/>
            <a:ext cx="2958901" cy="5903519"/>
            <a:chOff x="0" y="0"/>
            <a:chExt cx="926281" cy="1848091"/>
          </a:xfrm>
        </p:grpSpPr>
        <p:sp>
          <p:nvSpPr>
            <p:cNvPr id="10" name="Freeform 10"/>
            <p:cNvSpPr/>
            <p:nvPr/>
          </p:nvSpPr>
          <p:spPr>
            <a:xfrm>
              <a:off x="0" y="0"/>
              <a:ext cx="926281" cy="1848091"/>
            </a:xfrm>
            <a:custGeom>
              <a:avLst/>
              <a:gdLst/>
              <a:ahLst/>
              <a:cxnLst/>
              <a:rect l="l" t="t" r="r" b="b"/>
              <a:pathLst>
                <a:path w="926281" h="1848091">
                  <a:moveTo>
                    <a:pt x="41864" y="0"/>
                  </a:moveTo>
                  <a:lnTo>
                    <a:pt x="884417" y="0"/>
                  </a:lnTo>
                  <a:cubicBezTo>
                    <a:pt x="895520" y="0"/>
                    <a:pt x="906168" y="4411"/>
                    <a:pt x="914019" y="12262"/>
                  </a:cubicBezTo>
                  <a:cubicBezTo>
                    <a:pt x="921870" y="20113"/>
                    <a:pt x="926281" y="30761"/>
                    <a:pt x="926281" y="41864"/>
                  </a:cubicBezTo>
                  <a:lnTo>
                    <a:pt x="926281" y="1806227"/>
                  </a:lnTo>
                  <a:cubicBezTo>
                    <a:pt x="926281" y="1817330"/>
                    <a:pt x="921870" y="1827979"/>
                    <a:pt x="914019" y="1835829"/>
                  </a:cubicBezTo>
                  <a:cubicBezTo>
                    <a:pt x="906168" y="1843680"/>
                    <a:pt x="895520" y="1848091"/>
                    <a:pt x="884417" y="1848091"/>
                  </a:cubicBezTo>
                  <a:lnTo>
                    <a:pt x="41864" y="1848091"/>
                  </a:lnTo>
                  <a:cubicBezTo>
                    <a:pt x="30761" y="1848091"/>
                    <a:pt x="20113" y="1843680"/>
                    <a:pt x="12262" y="1835829"/>
                  </a:cubicBezTo>
                  <a:cubicBezTo>
                    <a:pt x="4411" y="1827979"/>
                    <a:pt x="0" y="1817330"/>
                    <a:pt x="0" y="1806227"/>
                  </a:cubicBezTo>
                  <a:lnTo>
                    <a:pt x="0" y="41864"/>
                  </a:lnTo>
                  <a:cubicBezTo>
                    <a:pt x="0" y="30761"/>
                    <a:pt x="4411" y="20113"/>
                    <a:pt x="12262" y="12262"/>
                  </a:cubicBezTo>
                  <a:cubicBezTo>
                    <a:pt x="20113" y="4411"/>
                    <a:pt x="30761" y="0"/>
                    <a:pt x="41864" y="0"/>
                  </a:cubicBezTo>
                  <a:close/>
                </a:path>
              </a:pathLst>
            </a:custGeom>
            <a:solidFill>
              <a:srgbClr val="48699F"/>
            </a:solidFill>
          </p:spPr>
          <p:txBody>
            <a:bodyPr/>
            <a:lstStyle/>
            <a:p>
              <a:endParaRPr lang="en-US"/>
            </a:p>
          </p:txBody>
        </p:sp>
        <p:sp>
          <p:nvSpPr>
            <p:cNvPr id="11" name="TextBox 11"/>
            <p:cNvSpPr txBox="1"/>
            <p:nvPr/>
          </p:nvSpPr>
          <p:spPr>
            <a:xfrm>
              <a:off x="0" y="-38100"/>
              <a:ext cx="926281" cy="1886191"/>
            </a:xfrm>
            <a:prstGeom prst="rect">
              <a:avLst/>
            </a:prstGeom>
          </p:spPr>
          <p:txBody>
            <a:bodyPr lIns="0" tIns="0" rIns="0" bIns="0" rtlCol="0" anchor="ctr"/>
            <a:lstStyle/>
            <a:p>
              <a:pPr algn="ctr">
                <a:lnSpc>
                  <a:spcPts val="3111"/>
                </a:lnSpc>
              </a:pPr>
              <a:endParaRPr/>
            </a:p>
          </p:txBody>
        </p:sp>
      </p:grpSp>
      <p:grpSp>
        <p:nvGrpSpPr>
          <p:cNvPr id="12" name="Group 12"/>
          <p:cNvGrpSpPr/>
          <p:nvPr/>
        </p:nvGrpSpPr>
        <p:grpSpPr>
          <a:xfrm>
            <a:off x="12470911" y="3850040"/>
            <a:ext cx="2958901" cy="5903519"/>
            <a:chOff x="0" y="0"/>
            <a:chExt cx="926281" cy="1848091"/>
          </a:xfrm>
        </p:grpSpPr>
        <p:sp>
          <p:nvSpPr>
            <p:cNvPr id="13" name="Freeform 13"/>
            <p:cNvSpPr/>
            <p:nvPr/>
          </p:nvSpPr>
          <p:spPr>
            <a:xfrm>
              <a:off x="0" y="0"/>
              <a:ext cx="926281" cy="1848091"/>
            </a:xfrm>
            <a:custGeom>
              <a:avLst/>
              <a:gdLst/>
              <a:ahLst/>
              <a:cxnLst/>
              <a:rect l="l" t="t" r="r" b="b"/>
              <a:pathLst>
                <a:path w="926281" h="1848091">
                  <a:moveTo>
                    <a:pt x="41864" y="0"/>
                  </a:moveTo>
                  <a:lnTo>
                    <a:pt x="884417" y="0"/>
                  </a:lnTo>
                  <a:cubicBezTo>
                    <a:pt x="895520" y="0"/>
                    <a:pt x="906168" y="4411"/>
                    <a:pt x="914019" y="12262"/>
                  </a:cubicBezTo>
                  <a:cubicBezTo>
                    <a:pt x="921870" y="20113"/>
                    <a:pt x="926281" y="30761"/>
                    <a:pt x="926281" y="41864"/>
                  </a:cubicBezTo>
                  <a:lnTo>
                    <a:pt x="926281" y="1806227"/>
                  </a:lnTo>
                  <a:cubicBezTo>
                    <a:pt x="926281" y="1817330"/>
                    <a:pt x="921870" y="1827979"/>
                    <a:pt x="914019" y="1835829"/>
                  </a:cubicBezTo>
                  <a:cubicBezTo>
                    <a:pt x="906168" y="1843680"/>
                    <a:pt x="895520" y="1848091"/>
                    <a:pt x="884417" y="1848091"/>
                  </a:cubicBezTo>
                  <a:lnTo>
                    <a:pt x="41864" y="1848091"/>
                  </a:lnTo>
                  <a:cubicBezTo>
                    <a:pt x="30761" y="1848091"/>
                    <a:pt x="20113" y="1843680"/>
                    <a:pt x="12262" y="1835829"/>
                  </a:cubicBezTo>
                  <a:cubicBezTo>
                    <a:pt x="4411" y="1827979"/>
                    <a:pt x="0" y="1817330"/>
                    <a:pt x="0" y="1806227"/>
                  </a:cubicBezTo>
                  <a:lnTo>
                    <a:pt x="0" y="41864"/>
                  </a:lnTo>
                  <a:cubicBezTo>
                    <a:pt x="0" y="30761"/>
                    <a:pt x="4411" y="20113"/>
                    <a:pt x="12262" y="12262"/>
                  </a:cubicBezTo>
                  <a:cubicBezTo>
                    <a:pt x="20113" y="4411"/>
                    <a:pt x="30761" y="0"/>
                    <a:pt x="41864" y="0"/>
                  </a:cubicBezTo>
                  <a:close/>
                </a:path>
              </a:pathLst>
            </a:custGeom>
            <a:solidFill>
              <a:srgbClr val="48699F"/>
            </a:solidFill>
          </p:spPr>
          <p:txBody>
            <a:bodyPr/>
            <a:lstStyle/>
            <a:p>
              <a:endParaRPr lang="en-US"/>
            </a:p>
          </p:txBody>
        </p:sp>
        <p:sp>
          <p:nvSpPr>
            <p:cNvPr id="14" name="TextBox 14"/>
            <p:cNvSpPr txBox="1"/>
            <p:nvPr/>
          </p:nvSpPr>
          <p:spPr>
            <a:xfrm>
              <a:off x="0" y="-38100"/>
              <a:ext cx="926281" cy="1886191"/>
            </a:xfrm>
            <a:prstGeom prst="rect">
              <a:avLst/>
            </a:prstGeom>
          </p:spPr>
          <p:txBody>
            <a:bodyPr lIns="0" tIns="0" rIns="0" bIns="0" rtlCol="0" anchor="ctr"/>
            <a:lstStyle/>
            <a:p>
              <a:pPr algn="ctr">
                <a:lnSpc>
                  <a:spcPts val="3111"/>
                </a:lnSpc>
              </a:pPr>
              <a:endParaRPr/>
            </a:p>
          </p:txBody>
        </p:sp>
      </p:grpSp>
      <p:sp>
        <p:nvSpPr>
          <p:cNvPr id="15" name="TextBox 15"/>
          <p:cNvSpPr txBox="1"/>
          <p:nvPr/>
        </p:nvSpPr>
        <p:spPr>
          <a:xfrm>
            <a:off x="2753852" y="5250180"/>
            <a:ext cx="2404934" cy="3329940"/>
          </a:xfrm>
          <a:prstGeom prst="rect">
            <a:avLst/>
          </a:prstGeom>
        </p:spPr>
        <p:txBody>
          <a:bodyPr lIns="0" tIns="0" rIns="0" bIns="0" rtlCol="0" anchor="t">
            <a:spAutoFit/>
          </a:bodyPr>
          <a:lstStyle/>
          <a:p>
            <a:pPr algn="l">
              <a:lnSpc>
                <a:spcPts val="3359"/>
              </a:lnSpc>
              <a:spcBef>
                <a:spcPct val="0"/>
              </a:spcBef>
            </a:pPr>
            <a:r>
              <a:rPr lang="en-US" sz="2400">
                <a:solidFill>
                  <a:srgbClr val="FFFFFF"/>
                </a:solidFill>
                <a:latin typeface="Nunito Sans"/>
                <a:ea typeface="Nunito Sans"/>
                <a:cs typeface="Nunito Sans"/>
                <a:sym typeface="Nunito Sans"/>
              </a:rPr>
              <a:t>RPCs are primarily used for commands or remote control actions that you want a device to execute. </a:t>
            </a:r>
          </a:p>
        </p:txBody>
      </p:sp>
      <p:sp>
        <p:nvSpPr>
          <p:cNvPr id="16" name="TextBox 16"/>
          <p:cNvSpPr txBox="1"/>
          <p:nvPr/>
        </p:nvSpPr>
        <p:spPr>
          <a:xfrm>
            <a:off x="9355937" y="5250180"/>
            <a:ext cx="2716360" cy="3749040"/>
          </a:xfrm>
          <a:prstGeom prst="rect">
            <a:avLst/>
          </a:prstGeom>
        </p:spPr>
        <p:txBody>
          <a:bodyPr lIns="0" tIns="0" rIns="0" bIns="0" rtlCol="0" anchor="t">
            <a:spAutoFit/>
          </a:bodyPr>
          <a:lstStyle/>
          <a:p>
            <a:pPr algn="l">
              <a:lnSpc>
                <a:spcPts val="3359"/>
              </a:lnSpc>
            </a:pPr>
            <a:r>
              <a:rPr lang="en-US" sz="2400">
                <a:solidFill>
                  <a:srgbClr val="FFFFFF"/>
                </a:solidFill>
                <a:latin typeface="Nunito Sans"/>
                <a:ea typeface="Nunito Sans"/>
                <a:cs typeface="Nunito Sans"/>
                <a:sym typeface="Nunito Sans"/>
              </a:rPr>
              <a:t>RPC is used in scenarios where real-time control and management are needed, such as managing fleets of devices, </a:t>
            </a:r>
          </a:p>
          <a:p>
            <a:pPr algn="l">
              <a:lnSpc>
                <a:spcPts val="3359"/>
              </a:lnSpc>
            </a:pPr>
            <a:r>
              <a:rPr lang="en-US" sz="2400">
                <a:solidFill>
                  <a:srgbClr val="FFFFFF"/>
                </a:solidFill>
                <a:latin typeface="Nunito Sans"/>
                <a:ea typeface="Nunito Sans"/>
                <a:cs typeface="Nunito Sans"/>
                <a:sym typeface="Nunito Sans"/>
              </a:rPr>
              <a:t>or quering the device state</a:t>
            </a:r>
          </a:p>
        </p:txBody>
      </p:sp>
      <p:sp>
        <p:nvSpPr>
          <p:cNvPr id="17" name="TextBox 17"/>
          <p:cNvSpPr txBox="1"/>
          <p:nvPr/>
        </p:nvSpPr>
        <p:spPr>
          <a:xfrm>
            <a:off x="12747894" y="5259705"/>
            <a:ext cx="2436096" cy="6569901"/>
          </a:xfrm>
          <a:prstGeom prst="rect">
            <a:avLst/>
          </a:prstGeom>
        </p:spPr>
        <p:txBody>
          <a:bodyPr lIns="0" tIns="0" rIns="0" bIns="0" rtlCol="0" anchor="t">
            <a:spAutoFit/>
          </a:bodyPr>
          <a:lstStyle/>
          <a:p>
            <a:pPr algn="l">
              <a:lnSpc>
                <a:spcPts val="2781"/>
              </a:lnSpc>
            </a:pPr>
            <a:r>
              <a:rPr lang="en-US" sz="1986">
                <a:solidFill>
                  <a:srgbClr val="FFFFFF"/>
                </a:solidFill>
                <a:latin typeface="Nunito Sans"/>
                <a:ea typeface="Nunito Sans"/>
                <a:cs typeface="Nunito Sans"/>
                <a:sym typeface="Nunito Sans"/>
              </a:rPr>
              <a:t>On the client side (device), a handler or listener for RPC requests needs to be implemented to process incoming commands and execute the appropriate actions.</a:t>
            </a:r>
          </a:p>
          <a:p>
            <a:pPr algn="l">
              <a:lnSpc>
                <a:spcPts val="2781"/>
              </a:lnSpc>
            </a:pPr>
            <a:r>
              <a:rPr lang="en-US" sz="1986">
                <a:solidFill>
                  <a:srgbClr val="FFFFFF"/>
                </a:solidFill>
                <a:latin typeface="Nunito Sans"/>
                <a:ea typeface="Nunito Sans"/>
                <a:cs typeface="Nunito Sans"/>
                <a:sym typeface="Nunito Sans"/>
              </a:rPr>
              <a:t>On the server side (ThingsBoard platform), RPC requests can be configured and triggered using dashboards and server-side scripts or APIs.</a:t>
            </a:r>
          </a:p>
          <a:p>
            <a:pPr algn="l">
              <a:lnSpc>
                <a:spcPts val="2781"/>
              </a:lnSpc>
            </a:pPr>
            <a:endParaRPr lang="en-US" sz="1986">
              <a:solidFill>
                <a:srgbClr val="FFFFFF"/>
              </a:solidFill>
              <a:latin typeface="Nunito Sans"/>
              <a:ea typeface="Nunito Sans"/>
              <a:cs typeface="Nunito Sans"/>
              <a:sym typeface="Nunito Sans"/>
            </a:endParaRPr>
          </a:p>
        </p:txBody>
      </p:sp>
      <p:sp>
        <p:nvSpPr>
          <p:cNvPr id="18" name="TextBox 18"/>
          <p:cNvSpPr txBox="1"/>
          <p:nvPr/>
        </p:nvSpPr>
        <p:spPr>
          <a:xfrm>
            <a:off x="2792629" y="4044898"/>
            <a:ext cx="2436096" cy="563880"/>
          </a:xfrm>
          <a:prstGeom prst="rect">
            <a:avLst/>
          </a:prstGeom>
        </p:spPr>
        <p:txBody>
          <a:bodyPr lIns="0" tIns="0" rIns="0" bIns="0" rtlCol="0" anchor="t">
            <a:spAutoFit/>
          </a:bodyPr>
          <a:lstStyle/>
          <a:p>
            <a:pPr algn="ctr">
              <a:lnSpc>
                <a:spcPts val="4619"/>
              </a:lnSpc>
            </a:pPr>
            <a:r>
              <a:rPr lang="en-US" sz="3299" b="1">
                <a:solidFill>
                  <a:srgbClr val="FFFFFF"/>
                </a:solidFill>
                <a:latin typeface="Nunito Sans Bold"/>
                <a:ea typeface="Nunito Sans Bold"/>
                <a:cs typeface="Nunito Sans Bold"/>
                <a:sym typeface="Nunito Sans Bold"/>
              </a:rPr>
              <a:t>Purpose</a:t>
            </a:r>
          </a:p>
        </p:txBody>
      </p:sp>
      <p:sp>
        <p:nvSpPr>
          <p:cNvPr id="19" name="TextBox 19"/>
          <p:cNvSpPr txBox="1"/>
          <p:nvPr/>
        </p:nvSpPr>
        <p:spPr>
          <a:xfrm>
            <a:off x="6112044" y="4044898"/>
            <a:ext cx="2436096" cy="563880"/>
          </a:xfrm>
          <a:prstGeom prst="rect">
            <a:avLst/>
          </a:prstGeom>
        </p:spPr>
        <p:txBody>
          <a:bodyPr lIns="0" tIns="0" rIns="0" bIns="0" rtlCol="0" anchor="t">
            <a:spAutoFit/>
          </a:bodyPr>
          <a:lstStyle/>
          <a:p>
            <a:pPr algn="ctr">
              <a:lnSpc>
                <a:spcPts val="4619"/>
              </a:lnSpc>
            </a:pPr>
            <a:r>
              <a:rPr lang="en-US" sz="3299" b="1">
                <a:solidFill>
                  <a:srgbClr val="FFFFFF"/>
                </a:solidFill>
                <a:latin typeface="Nunito Sans Bold"/>
                <a:ea typeface="Nunito Sans Bold"/>
                <a:cs typeface="Nunito Sans Bold"/>
                <a:sym typeface="Nunito Sans Bold"/>
              </a:rPr>
              <a:t>Functional</a:t>
            </a:r>
          </a:p>
        </p:txBody>
      </p:sp>
      <p:sp>
        <p:nvSpPr>
          <p:cNvPr id="20" name="TextBox 20"/>
          <p:cNvSpPr txBox="1"/>
          <p:nvPr/>
        </p:nvSpPr>
        <p:spPr>
          <a:xfrm>
            <a:off x="9396640" y="4044898"/>
            <a:ext cx="2436096" cy="563880"/>
          </a:xfrm>
          <a:prstGeom prst="rect">
            <a:avLst/>
          </a:prstGeom>
        </p:spPr>
        <p:txBody>
          <a:bodyPr lIns="0" tIns="0" rIns="0" bIns="0" rtlCol="0" anchor="t">
            <a:spAutoFit/>
          </a:bodyPr>
          <a:lstStyle/>
          <a:p>
            <a:pPr algn="ctr">
              <a:lnSpc>
                <a:spcPts val="4619"/>
              </a:lnSpc>
            </a:pPr>
            <a:r>
              <a:rPr lang="en-US" sz="3299" b="1">
                <a:solidFill>
                  <a:srgbClr val="FFFFFF"/>
                </a:solidFill>
                <a:latin typeface="Nunito Sans Bold"/>
                <a:ea typeface="Nunito Sans Bold"/>
                <a:cs typeface="Nunito Sans Bold"/>
                <a:sym typeface="Nunito Sans Bold"/>
              </a:rPr>
              <a:t>Use Cases</a:t>
            </a:r>
          </a:p>
        </p:txBody>
      </p:sp>
      <p:sp>
        <p:nvSpPr>
          <p:cNvPr id="21" name="TextBox 21"/>
          <p:cNvSpPr txBox="1"/>
          <p:nvPr/>
        </p:nvSpPr>
        <p:spPr>
          <a:xfrm>
            <a:off x="12747894" y="4044898"/>
            <a:ext cx="2436096" cy="1725930"/>
          </a:xfrm>
          <a:prstGeom prst="rect">
            <a:avLst/>
          </a:prstGeom>
        </p:spPr>
        <p:txBody>
          <a:bodyPr lIns="0" tIns="0" rIns="0" bIns="0" rtlCol="0" anchor="t">
            <a:spAutoFit/>
          </a:bodyPr>
          <a:lstStyle/>
          <a:p>
            <a:pPr algn="ctr">
              <a:lnSpc>
                <a:spcPts val="4619"/>
              </a:lnSpc>
            </a:pPr>
            <a:r>
              <a:rPr lang="en-US" sz="3299" b="1">
                <a:solidFill>
                  <a:srgbClr val="FFFFFF"/>
                </a:solidFill>
                <a:latin typeface="Nunito Sans Bold"/>
                <a:ea typeface="Nunito Sans Bold"/>
                <a:cs typeface="Nunito Sans Bold"/>
                <a:sym typeface="Nunito Sans Bold"/>
              </a:rPr>
              <a:t>Implementation</a:t>
            </a:r>
          </a:p>
          <a:p>
            <a:pPr algn="ctr">
              <a:lnSpc>
                <a:spcPts val="4619"/>
              </a:lnSpc>
            </a:pPr>
            <a:endParaRPr lang="en-US" sz="3299" b="1">
              <a:solidFill>
                <a:srgbClr val="FFFFFF"/>
              </a:solidFill>
              <a:latin typeface="Nunito Sans Bold"/>
              <a:ea typeface="Nunito Sans Bold"/>
              <a:cs typeface="Nunito Sans Bold"/>
              <a:sym typeface="Nunito Sans Bold"/>
            </a:endParaRPr>
          </a:p>
        </p:txBody>
      </p:sp>
      <p:sp>
        <p:nvSpPr>
          <p:cNvPr id="22" name="TextBox 22"/>
          <p:cNvSpPr txBox="1"/>
          <p:nvPr/>
        </p:nvSpPr>
        <p:spPr>
          <a:xfrm>
            <a:off x="1028700" y="2264497"/>
            <a:ext cx="16230600" cy="1981200"/>
          </a:xfrm>
          <a:prstGeom prst="rect">
            <a:avLst/>
          </a:prstGeom>
        </p:spPr>
        <p:txBody>
          <a:bodyPr lIns="0" tIns="0" rIns="0" bIns="0" rtlCol="0" anchor="t">
            <a:spAutoFit/>
          </a:bodyPr>
          <a:lstStyle/>
          <a:p>
            <a:pPr algn="l">
              <a:lnSpc>
                <a:spcPts val="3960"/>
              </a:lnSpc>
            </a:pPr>
            <a:r>
              <a:rPr lang="en-US" sz="3300">
                <a:solidFill>
                  <a:srgbClr val="000000"/>
                </a:solidFill>
                <a:latin typeface="Nunito"/>
                <a:ea typeface="Nunito"/>
                <a:cs typeface="Nunito"/>
                <a:sym typeface="Nunito"/>
              </a:rPr>
              <a:t>RPC stands for Remote Procedure Call. RPC is a protocol that one program can use to request a service or procedure to be executed on another program, typically on a remote machine or device, as if it were a local procedure call.</a:t>
            </a:r>
          </a:p>
          <a:p>
            <a:pPr algn="l">
              <a:lnSpc>
                <a:spcPts val="3960"/>
              </a:lnSpc>
              <a:spcBef>
                <a:spcPct val="0"/>
              </a:spcBef>
            </a:pPr>
            <a:endParaRPr lang="en-US" sz="3300">
              <a:solidFill>
                <a:srgbClr val="000000"/>
              </a:solidFill>
              <a:latin typeface="Nunito"/>
              <a:ea typeface="Nunito"/>
              <a:cs typeface="Nunito"/>
              <a:sym typeface="Nunito"/>
            </a:endParaRPr>
          </a:p>
        </p:txBody>
      </p:sp>
      <p:sp>
        <p:nvSpPr>
          <p:cNvPr id="23" name="TextBox 23"/>
          <p:cNvSpPr txBox="1"/>
          <p:nvPr/>
        </p:nvSpPr>
        <p:spPr>
          <a:xfrm>
            <a:off x="6039314" y="5250180"/>
            <a:ext cx="2550396" cy="4587240"/>
          </a:xfrm>
          <a:prstGeom prst="rect">
            <a:avLst/>
          </a:prstGeom>
        </p:spPr>
        <p:txBody>
          <a:bodyPr lIns="0" tIns="0" rIns="0" bIns="0" rtlCol="0" anchor="t">
            <a:spAutoFit/>
          </a:bodyPr>
          <a:lstStyle/>
          <a:p>
            <a:pPr algn="l">
              <a:lnSpc>
                <a:spcPts val="3359"/>
              </a:lnSpc>
            </a:pPr>
            <a:r>
              <a:rPr lang="en-US" sz="2400">
                <a:solidFill>
                  <a:srgbClr val="FFFFFF"/>
                </a:solidFill>
                <a:latin typeface="Nunito Sans"/>
                <a:ea typeface="Nunito Sans"/>
                <a:cs typeface="Nunito Sans"/>
                <a:sym typeface="Nunito Sans"/>
              </a:rPr>
              <a:t>With RPC, you can send commands from the platform down to the device. For instance, trigger an action like turning a light on or off.</a:t>
            </a:r>
          </a:p>
          <a:p>
            <a:pPr algn="l">
              <a:lnSpc>
                <a:spcPts val="3359"/>
              </a:lnSpc>
            </a:pPr>
            <a:endParaRPr lang="en-US" sz="2400">
              <a:solidFill>
                <a:srgbClr val="FFFFFF"/>
              </a:solidFill>
              <a:latin typeface="Nunito Sans"/>
              <a:ea typeface="Nunito Sans"/>
              <a:cs typeface="Nunito Sans"/>
              <a:sym typeface="Nuni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947070"/>
            <a:ext cx="3602949" cy="4996543"/>
          </a:xfrm>
          <a:custGeom>
            <a:avLst/>
            <a:gdLst/>
            <a:ahLst/>
            <a:cxnLst/>
            <a:rect l="l" t="t" r="r" b="b"/>
            <a:pathLst>
              <a:path w="3602949" h="4996543">
                <a:moveTo>
                  <a:pt x="0" y="0"/>
                </a:moveTo>
                <a:lnTo>
                  <a:pt x="3602949" y="0"/>
                </a:lnTo>
                <a:lnTo>
                  <a:pt x="3602949" y="4996544"/>
                </a:lnTo>
                <a:lnTo>
                  <a:pt x="0" y="4996544"/>
                </a:lnTo>
                <a:lnTo>
                  <a:pt x="0" y="0"/>
                </a:lnTo>
                <a:close/>
              </a:path>
            </a:pathLst>
          </a:custGeom>
          <a:blipFill>
            <a:blip r:embed="rId2"/>
            <a:stretch>
              <a:fillRect/>
            </a:stretch>
          </a:blipFill>
          <a:ln w="19050" cap="sq">
            <a:solidFill>
              <a:srgbClr val="000000"/>
            </a:solidFill>
            <a:prstDash val="solid"/>
            <a:miter/>
          </a:ln>
        </p:spPr>
        <p:txBody>
          <a:bodyPr/>
          <a:lstStyle/>
          <a:p>
            <a:endParaRPr lang="en-US"/>
          </a:p>
        </p:txBody>
      </p:sp>
      <p:sp>
        <p:nvSpPr>
          <p:cNvPr id="3" name="Freeform 3"/>
          <p:cNvSpPr/>
          <p:nvPr/>
        </p:nvSpPr>
        <p:spPr>
          <a:xfrm>
            <a:off x="6031091" y="2947070"/>
            <a:ext cx="5059646" cy="4996543"/>
          </a:xfrm>
          <a:custGeom>
            <a:avLst/>
            <a:gdLst/>
            <a:ahLst/>
            <a:cxnLst/>
            <a:rect l="l" t="t" r="r" b="b"/>
            <a:pathLst>
              <a:path w="5059646" h="4996543">
                <a:moveTo>
                  <a:pt x="0" y="0"/>
                </a:moveTo>
                <a:lnTo>
                  <a:pt x="5059646" y="0"/>
                </a:lnTo>
                <a:lnTo>
                  <a:pt x="5059646" y="4996544"/>
                </a:lnTo>
                <a:lnTo>
                  <a:pt x="0" y="4996544"/>
                </a:lnTo>
                <a:lnTo>
                  <a:pt x="0" y="0"/>
                </a:lnTo>
                <a:close/>
              </a:path>
            </a:pathLst>
          </a:custGeom>
          <a:blipFill>
            <a:blip r:embed="rId3"/>
            <a:stretch>
              <a:fillRect l="-154554"/>
            </a:stretch>
          </a:blipFill>
          <a:ln w="19050" cap="sq">
            <a:solidFill>
              <a:srgbClr val="000000"/>
            </a:solidFill>
            <a:prstDash val="solid"/>
            <a:miter/>
          </a:ln>
        </p:spPr>
        <p:txBody>
          <a:bodyPr/>
          <a:lstStyle/>
          <a:p>
            <a:endParaRPr lang="en-US"/>
          </a:p>
        </p:txBody>
      </p:sp>
      <p:sp>
        <p:nvSpPr>
          <p:cNvPr id="4" name="TextBox 4"/>
          <p:cNvSpPr txBox="1"/>
          <p:nvPr/>
        </p:nvSpPr>
        <p:spPr>
          <a:xfrm>
            <a:off x="1028700" y="675647"/>
            <a:ext cx="16438134" cy="1315559"/>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p:txBody>
      </p:sp>
      <p:sp>
        <p:nvSpPr>
          <p:cNvPr id="5" name="TextBox 5"/>
          <p:cNvSpPr txBox="1"/>
          <p:nvPr/>
        </p:nvSpPr>
        <p:spPr>
          <a:xfrm>
            <a:off x="1028700" y="8620386"/>
            <a:ext cx="3188109" cy="990600"/>
          </a:xfrm>
          <a:prstGeom prst="rect">
            <a:avLst/>
          </a:prstGeom>
        </p:spPr>
        <p:txBody>
          <a:bodyPr lIns="0" tIns="0" rIns="0" bIns="0" rtlCol="0" anchor="t">
            <a:spAutoFit/>
          </a:bodyPr>
          <a:lstStyle/>
          <a:p>
            <a:pPr marL="0" lvl="0" indent="0" algn="ctr">
              <a:lnSpc>
                <a:spcPts val="3959"/>
              </a:lnSpc>
              <a:spcBef>
                <a:spcPct val="0"/>
              </a:spcBef>
            </a:pPr>
            <a:r>
              <a:rPr lang="en-US" sz="3299" b="1">
                <a:solidFill>
                  <a:srgbClr val="000000"/>
                </a:solidFill>
                <a:latin typeface="Nunito Semi-Bold"/>
                <a:ea typeface="Nunito Semi-Bold"/>
                <a:cs typeface="Nunito Semi-Bold"/>
                <a:sym typeface="Nunito Semi-Bold"/>
              </a:rPr>
              <a:t>Select Dashboard</a:t>
            </a:r>
          </a:p>
        </p:txBody>
      </p:sp>
      <p:sp>
        <p:nvSpPr>
          <p:cNvPr id="6" name="TextBox 6"/>
          <p:cNvSpPr txBox="1"/>
          <p:nvPr/>
        </p:nvSpPr>
        <p:spPr>
          <a:xfrm>
            <a:off x="6511341" y="8543497"/>
            <a:ext cx="4099147" cy="495300"/>
          </a:xfrm>
          <a:prstGeom prst="rect">
            <a:avLst/>
          </a:prstGeom>
        </p:spPr>
        <p:txBody>
          <a:bodyPr lIns="0" tIns="0" rIns="0" bIns="0" rtlCol="0" anchor="t">
            <a:spAutoFit/>
          </a:bodyPr>
          <a:lstStyle/>
          <a:p>
            <a:pPr marL="0" lvl="0" indent="0" algn="ctr">
              <a:lnSpc>
                <a:spcPts val="3959"/>
              </a:lnSpc>
              <a:spcBef>
                <a:spcPct val="0"/>
              </a:spcBef>
            </a:pPr>
            <a:r>
              <a:rPr lang="en-US" sz="3299" b="1">
                <a:solidFill>
                  <a:srgbClr val="000000"/>
                </a:solidFill>
                <a:latin typeface="Nunito Semi-Bold"/>
                <a:ea typeface="Nunito Semi-Bold"/>
                <a:cs typeface="Nunito Semi-Bold"/>
                <a:sym typeface="Nunito Semi-Bold"/>
              </a:rPr>
              <a:t>Select Add Icon</a:t>
            </a:r>
          </a:p>
        </p:txBody>
      </p:sp>
      <p:sp>
        <p:nvSpPr>
          <p:cNvPr id="7" name="TextBox 7"/>
          <p:cNvSpPr txBox="1"/>
          <p:nvPr/>
        </p:nvSpPr>
        <p:spPr>
          <a:xfrm>
            <a:off x="13487875" y="8620386"/>
            <a:ext cx="3188109" cy="495300"/>
          </a:xfrm>
          <a:prstGeom prst="rect">
            <a:avLst/>
          </a:prstGeom>
        </p:spPr>
        <p:txBody>
          <a:bodyPr lIns="0" tIns="0" rIns="0" bIns="0" rtlCol="0" anchor="t">
            <a:spAutoFit/>
          </a:bodyPr>
          <a:lstStyle/>
          <a:p>
            <a:pPr marL="0" lvl="0" indent="0" algn="ctr">
              <a:lnSpc>
                <a:spcPts val="3959"/>
              </a:lnSpc>
              <a:spcBef>
                <a:spcPct val="0"/>
              </a:spcBef>
            </a:pPr>
            <a:r>
              <a:rPr lang="en-US" sz="3299" b="1" u="none" strike="noStrike">
                <a:solidFill>
                  <a:srgbClr val="000000"/>
                </a:solidFill>
                <a:latin typeface="Nunito Semi-Bold"/>
                <a:ea typeface="Nunito Semi-Bold"/>
                <a:cs typeface="Nunito Semi-Bold"/>
                <a:sym typeface="Nunito Semi-Bold"/>
              </a:rPr>
              <a:t> Add dashboard</a:t>
            </a:r>
          </a:p>
        </p:txBody>
      </p:sp>
      <p:sp>
        <p:nvSpPr>
          <p:cNvPr id="8" name="Freeform 8"/>
          <p:cNvSpPr/>
          <p:nvPr/>
        </p:nvSpPr>
        <p:spPr>
          <a:xfrm>
            <a:off x="12115784" y="2947070"/>
            <a:ext cx="5351050" cy="4996543"/>
          </a:xfrm>
          <a:custGeom>
            <a:avLst/>
            <a:gdLst/>
            <a:ahLst/>
            <a:cxnLst/>
            <a:rect l="l" t="t" r="r" b="b"/>
            <a:pathLst>
              <a:path w="5351050" h="4996543">
                <a:moveTo>
                  <a:pt x="0" y="0"/>
                </a:moveTo>
                <a:lnTo>
                  <a:pt x="5351050" y="0"/>
                </a:lnTo>
                <a:lnTo>
                  <a:pt x="5351050" y="4996544"/>
                </a:lnTo>
                <a:lnTo>
                  <a:pt x="0" y="4996544"/>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1197367" y="1943582"/>
            <a:ext cx="5522119" cy="349250"/>
          </a:xfrm>
          <a:prstGeom prst="rect">
            <a:avLst/>
          </a:prstGeom>
        </p:spPr>
        <p:txBody>
          <a:bodyPr lIns="0" tIns="0" rIns="0" bIns="0" rtlCol="0" anchor="t">
            <a:spAutoFit/>
          </a:bodyPr>
          <a:lstStyle/>
          <a:p>
            <a:pPr algn="l">
              <a:lnSpc>
                <a:spcPts val="2800"/>
              </a:lnSpc>
            </a:pPr>
            <a:r>
              <a:rPr lang="en-US" sz="2000" u="sng">
                <a:solidFill>
                  <a:srgbClr val="000000"/>
                </a:solidFill>
                <a:latin typeface="Arimo"/>
                <a:ea typeface="Arimo"/>
                <a:cs typeface="Arimo"/>
                <a:sym typeface="Arimo"/>
                <a:hlinkClick r:id="rId5" tooltip="https://www.youtube.com/watch?v=bigeRVU2iSE"/>
              </a:rPr>
              <a:t>https://www.youtube.com/watch?v=bigeRVU2iSE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3782904"/>
            <a:ext cx="6999877" cy="1878834"/>
          </a:xfrm>
          <a:custGeom>
            <a:avLst/>
            <a:gdLst/>
            <a:ahLst/>
            <a:cxnLst/>
            <a:rect l="l" t="t" r="r" b="b"/>
            <a:pathLst>
              <a:path w="6999877" h="1878834">
                <a:moveTo>
                  <a:pt x="0" y="0"/>
                </a:moveTo>
                <a:lnTo>
                  <a:pt x="6999877" y="0"/>
                </a:lnTo>
                <a:lnTo>
                  <a:pt x="6999877" y="1878835"/>
                </a:lnTo>
                <a:lnTo>
                  <a:pt x="0" y="1878835"/>
                </a:lnTo>
                <a:lnTo>
                  <a:pt x="0" y="0"/>
                </a:lnTo>
                <a:close/>
              </a:path>
            </a:pathLst>
          </a:custGeom>
          <a:blipFill>
            <a:blip r:embed="rId2"/>
            <a:stretch>
              <a:fillRect r="-61449"/>
            </a:stretch>
          </a:blipFill>
        </p:spPr>
        <p:txBody>
          <a:bodyPr/>
          <a:lstStyle/>
          <a:p>
            <a:endParaRPr lang="en-US"/>
          </a:p>
        </p:txBody>
      </p:sp>
      <p:sp>
        <p:nvSpPr>
          <p:cNvPr id="3" name="Freeform 3"/>
          <p:cNvSpPr/>
          <p:nvPr/>
        </p:nvSpPr>
        <p:spPr>
          <a:xfrm>
            <a:off x="8718853" y="2379986"/>
            <a:ext cx="8540447" cy="5860882"/>
          </a:xfrm>
          <a:custGeom>
            <a:avLst/>
            <a:gdLst/>
            <a:ahLst/>
            <a:cxnLst/>
            <a:rect l="l" t="t" r="r" b="b"/>
            <a:pathLst>
              <a:path w="8540447" h="5860882">
                <a:moveTo>
                  <a:pt x="0" y="0"/>
                </a:moveTo>
                <a:lnTo>
                  <a:pt x="8540447" y="0"/>
                </a:lnTo>
                <a:lnTo>
                  <a:pt x="8540447" y="5860881"/>
                </a:lnTo>
                <a:lnTo>
                  <a:pt x="0" y="5860881"/>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
        <p:nvSpPr>
          <p:cNvPr id="5" name="TextBox 5"/>
          <p:cNvSpPr txBox="1"/>
          <p:nvPr/>
        </p:nvSpPr>
        <p:spPr>
          <a:xfrm>
            <a:off x="2661152" y="6236488"/>
            <a:ext cx="3188109" cy="495300"/>
          </a:xfrm>
          <a:prstGeom prst="rect">
            <a:avLst/>
          </a:prstGeom>
        </p:spPr>
        <p:txBody>
          <a:bodyPr lIns="0" tIns="0" rIns="0" bIns="0" rtlCol="0" anchor="t">
            <a:spAutoFit/>
          </a:bodyPr>
          <a:lstStyle/>
          <a:p>
            <a:pPr marL="0" lvl="0" indent="0" algn="ctr">
              <a:lnSpc>
                <a:spcPts val="3959"/>
              </a:lnSpc>
              <a:spcBef>
                <a:spcPct val="0"/>
              </a:spcBef>
            </a:pPr>
            <a:r>
              <a:rPr lang="en-US" sz="3299" b="1">
                <a:solidFill>
                  <a:srgbClr val="000000"/>
                </a:solidFill>
                <a:latin typeface="Nunito Semi-Bold"/>
                <a:ea typeface="Nunito Semi-Bold"/>
                <a:cs typeface="Nunito Semi-Bold"/>
                <a:sym typeface="Nunito Semi-Bold"/>
              </a:rPr>
              <a:t>Add widget</a:t>
            </a:r>
          </a:p>
        </p:txBody>
      </p:sp>
      <p:sp>
        <p:nvSpPr>
          <p:cNvPr id="6" name="TextBox 6"/>
          <p:cNvSpPr txBox="1"/>
          <p:nvPr/>
        </p:nvSpPr>
        <p:spPr>
          <a:xfrm>
            <a:off x="11395022" y="8641922"/>
            <a:ext cx="3188109" cy="990600"/>
          </a:xfrm>
          <a:prstGeom prst="rect">
            <a:avLst/>
          </a:prstGeom>
        </p:spPr>
        <p:txBody>
          <a:bodyPr lIns="0" tIns="0" rIns="0" bIns="0" rtlCol="0" anchor="t">
            <a:spAutoFit/>
          </a:bodyPr>
          <a:lstStyle/>
          <a:p>
            <a:pPr marL="0" lvl="0" indent="0" algn="ctr">
              <a:lnSpc>
                <a:spcPts val="3959"/>
              </a:lnSpc>
              <a:spcBef>
                <a:spcPct val="0"/>
              </a:spcBef>
            </a:pPr>
            <a:r>
              <a:rPr lang="en-US" sz="3299" b="1">
                <a:solidFill>
                  <a:srgbClr val="000000"/>
                </a:solidFill>
                <a:latin typeface="Nunito Semi-Bold"/>
                <a:ea typeface="Nunito Semi-Bold"/>
                <a:cs typeface="Nunito Semi-Bold"/>
                <a:sym typeface="Nunito Semi-Bold"/>
              </a:rPr>
              <a:t>Select widget from Lib</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715288" y="2863814"/>
            <a:ext cx="7544012" cy="4507547"/>
          </a:xfrm>
          <a:custGeom>
            <a:avLst/>
            <a:gdLst/>
            <a:ahLst/>
            <a:cxnLst/>
            <a:rect l="l" t="t" r="r" b="b"/>
            <a:pathLst>
              <a:path w="7544012" h="4507547">
                <a:moveTo>
                  <a:pt x="0" y="0"/>
                </a:moveTo>
                <a:lnTo>
                  <a:pt x="7544012" y="0"/>
                </a:lnTo>
                <a:lnTo>
                  <a:pt x="7544012" y="4507547"/>
                </a:lnTo>
                <a:lnTo>
                  <a:pt x="0" y="4507547"/>
                </a:lnTo>
                <a:lnTo>
                  <a:pt x="0" y="0"/>
                </a:lnTo>
                <a:close/>
              </a:path>
            </a:pathLst>
          </a:custGeom>
          <a:blipFill>
            <a:blip r:embed="rId2"/>
            <a:stretch>
              <a:fillRect/>
            </a:stretch>
          </a:blipFill>
        </p:spPr>
        <p:txBody>
          <a:bodyPr/>
          <a:lstStyle/>
          <a:p>
            <a:endParaRPr lang="en-US"/>
          </a:p>
        </p:txBody>
      </p:sp>
      <p:sp>
        <p:nvSpPr>
          <p:cNvPr id="3" name="Freeform 3"/>
          <p:cNvSpPr/>
          <p:nvPr/>
        </p:nvSpPr>
        <p:spPr>
          <a:xfrm>
            <a:off x="847538" y="2863814"/>
            <a:ext cx="7907978" cy="4507547"/>
          </a:xfrm>
          <a:custGeom>
            <a:avLst/>
            <a:gdLst/>
            <a:ahLst/>
            <a:cxnLst/>
            <a:rect l="l" t="t" r="r" b="b"/>
            <a:pathLst>
              <a:path w="7907978" h="4507547">
                <a:moveTo>
                  <a:pt x="0" y="0"/>
                </a:moveTo>
                <a:lnTo>
                  <a:pt x="7907977" y="0"/>
                </a:lnTo>
                <a:lnTo>
                  <a:pt x="7907977" y="4507547"/>
                </a:lnTo>
                <a:lnTo>
                  <a:pt x="0" y="450754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675647"/>
            <a:ext cx="17579385" cy="1315559"/>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DASHBORD FOR TEMP AND HUMI</a:t>
            </a:r>
          </a:p>
        </p:txBody>
      </p:sp>
      <p:sp>
        <p:nvSpPr>
          <p:cNvPr id="5" name="TextBox 5"/>
          <p:cNvSpPr txBox="1"/>
          <p:nvPr/>
        </p:nvSpPr>
        <p:spPr>
          <a:xfrm>
            <a:off x="11893240" y="7812740"/>
            <a:ext cx="3188109" cy="990600"/>
          </a:xfrm>
          <a:prstGeom prst="rect">
            <a:avLst/>
          </a:prstGeom>
        </p:spPr>
        <p:txBody>
          <a:bodyPr lIns="0" tIns="0" rIns="0" bIns="0" rtlCol="0" anchor="t">
            <a:spAutoFit/>
          </a:bodyPr>
          <a:lstStyle/>
          <a:p>
            <a:pPr marL="0" lvl="0" indent="0" algn="ctr">
              <a:lnSpc>
                <a:spcPts val="3959"/>
              </a:lnSpc>
              <a:spcBef>
                <a:spcPct val="0"/>
              </a:spcBef>
            </a:pPr>
            <a:r>
              <a:rPr lang="en-US" sz="3299" b="1">
                <a:solidFill>
                  <a:srgbClr val="000000"/>
                </a:solidFill>
                <a:latin typeface="Nunito Semi-Bold"/>
                <a:ea typeface="Nunito Semi-Bold"/>
                <a:cs typeface="Nunito Semi-Bold"/>
                <a:sym typeface="Nunito Semi-Bold"/>
              </a:rPr>
              <a:t>Widget “Value card”</a:t>
            </a:r>
          </a:p>
        </p:txBody>
      </p:sp>
      <p:sp>
        <p:nvSpPr>
          <p:cNvPr id="6" name="TextBox 6"/>
          <p:cNvSpPr txBox="1"/>
          <p:nvPr/>
        </p:nvSpPr>
        <p:spPr>
          <a:xfrm>
            <a:off x="3207472" y="7812740"/>
            <a:ext cx="3188109" cy="495300"/>
          </a:xfrm>
          <a:prstGeom prst="rect">
            <a:avLst/>
          </a:prstGeom>
        </p:spPr>
        <p:txBody>
          <a:bodyPr lIns="0" tIns="0" rIns="0" bIns="0" rtlCol="0" anchor="t">
            <a:spAutoFit/>
          </a:bodyPr>
          <a:lstStyle/>
          <a:p>
            <a:pPr marL="0" lvl="0" indent="0" algn="ctr">
              <a:lnSpc>
                <a:spcPts val="3959"/>
              </a:lnSpc>
              <a:spcBef>
                <a:spcPct val="0"/>
              </a:spcBef>
            </a:pPr>
            <a:r>
              <a:rPr lang="en-US" sz="3299" b="1">
                <a:solidFill>
                  <a:srgbClr val="000000"/>
                </a:solidFill>
                <a:latin typeface="Nunito Semi-Bold"/>
                <a:ea typeface="Nunito Semi-Bold"/>
                <a:cs typeface="Nunito Semi-Bold"/>
                <a:sym typeface="Nunito Semi-Bold"/>
              </a:rPr>
              <a:t>Widget “Card”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786078"/>
            <a:ext cx="7056825" cy="4507547"/>
          </a:xfrm>
          <a:custGeom>
            <a:avLst/>
            <a:gdLst/>
            <a:ahLst/>
            <a:cxnLst/>
            <a:rect l="l" t="t" r="r" b="b"/>
            <a:pathLst>
              <a:path w="7056825" h="4507547">
                <a:moveTo>
                  <a:pt x="0" y="0"/>
                </a:moveTo>
                <a:lnTo>
                  <a:pt x="7056825" y="0"/>
                </a:lnTo>
                <a:lnTo>
                  <a:pt x="7056825" y="4507548"/>
                </a:lnTo>
                <a:lnTo>
                  <a:pt x="0" y="4507548"/>
                </a:lnTo>
                <a:lnTo>
                  <a:pt x="0" y="0"/>
                </a:lnTo>
                <a:close/>
              </a:path>
            </a:pathLst>
          </a:custGeom>
          <a:blipFill>
            <a:blip r:embed="rId2"/>
            <a:stretch>
              <a:fillRect/>
            </a:stretch>
          </a:blipFill>
        </p:spPr>
        <p:txBody>
          <a:bodyPr/>
          <a:lstStyle/>
          <a:p>
            <a:endParaRPr lang="en-US"/>
          </a:p>
        </p:txBody>
      </p:sp>
      <p:sp>
        <p:nvSpPr>
          <p:cNvPr id="3" name="Freeform 3"/>
          <p:cNvSpPr/>
          <p:nvPr/>
        </p:nvSpPr>
        <p:spPr>
          <a:xfrm>
            <a:off x="9951807" y="2786078"/>
            <a:ext cx="6690237" cy="4507547"/>
          </a:xfrm>
          <a:custGeom>
            <a:avLst/>
            <a:gdLst/>
            <a:ahLst/>
            <a:cxnLst/>
            <a:rect l="l" t="t" r="r" b="b"/>
            <a:pathLst>
              <a:path w="6690237" h="4507547">
                <a:moveTo>
                  <a:pt x="0" y="0"/>
                </a:moveTo>
                <a:lnTo>
                  <a:pt x="6690237" y="0"/>
                </a:lnTo>
                <a:lnTo>
                  <a:pt x="6690237" y="4507548"/>
                </a:lnTo>
                <a:lnTo>
                  <a:pt x="0" y="4507548"/>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
        <p:nvSpPr>
          <p:cNvPr id="5" name="TextBox 5"/>
          <p:cNvSpPr txBox="1"/>
          <p:nvPr/>
        </p:nvSpPr>
        <p:spPr>
          <a:xfrm>
            <a:off x="2963058" y="7735004"/>
            <a:ext cx="3188109" cy="990600"/>
          </a:xfrm>
          <a:prstGeom prst="rect">
            <a:avLst/>
          </a:prstGeom>
        </p:spPr>
        <p:txBody>
          <a:bodyPr lIns="0" tIns="0" rIns="0" bIns="0" rtlCol="0" anchor="t">
            <a:spAutoFit/>
          </a:bodyPr>
          <a:lstStyle/>
          <a:p>
            <a:pPr marL="0" lvl="0" indent="0" algn="ctr">
              <a:lnSpc>
                <a:spcPts val="3959"/>
              </a:lnSpc>
              <a:spcBef>
                <a:spcPct val="0"/>
              </a:spcBef>
            </a:pPr>
            <a:r>
              <a:rPr lang="en-US" sz="3299" b="1">
                <a:solidFill>
                  <a:srgbClr val="000000"/>
                </a:solidFill>
                <a:latin typeface="Nunito Semi-Bold"/>
                <a:ea typeface="Nunito Semi-Bold"/>
                <a:cs typeface="Nunito Semi-Bold"/>
                <a:sym typeface="Nunito Semi-Bold"/>
              </a:rPr>
              <a:t>Choose your Device</a:t>
            </a:r>
          </a:p>
        </p:txBody>
      </p:sp>
      <p:sp>
        <p:nvSpPr>
          <p:cNvPr id="6" name="TextBox 6"/>
          <p:cNvSpPr txBox="1"/>
          <p:nvPr/>
        </p:nvSpPr>
        <p:spPr>
          <a:xfrm>
            <a:off x="11702871" y="7735004"/>
            <a:ext cx="3188109" cy="990600"/>
          </a:xfrm>
          <a:prstGeom prst="rect">
            <a:avLst/>
          </a:prstGeom>
        </p:spPr>
        <p:txBody>
          <a:bodyPr lIns="0" tIns="0" rIns="0" bIns="0" rtlCol="0" anchor="t">
            <a:spAutoFit/>
          </a:bodyPr>
          <a:lstStyle/>
          <a:p>
            <a:pPr marL="0" lvl="0" indent="0" algn="ctr">
              <a:lnSpc>
                <a:spcPts val="3959"/>
              </a:lnSpc>
              <a:spcBef>
                <a:spcPct val="0"/>
              </a:spcBef>
            </a:pPr>
            <a:r>
              <a:rPr lang="en-US" sz="3299" b="1">
                <a:solidFill>
                  <a:srgbClr val="000000"/>
                </a:solidFill>
                <a:latin typeface="Nunito Semi-Bold"/>
                <a:ea typeface="Nunito Semi-Bold"/>
                <a:cs typeface="Nunito Semi-Bold"/>
                <a:sym typeface="Nunito Semi-Bold"/>
              </a:rPr>
              <a:t>Select your data field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781326"/>
            <a:ext cx="7172214" cy="5367492"/>
          </a:xfrm>
          <a:custGeom>
            <a:avLst/>
            <a:gdLst/>
            <a:ahLst/>
            <a:cxnLst/>
            <a:rect l="l" t="t" r="r" b="b"/>
            <a:pathLst>
              <a:path w="7172214" h="5367492">
                <a:moveTo>
                  <a:pt x="0" y="0"/>
                </a:moveTo>
                <a:lnTo>
                  <a:pt x="7172214" y="0"/>
                </a:lnTo>
                <a:lnTo>
                  <a:pt x="7172214" y="5367493"/>
                </a:lnTo>
                <a:lnTo>
                  <a:pt x="0" y="5367493"/>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2214866" y="3276626"/>
            <a:ext cx="1066318" cy="1098396"/>
            <a:chOff x="0" y="0"/>
            <a:chExt cx="280841" cy="289289"/>
          </a:xfrm>
        </p:grpSpPr>
        <p:sp>
          <p:nvSpPr>
            <p:cNvPr id="4" name="Freeform 4"/>
            <p:cNvSpPr/>
            <p:nvPr/>
          </p:nvSpPr>
          <p:spPr>
            <a:xfrm>
              <a:off x="0" y="0"/>
              <a:ext cx="280841" cy="289289"/>
            </a:xfrm>
            <a:custGeom>
              <a:avLst/>
              <a:gdLst/>
              <a:ahLst/>
              <a:cxnLst/>
              <a:rect l="l" t="t" r="r" b="b"/>
              <a:pathLst>
                <a:path w="280841" h="289289">
                  <a:moveTo>
                    <a:pt x="0" y="0"/>
                  </a:moveTo>
                  <a:lnTo>
                    <a:pt x="280841" y="0"/>
                  </a:lnTo>
                  <a:lnTo>
                    <a:pt x="280841" y="289289"/>
                  </a:lnTo>
                  <a:lnTo>
                    <a:pt x="0" y="289289"/>
                  </a:lnTo>
                  <a:close/>
                </a:path>
              </a:pathLst>
            </a:custGeom>
            <a:ln w="95250" cap="sq">
              <a:solidFill>
                <a:srgbClr val="FF0000"/>
              </a:solidFill>
              <a:prstDash val="solid"/>
              <a:miter/>
            </a:ln>
          </p:spPr>
          <p:txBody>
            <a:bodyPr/>
            <a:lstStyle/>
            <a:p>
              <a:endParaRPr lang="en-US"/>
            </a:p>
          </p:txBody>
        </p:sp>
        <p:sp>
          <p:nvSpPr>
            <p:cNvPr id="5" name="TextBox 5"/>
            <p:cNvSpPr txBox="1"/>
            <p:nvPr/>
          </p:nvSpPr>
          <p:spPr>
            <a:xfrm>
              <a:off x="0" y="-38100"/>
              <a:ext cx="280841" cy="327389"/>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
        <p:nvSpPr>
          <p:cNvPr id="7" name="TextBox 7"/>
          <p:cNvSpPr txBox="1"/>
          <p:nvPr/>
        </p:nvSpPr>
        <p:spPr>
          <a:xfrm>
            <a:off x="9910529" y="4659669"/>
            <a:ext cx="6711505" cy="990600"/>
          </a:xfrm>
          <a:prstGeom prst="rect">
            <a:avLst/>
          </a:prstGeom>
        </p:spPr>
        <p:txBody>
          <a:bodyPr lIns="0" tIns="0" rIns="0" bIns="0" rtlCol="0" anchor="t">
            <a:spAutoFit/>
          </a:bodyPr>
          <a:lstStyle/>
          <a:p>
            <a:pPr marL="0" lvl="0" indent="0" algn="l">
              <a:lnSpc>
                <a:spcPts val="3959"/>
              </a:lnSpc>
              <a:spcBef>
                <a:spcPct val="0"/>
              </a:spcBef>
            </a:pPr>
            <a:r>
              <a:rPr lang="en-US" sz="3299" b="1">
                <a:solidFill>
                  <a:srgbClr val="000000"/>
                </a:solidFill>
                <a:latin typeface="Nunito Semi-Bold"/>
                <a:ea typeface="Nunito Semi-Bold"/>
                <a:cs typeface="Nunito Semi-Bold"/>
                <a:sym typeface="Nunito Semi-Bold"/>
              </a:rPr>
              <a:t>Click on Edit icon to modify the widget if needed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3219353"/>
            <a:ext cx="9128053" cy="3526496"/>
          </a:xfrm>
          <a:custGeom>
            <a:avLst/>
            <a:gdLst/>
            <a:ahLst/>
            <a:cxnLst/>
            <a:rect l="l" t="t" r="r" b="b"/>
            <a:pathLst>
              <a:path w="9128053" h="3526496">
                <a:moveTo>
                  <a:pt x="0" y="0"/>
                </a:moveTo>
                <a:lnTo>
                  <a:pt x="9128053" y="0"/>
                </a:lnTo>
                <a:lnTo>
                  <a:pt x="9128053" y="3526496"/>
                </a:lnTo>
                <a:lnTo>
                  <a:pt x="0" y="3526496"/>
                </a:lnTo>
                <a:lnTo>
                  <a:pt x="0" y="0"/>
                </a:lnTo>
                <a:close/>
              </a:path>
            </a:pathLst>
          </a:custGeom>
          <a:blipFill>
            <a:blip r:embed="rId2"/>
            <a:stretch>
              <a:fillRect b="-63394"/>
            </a:stretch>
          </a:blipFill>
        </p:spPr>
        <p:txBody>
          <a:bodyPr/>
          <a:lstStyle/>
          <a:p>
            <a:endParaRPr lang="en-US"/>
          </a:p>
        </p:txBody>
      </p:sp>
      <p:sp>
        <p:nvSpPr>
          <p:cNvPr id="3" name="TextBox 3"/>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
        <p:nvSpPr>
          <p:cNvPr id="4" name="TextBox 4"/>
          <p:cNvSpPr txBox="1"/>
          <p:nvPr/>
        </p:nvSpPr>
        <p:spPr>
          <a:xfrm>
            <a:off x="11007618" y="7241149"/>
            <a:ext cx="4557024" cy="495300"/>
          </a:xfrm>
          <a:prstGeom prst="rect">
            <a:avLst/>
          </a:prstGeom>
        </p:spPr>
        <p:txBody>
          <a:bodyPr lIns="0" tIns="0" rIns="0" bIns="0" rtlCol="0" anchor="t">
            <a:spAutoFit/>
          </a:bodyPr>
          <a:lstStyle/>
          <a:p>
            <a:pPr marL="0" lvl="0" indent="0" algn="l">
              <a:lnSpc>
                <a:spcPts val="3959"/>
              </a:lnSpc>
              <a:spcBef>
                <a:spcPct val="0"/>
              </a:spcBef>
            </a:pPr>
            <a:r>
              <a:rPr lang="en-US" sz="3299" b="1">
                <a:solidFill>
                  <a:srgbClr val="000000"/>
                </a:solidFill>
                <a:latin typeface="Nunito Semi-Bold"/>
                <a:ea typeface="Nunito Semi-Bold"/>
                <a:cs typeface="Nunito Semi-Bold"/>
                <a:sym typeface="Nunito Semi-Bold"/>
              </a:rPr>
              <a:t>Select</a:t>
            </a:r>
            <a:r>
              <a:rPr lang="en-US" sz="3299" b="1" u="none" strike="noStrike">
                <a:solidFill>
                  <a:srgbClr val="000000"/>
                </a:solidFill>
                <a:latin typeface="Nunito Semi-Bold"/>
                <a:ea typeface="Nunito Semi-Bold"/>
                <a:cs typeface="Nunito Semi-Bold"/>
                <a:sym typeface="Nunito Semi-Bold"/>
              </a:rPr>
              <a:t> “humidity”</a:t>
            </a:r>
          </a:p>
        </p:txBody>
      </p:sp>
      <p:sp>
        <p:nvSpPr>
          <p:cNvPr id="5" name="TextBox 5"/>
          <p:cNvSpPr txBox="1"/>
          <p:nvPr/>
        </p:nvSpPr>
        <p:spPr>
          <a:xfrm>
            <a:off x="1470397" y="7241149"/>
            <a:ext cx="8686355" cy="495300"/>
          </a:xfrm>
          <a:prstGeom prst="rect">
            <a:avLst/>
          </a:prstGeom>
        </p:spPr>
        <p:txBody>
          <a:bodyPr lIns="0" tIns="0" rIns="0" bIns="0" rtlCol="0" anchor="t">
            <a:spAutoFit/>
          </a:bodyPr>
          <a:lstStyle/>
          <a:p>
            <a:pPr marL="0" lvl="0" indent="0" algn="l">
              <a:lnSpc>
                <a:spcPts val="3959"/>
              </a:lnSpc>
              <a:spcBef>
                <a:spcPct val="0"/>
              </a:spcBef>
            </a:pPr>
            <a:r>
              <a:rPr lang="en-US" sz="3299" b="1">
                <a:solidFill>
                  <a:srgbClr val="000000"/>
                </a:solidFill>
                <a:latin typeface="Nunito Semi-Bold"/>
                <a:ea typeface="Nunito Semi-Bold"/>
                <a:cs typeface="Nunito Semi-Bold"/>
                <a:sym typeface="Nunito Semi-Bold"/>
              </a:rPr>
              <a:t>Create one more widget “Value card” </a:t>
            </a:r>
          </a:p>
        </p:txBody>
      </p:sp>
      <p:grpSp>
        <p:nvGrpSpPr>
          <p:cNvPr id="6" name="Group 6"/>
          <p:cNvGrpSpPr/>
          <p:nvPr/>
        </p:nvGrpSpPr>
        <p:grpSpPr>
          <a:xfrm>
            <a:off x="1185794" y="4362353"/>
            <a:ext cx="3153426" cy="990600"/>
            <a:chOff x="0" y="0"/>
            <a:chExt cx="830532" cy="260899"/>
          </a:xfrm>
        </p:grpSpPr>
        <p:sp>
          <p:nvSpPr>
            <p:cNvPr id="7" name="Freeform 7"/>
            <p:cNvSpPr/>
            <p:nvPr/>
          </p:nvSpPr>
          <p:spPr>
            <a:xfrm>
              <a:off x="0" y="0"/>
              <a:ext cx="830532" cy="260899"/>
            </a:xfrm>
            <a:custGeom>
              <a:avLst/>
              <a:gdLst/>
              <a:ahLst/>
              <a:cxnLst/>
              <a:rect l="l" t="t" r="r" b="b"/>
              <a:pathLst>
                <a:path w="830532" h="260899">
                  <a:moveTo>
                    <a:pt x="0" y="0"/>
                  </a:moveTo>
                  <a:lnTo>
                    <a:pt x="830532" y="0"/>
                  </a:lnTo>
                  <a:lnTo>
                    <a:pt x="830532" y="260899"/>
                  </a:lnTo>
                  <a:lnTo>
                    <a:pt x="0" y="260899"/>
                  </a:lnTo>
                  <a:close/>
                </a:path>
              </a:pathLst>
            </a:custGeom>
            <a:ln w="95250" cap="sq">
              <a:solidFill>
                <a:srgbClr val="FF0000"/>
              </a:solidFill>
              <a:prstDash val="solid"/>
              <a:miter/>
            </a:ln>
          </p:spPr>
          <p:txBody>
            <a:bodyPr/>
            <a:lstStyle/>
            <a:p>
              <a:endParaRPr lang="en-US"/>
            </a:p>
          </p:txBody>
        </p:sp>
        <p:sp>
          <p:nvSpPr>
            <p:cNvPr id="8" name="TextBox 8"/>
            <p:cNvSpPr txBox="1"/>
            <p:nvPr/>
          </p:nvSpPr>
          <p:spPr>
            <a:xfrm>
              <a:off x="0" y="-38100"/>
              <a:ext cx="830532" cy="298999"/>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0808725" y="3219353"/>
            <a:ext cx="4437671" cy="3526496"/>
          </a:xfrm>
          <a:custGeom>
            <a:avLst/>
            <a:gdLst/>
            <a:ahLst/>
            <a:cxnLst/>
            <a:rect l="l" t="t" r="r" b="b"/>
            <a:pathLst>
              <a:path w="4437671" h="3526496">
                <a:moveTo>
                  <a:pt x="0" y="0"/>
                </a:moveTo>
                <a:lnTo>
                  <a:pt x="4437671" y="0"/>
                </a:lnTo>
                <a:lnTo>
                  <a:pt x="4437671" y="3526496"/>
                </a:lnTo>
                <a:lnTo>
                  <a:pt x="0" y="3526496"/>
                </a:lnTo>
                <a:lnTo>
                  <a:pt x="0" y="0"/>
                </a:lnTo>
                <a:close/>
              </a:path>
            </a:pathLst>
          </a:custGeom>
          <a:blipFill>
            <a:blip r:embed="rId2"/>
            <a:stretch>
              <a:fillRect r="-105694" b="-63394"/>
            </a:stretch>
          </a:blipFill>
        </p:spPr>
        <p:txBody>
          <a:bodyPr/>
          <a:lstStyle/>
          <a:p>
            <a:endParaRPr lang="en-US"/>
          </a:p>
        </p:txBody>
      </p:sp>
      <p:grpSp>
        <p:nvGrpSpPr>
          <p:cNvPr id="10" name="Group 10"/>
          <p:cNvGrpSpPr/>
          <p:nvPr/>
        </p:nvGrpSpPr>
        <p:grpSpPr>
          <a:xfrm>
            <a:off x="10988261" y="5352953"/>
            <a:ext cx="3153426" cy="1098396"/>
            <a:chOff x="0" y="0"/>
            <a:chExt cx="830532" cy="289289"/>
          </a:xfrm>
        </p:grpSpPr>
        <p:sp>
          <p:nvSpPr>
            <p:cNvPr id="11" name="Freeform 11"/>
            <p:cNvSpPr/>
            <p:nvPr/>
          </p:nvSpPr>
          <p:spPr>
            <a:xfrm>
              <a:off x="0" y="0"/>
              <a:ext cx="830532" cy="289289"/>
            </a:xfrm>
            <a:custGeom>
              <a:avLst/>
              <a:gdLst/>
              <a:ahLst/>
              <a:cxnLst/>
              <a:rect l="l" t="t" r="r" b="b"/>
              <a:pathLst>
                <a:path w="830532" h="289289">
                  <a:moveTo>
                    <a:pt x="0" y="0"/>
                  </a:moveTo>
                  <a:lnTo>
                    <a:pt x="830532" y="0"/>
                  </a:lnTo>
                  <a:lnTo>
                    <a:pt x="830532" y="289289"/>
                  </a:lnTo>
                  <a:lnTo>
                    <a:pt x="0" y="289289"/>
                  </a:lnTo>
                  <a:close/>
                </a:path>
              </a:pathLst>
            </a:custGeom>
            <a:ln w="95250" cap="sq">
              <a:solidFill>
                <a:srgbClr val="FF0000"/>
              </a:solidFill>
              <a:prstDash val="solid"/>
              <a:miter/>
            </a:ln>
          </p:spPr>
          <p:txBody>
            <a:bodyPr/>
            <a:lstStyle/>
            <a:p>
              <a:endParaRPr lang="en-US"/>
            </a:p>
          </p:txBody>
        </p:sp>
        <p:sp>
          <p:nvSpPr>
            <p:cNvPr id="12" name="TextBox 12"/>
            <p:cNvSpPr txBox="1"/>
            <p:nvPr/>
          </p:nvSpPr>
          <p:spPr>
            <a:xfrm>
              <a:off x="0" y="-38100"/>
              <a:ext cx="830532" cy="32738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3273350"/>
            <a:ext cx="8602719" cy="5849849"/>
          </a:xfrm>
          <a:custGeom>
            <a:avLst/>
            <a:gdLst/>
            <a:ahLst/>
            <a:cxnLst/>
            <a:rect l="l" t="t" r="r" b="b"/>
            <a:pathLst>
              <a:path w="8602719" h="5849849">
                <a:moveTo>
                  <a:pt x="0" y="0"/>
                </a:moveTo>
                <a:lnTo>
                  <a:pt x="8602719" y="0"/>
                </a:lnTo>
                <a:lnTo>
                  <a:pt x="8602719" y="5849849"/>
                </a:lnTo>
                <a:lnTo>
                  <a:pt x="0" y="5849849"/>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
        <p:nvSpPr>
          <p:cNvPr id="4" name="TextBox 4"/>
          <p:cNvSpPr txBox="1"/>
          <p:nvPr/>
        </p:nvSpPr>
        <p:spPr>
          <a:xfrm>
            <a:off x="10673102" y="5402474"/>
            <a:ext cx="6793732" cy="990600"/>
          </a:xfrm>
          <a:prstGeom prst="rect">
            <a:avLst/>
          </a:prstGeom>
        </p:spPr>
        <p:txBody>
          <a:bodyPr lIns="0" tIns="0" rIns="0" bIns="0" rtlCol="0" anchor="t">
            <a:spAutoFit/>
          </a:bodyPr>
          <a:lstStyle/>
          <a:p>
            <a:pPr marL="0" lvl="0" indent="0" algn="l">
              <a:lnSpc>
                <a:spcPts val="3959"/>
              </a:lnSpc>
              <a:spcBef>
                <a:spcPct val="0"/>
              </a:spcBef>
            </a:pPr>
            <a:r>
              <a:rPr lang="en-US" sz="3299" b="1">
                <a:solidFill>
                  <a:srgbClr val="000000"/>
                </a:solidFill>
                <a:latin typeface="Nunito Semi-Bold"/>
                <a:ea typeface="Nunito Semi-Bold"/>
                <a:cs typeface="Nunito Semi-Bold"/>
                <a:sym typeface="Nunito Semi-Bold"/>
              </a:rPr>
              <a:t>Change Apperance and Click on Add icon</a:t>
            </a:r>
          </a:p>
        </p:txBody>
      </p:sp>
      <p:grpSp>
        <p:nvGrpSpPr>
          <p:cNvPr id="5" name="Group 5"/>
          <p:cNvGrpSpPr/>
          <p:nvPr/>
        </p:nvGrpSpPr>
        <p:grpSpPr>
          <a:xfrm>
            <a:off x="3272902" y="5702975"/>
            <a:ext cx="1313181" cy="2180027"/>
            <a:chOff x="0" y="0"/>
            <a:chExt cx="345858" cy="574163"/>
          </a:xfrm>
        </p:grpSpPr>
        <p:sp>
          <p:nvSpPr>
            <p:cNvPr id="6" name="Freeform 6"/>
            <p:cNvSpPr/>
            <p:nvPr/>
          </p:nvSpPr>
          <p:spPr>
            <a:xfrm>
              <a:off x="0" y="0"/>
              <a:ext cx="345858" cy="574163"/>
            </a:xfrm>
            <a:custGeom>
              <a:avLst/>
              <a:gdLst/>
              <a:ahLst/>
              <a:cxnLst/>
              <a:rect l="l" t="t" r="r" b="b"/>
              <a:pathLst>
                <a:path w="345858" h="574163">
                  <a:moveTo>
                    <a:pt x="0" y="0"/>
                  </a:moveTo>
                  <a:lnTo>
                    <a:pt x="345858" y="0"/>
                  </a:lnTo>
                  <a:lnTo>
                    <a:pt x="345858" y="574163"/>
                  </a:lnTo>
                  <a:lnTo>
                    <a:pt x="0" y="574163"/>
                  </a:lnTo>
                  <a:close/>
                </a:path>
              </a:pathLst>
            </a:custGeom>
            <a:ln w="95250" cap="sq">
              <a:solidFill>
                <a:srgbClr val="FF0000"/>
              </a:solidFill>
              <a:prstDash val="solid"/>
              <a:miter/>
            </a:ln>
          </p:spPr>
          <p:txBody>
            <a:bodyPr/>
            <a:lstStyle/>
            <a:p>
              <a:endParaRPr lang="en-US"/>
            </a:p>
          </p:txBody>
        </p:sp>
        <p:sp>
          <p:nvSpPr>
            <p:cNvPr id="7" name="TextBox 7"/>
            <p:cNvSpPr txBox="1"/>
            <p:nvPr/>
          </p:nvSpPr>
          <p:spPr>
            <a:xfrm>
              <a:off x="0" y="-38100"/>
              <a:ext cx="345858" cy="612263"/>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
        <p:nvSpPr>
          <p:cNvPr id="3" name="TextBox 3"/>
          <p:cNvSpPr txBox="1"/>
          <p:nvPr/>
        </p:nvSpPr>
        <p:spPr>
          <a:xfrm>
            <a:off x="4823241" y="9010650"/>
            <a:ext cx="8641519" cy="495300"/>
          </a:xfrm>
          <a:prstGeom prst="rect">
            <a:avLst/>
          </a:prstGeom>
        </p:spPr>
        <p:txBody>
          <a:bodyPr lIns="0" tIns="0" rIns="0" bIns="0" rtlCol="0" anchor="t">
            <a:spAutoFit/>
          </a:bodyPr>
          <a:lstStyle/>
          <a:p>
            <a:pPr marL="0" lvl="0" indent="0" algn="ctr">
              <a:lnSpc>
                <a:spcPts val="3959"/>
              </a:lnSpc>
              <a:spcBef>
                <a:spcPct val="0"/>
              </a:spcBef>
            </a:pPr>
            <a:r>
              <a:rPr lang="en-US" sz="3299" b="1">
                <a:solidFill>
                  <a:srgbClr val="000000"/>
                </a:solidFill>
                <a:latin typeface="Nunito Semi-Bold"/>
                <a:ea typeface="Nunito Semi-Bold"/>
                <a:cs typeface="Nunito Semi-Bold"/>
                <a:sym typeface="Nunito Semi-Bold"/>
              </a:rPr>
              <a:t>Two widgets are created</a:t>
            </a:r>
          </a:p>
        </p:txBody>
      </p:sp>
      <p:sp>
        <p:nvSpPr>
          <p:cNvPr id="4" name="Freeform 4"/>
          <p:cNvSpPr/>
          <p:nvPr/>
        </p:nvSpPr>
        <p:spPr>
          <a:xfrm>
            <a:off x="2085997" y="2360117"/>
            <a:ext cx="14116006" cy="6281623"/>
          </a:xfrm>
          <a:custGeom>
            <a:avLst/>
            <a:gdLst/>
            <a:ahLst/>
            <a:cxnLst/>
            <a:rect l="l" t="t" r="r" b="b"/>
            <a:pathLst>
              <a:path w="14116006" h="6281623">
                <a:moveTo>
                  <a:pt x="0" y="0"/>
                </a:moveTo>
                <a:lnTo>
                  <a:pt x="14116006" y="0"/>
                </a:lnTo>
                <a:lnTo>
                  <a:pt x="14116006" y="6281623"/>
                </a:lnTo>
                <a:lnTo>
                  <a:pt x="0" y="6281623"/>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05147" y="3419013"/>
            <a:ext cx="6932828" cy="5500857"/>
          </a:xfrm>
          <a:custGeom>
            <a:avLst/>
            <a:gdLst/>
            <a:ahLst/>
            <a:cxnLst/>
            <a:rect l="l" t="t" r="r" b="b"/>
            <a:pathLst>
              <a:path w="6932828" h="5500857">
                <a:moveTo>
                  <a:pt x="0" y="0"/>
                </a:moveTo>
                <a:lnTo>
                  <a:pt x="6932828" y="0"/>
                </a:lnTo>
                <a:lnTo>
                  <a:pt x="6932828" y="5500856"/>
                </a:lnTo>
                <a:lnTo>
                  <a:pt x="0" y="5500856"/>
                </a:lnTo>
                <a:lnTo>
                  <a:pt x="0" y="0"/>
                </a:lnTo>
                <a:close/>
              </a:path>
            </a:pathLst>
          </a:custGeom>
          <a:blipFill>
            <a:blip r:embed="rId2"/>
            <a:stretch>
              <a:fillRect r="-80843"/>
            </a:stretch>
          </a:blipFill>
        </p:spPr>
        <p:txBody>
          <a:bodyPr/>
          <a:lstStyle/>
          <a:p>
            <a:endParaRPr lang="en-US"/>
          </a:p>
        </p:txBody>
      </p:sp>
      <p:sp>
        <p:nvSpPr>
          <p:cNvPr id="3" name="Freeform 3"/>
          <p:cNvSpPr/>
          <p:nvPr/>
        </p:nvSpPr>
        <p:spPr>
          <a:xfrm>
            <a:off x="9661644" y="3419013"/>
            <a:ext cx="7974357" cy="5497157"/>
          </a:xfrm>
          <a:custGeom>
            <a:avLst/>
            <a:gdLst/>
            <a:ahLst/>
            <a:cxnLst/>
            <a:rect l="l" t="t" r="r" b="b"/>
            <a:pathLst>
              <a:path w="7974357" h="5497157">
                <a:moveTo>
                  <a:pt x="0" y="0"/>
                </a:moveTo>
                <a:lnTo>
                  <a:pt x="7974357" y="0"/>
                </a:lnTo>
                <a:lnTo>
                  <a:pt x="7974357" y="5497157"/>
                </a:lnTo>
                <a:lnTo>
                  <a:pt x="0" y="549715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
        <p:nvSpPr>
          <p:cNvPr id="5" name="TextBox 5"/>
          <p:cNvSpPr txBox="1"/>
          <p:nvPr/>
        </p:nvSpPr>
        <p:spPr>
          <a:xfrm>
            <a:off x="1028700" y="2457460"/>
            <a:ext cx="12779919" cy="495300"/>
          </a:xfrm>
          <a:prstGeom prst="rect">
            <a:avLst/>
          </a:prstGeom>
        </p:spPr>
        <p:txBody>
          <a:bodyPr lIns="0" tIns="0" rIns="0" bIns="0" rtlCol="0" anchor="t">
            <a:spAutoFit/>
          </a:bodyPr>
          <a:lstStyle/>
          <a:p>
            <a:pPr marL="0" lvl="0" indent="0" algn="l">
              <a:lnSpc>
                <a:spcPts val="3959"/>
              </a:lnSpc>
              <a:spcBef>
                <a:spcPct val="0"/>
              </a:spcBef>
            </a:pPr>
            <a:r>
              <a:rPr lang="en-US" sz="3299" b="1">
                <a:solidFill>
                  <a:srgbClr val="000000"/>
                </a:solidFill>
                <a:latin typeface="Nunito Semi-Bold"/>
                <a:ea typeface="Nunito Semi-Bold"/>
                <a:cs typeface="Nunito Semi-Bold"/>
                <a:sym typeface="Nunito Semi-Bold"/>
              </a:rPr>
              <a:t>Create a control switch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983477"/>
            <a:ext cx="8108594" cy="5037464"/>
          </a:xfrm>
          <a:custGeom>
            <a:avLst/>
            <a:gdLst/>
            <a:ahLst/>
            <a:cxnLst/>
            <a:rect l="l" t="t" r="r" b="b"/>
            <a:pathLst>
              <a:path w="8108594" h="5037464">
                <a:moveTo>
                  <a:pt x="0" y="0"/>
                </a:moveTo>
                <a:lnTo>
                  <a:pt x="8108594" y="0"/>
                </a:lnTo>
                <a:lnTo>
                  <a:pt x="8108594" y="5037464"/>
                </a:lnTo>
                <a:lnTo>
                  <a:pt x="0" y="5037464"/>
                </a:lnTo>
                <a:lnTo>
                  <a:pt x="0" y="0"/>
                </a:lnTo>
                <a:close/>
              </a:path>
            </a:pathLst>
          </a:custGeom>
          <a:blipFill>
            <a:blip r:embed="rId2"/>
            <a:stretch>
              <a:fillRect/>
            </a:stretch>
          </a:blipFill>
        </p:spPr>
        <p:txBody>
          <a:bodyPr/>
          <a:lstStyle/>
          <a:p>
            <a:endParaRPr lang="en-US"/>
          </a:p>
        </p:txBody>
      </p:sp>
      <p:sp>
        <p:nvSpPr>
          <p:cNvPr id="3" name="Freeform 3"/>
          <p:cNvSpPr/>
          <p:nvPr/>
        </p:nvSpPr>
        <p:spPr>
          <a:xfrm>
            <a:off x="10451472" y="2983477"/>
            <a:ext cx="5718860" cy="5037464"/>
          </a:xfrm>
          <a:custGeom>
            <a:avLst/>
            <a:gdLst/>
            <a:ahLst/>
            <a:cxnLst/>
            <a:rect l="l" t="t" r="r" b="b"/>
            <a:pathLst>
              <a:path w="5718860" h="5037464">
                <a:moveTo>
                  <a:pt x="0" y="0"/>
                </a:moveTo>
                <a:lnTo>
                  <a:pt x="5718860" y="0"/>
                </a:lnTo>
                <a:lnTo>
                  <a:pt x="5718860" y="5037464"/>
                </a:lnTo>
                <a:lnTo>
                  <a:pt x="0" y="5037464"/>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grpSp>
        <p:nvGrpSpPr>
          <p:cNvPr id="5" name="Group 5"/>
          <p:cNvGrpSpPr/>
          <p:nvPr/>
        </p:nvGrpSpPr>
        <p:grpSpPr>
          <a:xfrm>
            <a:off x="1253120" y="3826896"/>
            <a:ext cx="3153426" cy="1427663"/>
            <a:chOff x="0" y="0"/>
            <a:chExt cx="830532" cy="376010"/>
          </a:xfrm>
        </p:grpSpPr>
        <p:sp>
          <p:nvSpPr>
            <p:cNvPr id="6" name="Freeform 6"/>
            <p:cNvSpPr/>
            <p:nvPr/>
          </p:nvSpPr>
          <p:spPr>
            <a:xfrm>
              <a:off x="0" y="0"/>
              <a:ext cx="830532" cy="376010"/>
            </a:xfrm>
            <a:custGeom>
              <a:avLst/>
              <a:gdLst/>
              <a:ahLst/>
              <a:cxnLst/>
              <a:rect l="l" t="t" r="r" b="b"/>
              <a:pathLst>
                <a:path w="830532" h="376010">
                  <a:moveTo>
                    <a:pt x="0" y="0"/>
                  </a:moveTo>
                  <a:lnTo>
                    <a:pt x="830532" y="0"/>
                  </a:lnTo>
                  <a:lnTo>
                    <a:pt x="830532" y="376010"/>
                  </a:lnTo>
                  <a:lnTo>
                    <a:pt x="0" y="376010"/>
                  </a:lnTo>
                  <a:close/>
                </a:path>
              </a:pathLst>
            </a:custGeom>
            <a:ln w="95250" cap="sq">
              <a:solidFill>
                <a:srgbClr val="FF0000"/>
              </a:solidFill>
              <a:prstDash val="solid"/>
              <a:miter/>
            </a:ln>
          </p:spPr>
          <p:txBody>
            <a:bodyPr/>
            <a:lstStyle/>
            <a:p>
              <a:endParaRPr lang="en-US"/>
            </a:p>
          </p:txBody>
        </p:sp>
        <p:sp>
          <p:nvSpPr>
            <p:cNvPr id="7" name="TextBox 7"/>
            <p:cNvSpPr txBox="1"/>
            <p:nvPr/>
          </p:nvSpPr>
          <p:spPr>
            <a:xfrm>
              <a:off x="0" y="-38100"/>
              <a:ext cx="830532" cy="41411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451472" y="3979296"/>
            <a:ext cx="4275527" cy="799287"/>
            <a:chOff x="0" y="0"/>
            <a:chExt cx="1126065" cy="210512"/>
          </a:xfrm>
        </p:grpSpPr>
        <p:sp>
          <p:nvSpPr>
            <p:cNvPr id="9" name="Freeform 9"/>
            <p:cNvSpPr/>
            <p:nvPr/>
          </p:nvSpPr>
          <p:spPr>
            <a:xfrm>
              <a:off x="0" y="0"/>
              <a:ext cx="1126065" cy="210512"/>
            </a:xfrm>
            <a:custGeom>
              <a:avLst/>
              <a:gdLst/>
              <a:ahLst/>
              <a:cxnLst/>
              <a:rect l="l" t="t" r="r" b="b"/>
              <a:pathLst>
                <a:path w="1126065" h="210512">
                  <a:moveTo>
                    <a:pt x="0" y="0"/>
                  </a:moveTo>
                  <a:lnTo>
                    <a:pt x="1126065" y="0"/>
                  </a:lnTo>
                  <a:lnTo>
                    <a:pt x="1126065" y="210512"/>
                  </a:lnTo>
                  <a:lnTo>
                    <a:pt x="0" y="210512"/>
                  </a:lnTo>
                  <a:close/>
                </a:path>
              </a:pathLst>
            </a:custGeom>
            <a:ln w="95250" cap="sq">
              <a:solidFill>
                <a:srgbClr val="FF0000"/>
              </a:solidFill>
              <a:prstDash val="solid"/>
              <a:miter/>
            </a:ln>
          </p:spPr>
          <p:txBody>
            <a:bodyPr/>
            <a:lstStyle/>
            <a:p>
              <a:endParaRPr lang="en-US"/>
            </a:p>
          </p:txBody>
        </p:sp>
        <p:sp>
          <p:nvSpPr>
            <p:cNvPr id="10" name="TextBox 10"/>
            <p:cNvSpPr txBox="1"/>
            <p:nvPr/>
          </p:nvSpPr>
          <p:spPr>
            <a:xfrm>
              <a:off x="0" y="-38100"/>
              <a:ext cx="1126065" cy="248612"/>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3156783"/>
            <a:ext cx="8888122" cy="5575497"/>
          </a:xfrm>
          <a:custGeom>
            <a:avLst/>
            <a:gdLst/>
            <a:ahLst/>
            <a:cxnLst/>
            <a:rect l="l" t="t" r="r" b="b"/>
            <a:pathLst>
              <a:path w="8888122" h="5575497">
                <a:moveTo>
                  <a:pt x="0" y="0"/>
                </a:moveTo>
                <a:lnTo>
                  <a:pt x="8888122" y="0"/>
                </a:lnTo>
                <a:lnTo>
                  <a:pt x="8888122" y="5575498"/>
                </a:lnTo>
                <a:lnTo>
                  <a:pt x="0" y="5575498"/>
                </a:lnTo>
                <a:lnTo>
                  <a:pt x="0" y="0"/>
                </a:lnTo>
                <a:close/>
              </a:path>
            </a:pathLst>
          </a:custGeom>
          <a:blipFill>
            <a:blip r:embed="rId2"/>
            <a:stretch>
              <a:fillRect t="-32"/>
            </a:stretch>
          </a:blipFill>
        </p:spPr>
        <p:txBody>
          <a:bodyPr/>
          <a:lstStyle/>
          <a:p>
            <a:endParaRPr lang="en-US"/>
          </a:p>
        </p:txBody>
      </p:sp>
      <p:grpSp>
        <p:nvGrpSpPr>
          <p:cNvPr id="3" name="Group 3"/>
          <p:cNvGrpSpPr/>
          <p:nvPr/>
        </p:nvGrpSpPr>
        <p:grpSpPr>
          <a:xfrm>
            <a:off x="4781302" y="5604214"/>
            <a:ext cx="2193079" cy="1516715"/>
            <a:chOff x="0" y="0"/>
            <a:chExt cx="596026" cy="412206"/>
          </a:xfrm>
        </p:grpSpPr>
        <p:sp>
          <p:nvSpPr>
            <p:cNvPr id="4" name="Freeform 4"/>
            <p:cNvSpPr/>
            <p:nvPr/>
          </p:nvSpPr>
          <p:spPr>
            <a:xfrm>
              <a:off x="0" y="0"/>
              <a:ext cx="596026" cy="412206"/>
            </a:xfrm>
            <a:custGeom>
              <a:avLst/>
              <a:gdLst/>
              <a:ahLst/>
              <a:cxnLst/>
              <a:rect l="l" t="t" r="r" b="b"/>
              <a:pathLst>
                <a:path w="596026" h="412206">
                  <a:moveTo>
                    <a:pt x="0" y="0"/>
                  </a:moveTo>
                  <a:lnTo>
                    <a:pt x="596026" y="0"/>
                  </a:lnTo>
                  <a:lnTo>
                    <a:pt x="596026" y="412206"/>
                  </a:lnTo>
                  <a:lnTo>
                    <a:pt x="0" y="412206"/>
                  </a:lnTo>
                  <a:close/>
                </a:path>
              </a:pathLst>
            </a:custGeom>
            <a:ln w="95250" cap="sq">
              <a:solidFill>
                <a:srgbClr val="FF0000"/>
              </a:solidFill>
              <a:prstDash val="solid"/>
              <a:miter/>
            </a:ln>
          </p:spPr>
          <p:txBody>
            <a:bodyPr/>
            <a:lstStyle/>
            <a:p>
              <a:endParaRPr lang="en-US"/>
            </a:p>
          </p:txBody>
        </p:sp>
        <p:sp>
          <p:nvSpPr>
            <p:cNvPr id="5" name="TextBox 5"/>
            <p:cNvSpPr txBox="1"/>
            <p:nvPr/>
          </p:nvSpPr>
          <p:spPr>
            <a:xfrm>
              <a:off x="0" y="-38100"/>
              <a:ext cx="596026" cy="450306"/>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0800298" y="3156783"/>
            <a:ext cx="6459002" cy="5577297"/>
          </a:xfrm>
          <a:custGeom>
            <a:avLst/>
            <a:gdLst/>
            <a:ahLst/>
            <a:cxnLst/>
            <a:rect l="l" t="t" r="r" b="b"/>
            <a:pathLst>
              <a:path w="6459002" h="5577297">
                <a:moveTo>
                  <a:pt x="0" y="0"/>
                </a:moveTo>
                <a:lnTo>
                  <a:pt x="6459002" y="0"/>
                </a:lnTo>
                <a:lnTo>
                  <a:pt x="6459002" y="5577297"/>
                </a:lnTo>
                <a:lnTo>
                  <a:pt x="0" y="5577297"/>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
        <p:nvSpPr>
          <p:cNvPr id="8" name="TextBox 8"/>
          <p:cNvSpPr txBox="1"/>
          <p:nvPr/>
        </p:nvSpPr>
        <p:spPr>
          <a:xfrm>
            <a:off x="1548533" y="8981730"/>
            <a:ext cx="8108594" cy="495300"/>
          </a:xfrm>
          <a:prstGeom prst="rect">
            <a:avLst/>
          </a:prstGeom>
        </p:spPr>
        <p:txBody>
          <a:bodyPr lIns="0" tIns="0" rIns="0" bIns="0" rtlCol="0" anchor="t">
            <a:spAutoFit/>
          </a:bodyPr>
          <a:lstStyle/>
          <a:p>
            <a:pPr marL="0" lvl="0" indent="0" algn="ctr">
              <a:lnSpc>
                <a:spcPts val="3959"/>
              </a:lnSpc>
              <a:spcBef>
                <a:spcPct val="0"/>
              </a:spcBef>
            </a:pPr>
            <a:r>
              <a:rPr lang="en-US" sz="3299" b="1">
                <a:solidFill>
                  <a:srgbClr val="000000"/>
                </a:solidFill>
                <a:latin typeface="Nunito Semi-Bold"/>
                <a:ea typeface="Nunito Semi-Bold"/>
                <a:cs typeface="Nunito Semi-Bold"/>
                <a:sym typeface="Nunito Semi-Bold"/>
              </a:rPr>
              <a:t>Change RPC Method</a:t>
            </a:r>
          </a:p>
        </p:txBody>
      </p:sp>
      <p:sp>
        <p:nvSpPr>
          <p:cNvPr id="9" name="TextBox 9"/>
          <p:cNvSpPr txBox="1"/>
          <p:nvPr/>
        </p:nvSpPr>
        <p:spPr>
          <a:xfrm>
            <a:off x="11298253" y="8981730"/>
            <a:ext cx="5648748" cy="495300"/>
          </a:xfrm>
          <a:prstGeom prst="rect">
            <a:avLst/>
          </a:prstGeom>
        </p:spPr>
        <p:txBody>
          <a:bodyPr lIns="0" tIns="0" rIns="0" bIns="0" rtlCol="0" anchor="t">
            <a:spAutoFit/>
          </a:bodyPr>
          <a:lstStyle/>
          <a:p>
            <a:pPr marL="0" lvl="0" indent="0" algn="ctr">
              <a:lnSpc>
                <a:spcPts val="3959"/>
              </a:lnSpc>
              <a:spcBef>
                <a:spcPct val="0"/>
              </a:spcBef>
            </a:pPr>
            <a:r>
              <a:rPr lang="en-US" sz="3299" b="1">
                <a:solidFill>
                  <a:srgbClr val="000000"/>
                </a:solidFill>
                <a:latin typeface="Nunito Semi-Bold"/>
                <a:ea typeface="Nunito Semi-Bold"/>
                <a:cs typeface="Nunito Semi-Bold"/>
                <a:sym typeface="Nunito Semi-Bold"/>
              </a:rPr>
              <a:t>Click Add button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
        <p:nvSpPr>
          <p:cNvPr id="3" name="Freeform 3"/>
          <p:cNvSpPr/>
          <p:nvPr/>
        </p:nvSpPr>
        <p:spPr>
          <a:xfrm>
            <a:off x="1028700" y="2600443"/>
            <a:ext cx="7196050" cy="6014464"/>
          </a:xfrm>
          <a:custGeom>
            <a:avLst/>
            <a:gdLst/>
            <a:ahLst/>
            <a:cxnLst/>
            <a:rect l="l" t="t" r="r" b="b"/>
            <a:pathLst>
              <a:path w="7196050" h="6014464">
                <a:moveTo>
                  <a:pt x="0" y="0"/>
                </a:moveTo>
                <a:lnTo>
                  <a:pt x="7196050" y="0"/>
                </a:lnTo>
                <a:lnTo>
                  <a:pt x="7196050" y="6014465"/>
                </a:lnTo>
                <a:lnTo>
                  <a:pt x="0" y="6014465"/>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356193" y="2983477"/>
            <a:ext cx="5796757" cy="5037464"/>
          </a:xfrm>
          <a:custGeom>
            <a:avLst/>
            <a:gdLst/>
            <a:ahLst/>
            <a:cxnLst/>
            <a:rect l="l" t="t" r="r" b="b"/>
            <a:pathLst>
              <a:path w="5796757" h="5037464">
                <a:moveTo>
                  <a:pt x="0" y="0"/>
                </a:moveTo>
                <a:lnTo>
                  <a:pt x="5796757" y="0"/>
                </a:lnTo>
                <a:lnTo>
                  <a:pt x="5796757" y="5037464"/>
                </a:lnTo>
                <a:lnTo>
                  <a:pt x="0" y="5037464"/>
                </a:lnTo>
                <a:lnTo>
                  <a:pt x="0" y="0"/>
                </a:lnTo>
                <a:close/>
              </a:path>
            </a:pathLst>
          </a:custGeom>
          <a:blipFill>
            <a:blip r:embed="rId2"/>
            <a:stretch>
              <a:fillRect/>
            </a:stretch>
          </a:blipFill>
        </p:spPr>
        <p:txBody>
          <a:bodyPr/>
          <a:lstStyle/>
          <a:p>
            <a:endParaRPr lang="en-US"/>
          </a:p>
        </p:txBody>
      </p:sp>
      <p:sp>
        <p:nvSpPr>
          <p:cNvPr id="3" name="Freeform 3"/>
          <p:cNvSpPr/>
          <p:nvPr/>
        </p:nvSpPr>
        <p:spPr>
          <a:xfrm>
            <a:off x="1028700" y="2983477"/>
            <a:ext cx="8108594" cy="5037464"/>
          </a:xfrm>
          <a:custGeom>
            <a:avLst/>
            <a:gdLst/>
            <a:ahLst/>
            <a:cxnLst/>
            <a:rect l="l" t="t" r="r" b="b"/>
            <a:pathLst>
              <a:path w="8108594" h="5037464">
                <a:moveTo>
                  <a:pt x="0" y="0"/>
                </a:moveTo>
                <a:lnTo>
                  <a:pt x="8108594" y="0"/>
                </a:lnTo>
                <a:lnTo>
                  <a:pt x="8108594" y="5037464"/>
                </a:lnTo>
                <a:lnTo>
                  <a:pt x="0" y="5037464"/>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1190579" y="3626785"/>
            <a:ext cx="2978549" cy="1875423"/>
            <a:chOff x="0" y="0"/>
            <a:chExt cx="809497" cy="509695"/>
          </a:xfrm>
        </p:grpSpPr>
        <p:sp>
          <p:nvSpPr>
            <p:cNvPr id="5" name="Freeform 5"/>
            <p:cNvSpPr/>
            <p:nvPr/>
          </p:nvSpPr>
          <p:spPr>
            <a:xfrm>
              <a:off x="0" y="0"/>
              <a:ext cx="809497" cy="509695"/>
            </a:xfrm>
            <a:custGeom>
              <a:avLst/>
              <a:gdLst/>
              <a:ahLst/>
              <a:cxnLst/>
              <a:rect l="l" t="t" r="r" b="b"/>
              <a:pathLst>
                <a:path w="809497" h="509695">
                  <a:moveTo>
                    <a:pt x="0" y="0"/>
                  </a:moveTo>
                  <a:lnTo>
                    <a:pt x="809497" y="0"/>
                  </a:lnTo>
                  <a:lnTo>
                    <a:pt x="809497" y="509695"/>
                  </a:lnTo>
                  <a:lnTo>
                    <a:pt x="0" y="509695"/>
                  </a:lnTo>
                  <a:close/>
                </a:path>
              </a:pathLst>
            </a:custGeom>
            <a:ln w="95250" cap="sq">
              <a:solidFill>
                <a:srgbClr val="FF0000"/>
              </a:solidFill>
              <a:prstDash val="solid"/>
              <a:miter/>
            </a:ln>
          </p:spPr>
          <p:txBody>
            <a:bodyPr/>
            <a:lstStyle/>
            <a:p>
              <a:endParaRPr lang="en-US"/>
            </a:p>
          </p:txBody>
        </p:sp>
        <p:sp>
          <p:nvSpPr>
            <p:cNvPr id="6" name="TextBox 6"/>
            <p:cNvSpPr txBox="1"/>
            <p:nvPr/>
          </p:nvSpPr>
          <p:spPr>
            <a:xfrm>
              <a:off x="0" y="-38100"/>
              <a:ext cx="809497" cy="54779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a:off x="9966784" y="2983477"/>
            <a:ext cx="6910519" cy="5037464"/>
          </a:xfrm>
          <a:custGeom>
            <a:avLst/>
            <a:gdLst/>
            <a:ahLst/>
            <a:cxnLst/>
            <a:rect l="l" t="t" r="r" b="b"/>
            <a:pathLst>
              <a:path w="6910519" h="5037464">
                <a:moveTo>
                  <a:pt x="0" y="0"/>
                </a:moveTo>
                <a:lnTo>
                  <a:pt x="6910518" y="0"/>
                </a:lnTo>
                <a:lnTo>
                  <a:pt x="6910518" y="5037464"/>
                </a:lnTo>
                <a:lnTo>
                  <a:pt x="0" y="5037464"/>
                </a:lnTo>
                <a:lnTo>
                  <a:pt x="0" y="0"/>
                </a:lnTo>
                <a:close/>
              </a:path>
            </a:pathLst>
          </a:custGeom>
          <a:blipFill>
            <a:blip r:embed="rId4"/>
            <a:stretch>
              <a:fillRect r="-48387"/>
            </a:stretch>
          </a:blipFill>
        </p:spPr>
        <p:txBody>
          <a:bodyPr/>
          <a:lstStyle/>
          <a:p>
            <a:endParaRPr lang="en-US"/>
          </a:p>
        </p:txBody>
      </p:sp>
      <p:sp>
        <p:nvSpPr>
          <p:cNvPr id="8" name="TextBox 8"/>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
        <p:nvSpPr>
          <p:cNvPr id="9" name="TextBox 9"/>
          <p:cNvSpPr txBox="1"/>
          <p:nvPr/>
        </p:nvSpPr>
        <p:spPr>
          <a:xfrm>
            <a:off x="5924737" y="8763000"/>
            <a:ext cx="7154350" cy="495300"/>
          </a:xfrm>
          <a:prstGeom prst="rect">
            <a:avLst/>
          </a:prstGeom>
        </p:spPr>
        <p:txBody>
          <a:bodyPr lIns="0" tIns="0" rIns="0" bIns="0" rtlCol="0" anchor="t">
            <a:spAutoFit/>
          </a:bodyPr>
          <a:lstStyle/>
          <a:p>
            <a:pPr marL="0" lvl="0" indent="0" algn="ctr">
              <a:lnSpc>
                <a:spcPts val="3959"/>
              </a:lnSpc>
              <a:spcBef>
                <a:spcPct val="0"/>
              </a:spcBef>
            </a:pPr>
            <a:r>
              <a:rPr lang="en-US" sz="3299" b="1">
                <a:solidFill>
                  <a:srgbClr val="000000"/>
                </a:solidFill>
                <a:latin typeface="Nunito Semi-Bold"/>
                <a:ea typeface="Nunito Semi-Bold"/>
                <a:cs typeface="Nunito Semi-Bold"/>
                <a:sym typeface="Nunito Semi-Bold"/>
              </a:rPr>
              <a:t>Create another switch control</a:t>
            </a:r>
          </a:p>
        </p:txBody>
      </p:sp>
      <p:grpSp>
        <p:nvGrpSpPr>
          <p:cNvPr id="10" name="Group 10"/>
          <p:cNvGrpSpPr/>
          <p:nvPr/>
        </p:nvGrpSpPr>
        <p:grpSpPr>
          <a:xfrm>
            <a:off x="12519103" y="4243566"/>
            <a:ext cx="4033324" cy="3777375"/>
            <a:chOff x="0" y="0"/>
            <a:chExt cx="1096160" cy="1026599"/>
          </a:xfrm>
        </p:grpSpPr>
        <p:sp>
          <p:nvSpPr>
            <p:cNvPr id="11" name="Freeform 11"/>
            <p:cNvSpPr/>
            <p:nvPr/>
          </p:nvSpPr>
          <p:spPr>
            <a:xfrm>
              <a:off x="0" y="0"/>
              <a:ext cx="1096160" cy="1026599"/>
            </a:xfrm>
            <a:custGeom>
              <a:avLst/>
              <a:gdLst/>
              <a:ahLst/>
              <a:cxnLst/>
              <a:rect l="l" t="t" r="r" b="b"/>
              <a:pathLst>
                <a:path w="1096160" h="1026599">
                  <a:moveTo>
                    <a:pt x="0" y="0"/>
                  </a:moveTo>
                  <a:lnTo>
                    <a:pt x="1096160" y="0"/>
                  </a:lnTo>
                  <a:lnTo>
                    <a:pt x="1096160" y="1026599"/>
                  </a:lnTo>
                  <a:lnTo>
                    <a:pt x="0" y="1026599"/>
                  </a:lnTo>
                  <a:close/>
                </a:path>
              </a:pathLst>
            </a:custGeom>
            <a:ln w="95250" cap="sq">
              <a:solidFill>
                <a:srgbClr val="FF0000"/>
              </a:solidFill>
              <a:prstDash val="solid"/>
              <a:miter/>
            </a:ln>
          </p:spPr>
          <p:txBody>
            <a:bodyPr/>
            <a:lstStyle/>
            <a:p>
              <a:endParaRPr lang="en-US"/>
            </a:p>
          </p:txBody>
        </p:sp>
        <p:sp>
          <p:nvSpPr>
            <p:cNvPr id="12" name="TextBox 12"/>
            <p:cNvSpPr txBox="1"/>
            <p:nvPr/>
          </p:nvSpPr>
          <p:spPr>
            <a:xfrm>
              <a:off x="0" y="-38100"/>
              <a:ext cx="1096160" cy="106469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539013" y="3371778"/>
            <a:ext cx="5289375" cy="4567334"/>
          </a:xfrm>
          <a:custGeom>
            <a:avLst/>
            <a:gdLst/>
            <a:ahLst/>
            <a:cxnLst/>
            <a:rect l="l" t="t" r="r" b="b"/>
            <a:pathLst>
              <a:path w="5289375" h="4567334">
                <a:moveTo>
                  <a:pt x="0" y="0"/>
                </a:moveTo>
                <a:lnTo>
                  <a:pt x="5289375" y="0"/>
                </a:lnTo>
                <a:lnTo>
                  <a:pt x="5289375" y="4567334"/>
                </a:lnTo>
                <a:lnTo>
                  <a:pt x="0" y="4567334"/>
                </a:lnTo>
                <a:lnTo>
                  <a:pt x="0" y="0"/>
                </a:lnTo>
                <a:close/>
              </a:path>
            </a:pathLst>
          </a:custGeom>
          <a:blipFill>
            <a:blip r:embed="rId2"/>
            <a:stretch>
              <a:fillRect/>
            </a:stretch>
          </a:blipFill>
        </p:spPr>
        <p:txBody>
          <a:bodyPr/>
          <a:lstStyle/>
          <a:p>
            <a:endParaRPr lang="en-US"/>
          </a:p>
        </p:txBody>
      </p:sp>
      <p:sp>
        <p:nvSpPr>
          <p:cNvPr id="3" name="Freeform 3"/>
          <p:cNvSpPr/>
          <p:nvPr/>
        </p:nvSpPr>
        <p:spPr>
          <a:xfrm>
            <a:off x="1028700" y="3371778"/>
            <a:ext cx="9465976" cy="4567334"/>
          </a:xfrm>
          <a:custGeom>
            <a:avLst/>
            <a:gdLst/>
            <a:ahLst/>
            <a:cxnLst/>
            <a:rect l="l" t="t" r="r" b="b"/>
            <a:pathLst>
              <a:path w="9465976" h="4567334">
                <a:moveTo>
                  <a:pt x="0" y="0"/>
                </a:moveTo>
                <a:lnTo>
                  <a:pt x="9465976" y="0"/>
                </a:lnTo>
                <a:lnTo>
                  <a:pt x="9465976" y="4567334"/>
                </a:lnTo>
                <a:lnTo>
                  <a:pt x="0" y="4567334"/>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675647"/>
            <a:ext cx="16438134" cy="1315559"/>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DASHBOARD</a:t>
            </a:r>
          </a:p>
        </p:txBody>
      </p:sp>
      <p:grpSp>
        <p:nvGrpSpPr>
          <p:cNvPr id="5" name="Group 5"/>
          <p:cNvGrpSpPr/>
          <p:nvPr/>
        </p:nvGrpSpPr>
        <p:grpSpPr>
          <a:xfrm>
            <a:off x="3367455" y="3780022"/>
            <a:ext cx="2103311" cy="753322"/>
            <a:chOff x="0" y="0"/>
            <a:chExt cx="571629" cy="204735"/>
          </a:xfrm>
        </p:grpSpPr>
        <p:sp>
          <p:nvSpPr>
            <p:cNvPr id="6" name="Freeform 6"/>
            <p:cNvSpPr/>
            <p:nvPr/>
          </p:nvSpPr>
          <p:spPr>
            <a:xfrm>
              <a:off x="0" y="0"/>
              <a:ext cx="571629" cy="204735"/>
            </a:xfrm>
            <a:custGeom>
              <a:avLst/>
              <a:gdLst/>
              <a:ahLst/>
              <a:cxnLst/>
              <a:rect l="l" t="t" r="r" b="b"/>
              <a:pathLst>
                <a:path w="571629" h="204735">
                  <a:moveTo>
                    <a:pt x="0" y="0"/>
                  </a:moveTo>
                  <a:lnTo>
                    <a:pt x="571629" y="0"/>
                  </a:lnTo>
                  <a:lnTo>
                    <a:pt x="571629" y="204735"/>
                  </a:lnTo>
                  <a:lnTo>
                    <a:pt x="0" y="204735"/>
                  </a:lnTo>
                  <a:close/>
                </a:path>
              </a:pathLst>
            </a:custGeom>
            <a:ln w="95250" cap="sq">
              <a:solidFill>
                <a:srgbClr val="FF0000"/>
              </a:solidFill>
              <a:prstDash val="solid"/>
              <a:miter/>
            </a:ln>
          </p:spPr>
          <p:txBody>
            <a:bodyPr/>
            <a:lstStyle/>
            <a:p>
              <a:endParaRPr lang="en-US"/>
            </a:p>
          </p:txBody>
        </p:sp>
        <p:sp>
          <p:nvSpPr>
            <p:cNvPr id="7" name="TextBox 7"/>
            <p:cNvSpPr txBox="1"/>
            <p:nvPr/>
          </p:nvSpPr>
          <p:spPr>
            <a:xfrm>
              <a:off x="0" y="-38100"/>
              <a:ext cx="571629" cy="242835"/>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987725" y="6737674"/>
            <a:ext cx="2103311" cy="1404141"/>
            <a:chOff x="0" y="0"/>
            <a:chExt cx="571629" cy="381611"/>
          </a:xfrm>
        </p:grpSpPr>
        <p:sp>
          <p:nvSpPr>
            <p:cNvPr id="9" name="Freeform 9"/>
            <p:cNvSpPr/>
            <p:nvPr/>
          </p:nvSpPr>
          <p:spPr>
            <a:xfrm>
              <a:off x="0" y="0"/>
              <a:ext cx="571629" cy="381611"/>
            </a:xfrm>
            <a:custGeom>
              <a:avLst/>
              <a:gdLst/>
              <a:ahLst/>
              <a:cxnLst/>
              <a:rect l="l" t="t" r="r" b="b"/>
              <a:pathLst>
                <a:path w="571629" h="381611">
                  <a:moveTo>
                    <a:pt x="0" y="0"/>
                  </a:moveTo>
                  <a:lnTo>
                    <a:pt x="571629" y="0"/>
                  </a:lnTo>
                  <a:lnTo>
                    <a:pt x="571629" y="381611"/>
                  </a:lnTo>
                  <a:lnTo>
                    <a:pt x="0" y="381611"/>
                  </a:lnTo>
                  <a:close/>
                </a:path>
              </a:pathLst>
            </a:custGeom>
            <a:ln w="95250" cap="sq">
              <a:solidFill>
                <a:srgbClr val="FF0000"/>
              </a:solidFill>
              <a:prstDash val="solid"/>
              <a:miter/>
            </a:ln>
          </p:spPr>
          <p:txBody>
            <a:bodyPr/>
            <a:lstStyle/>
            <a:p>
              <a:endParaRPr lang="en-US"/>
            </a:p>
          </p:txBody>
        </p:sp>
        <p:sp>
          <p:nvSpPr>
            <p:cNvPr id="10" name="TextBox 10"/>
            <p:cNvSpPr txBox="1"/>
            <p:nvPr/>
          </p:nvSpPr>
          <p:spPr>
            <a:xfrm>
              <a:off x="0" y="-38100"/>
              <a:ext cx="571629" cy="419711"/>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04285" y="2494767"/>
            <a:ext cx="15008217" cy="5995054"/>
          </a:xfrm>
          <a:custGeom>
            <a:avLst/>
            <a:gdLst/>
            <a:ahLst/>
            <a:cxnLst/>
            <a:rect l="l" t="t" r="r" b="b"/>
            <a:pathLst>
              <a:path w="15008217" h="5995054">
                <a:moveTo>
                  <a:pt x="0" y="0"/>
                </a:moveTo>
                <a:lnTo>
                  <a:pt x="15008216" y="0"/>
                </a:lnTo>
                <a:lnTo>
                  <a:pt x="15008216" y="5995055"/>
                </a:lnTo>
                <a:lnTo>
                  <a:pt x="0" y="5995055"/>
                </a:lnTo>
                <a:lnTo>
                  <a:pt x="0" y="0"/>
                </a:lnTo>
                <a:close/>
              </a:path>
            </a:pathLst>
          </a:custGeom>
          <a:blipFill>
            <a:blip r:embed="rId2"/>
            <a:stretch>
              <a:fillRect r="-4037" b="-22086"/>
            </a:stretch>
          </a:blipFill>
        </p:spPr>
        <p:txBody>
          <a:bodyPr/>
          <a:lstStyle/>
          <a:p>
            <a:endParaRPr lang="en-US"/>
          </a:p>
        </p:txBody>
      </p:sp>
      <p:sp>
        <p:nvSpPr>
          <p:cNvPr id="3" name="TextBox 3"/>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596378"/>
            <a:ext cx="7776304" cy="5517342"/>
          </a:xfrm>
          <a:custGeom>
            <a:avLst/>
            <a:gdLst/>
            <a:ahLst/>
            <a:cxnLst/>
            <a:rect l="l" t="t" r="r" b="b"/>
            <a:pathLst>
              <a:path w="7776304" h="5517342">
                <a:moveTo>
                  <a:pt x="0" y="0"/>
                </a:moveTo>
                <a:lnTo>
                  <a:pt x="7776304" y="0"/>
                </a:lnTo>
                <a:lnTo>
                  <a:pt x="7776304" y="5517343"/>
                </a:lnTo>
                <a:lnTo>
                  <a:pt x="0" y="5517343"/>
                </a:lnTo>
                <a:lnTo>
                  <a:pt x="0" y="0"/>
                </a:lnTo>
                <a:close/>
              </a:path>
            </a:pathLst>
          </a:custGeom>
          <a:blipFill>
            <a:blip r:embed="rId2"/>
            <a:stretch>
              <a:fillRect/>
            </a:stretch>
          </a:blipFill>
        </p:spPr>
        <p:txBody>
          <a:bodyPr/>
          <a:lstStyle/>
          <a:p>
            <a:endParaRPr lang="en-US"/>
          </a:p>
        </p:txBody>
      </p:sp>
      <p:sp>
        <p:nvSpPr>
          <p:cNvPr id="3" name="Freeform 3"/>
          <p:cNvSpPr/>
          <p:nvPr/>
        </p:nvSpPr>
        <p:spPr>
          <a:xfrm>
            <a:off x="10546479" y="2596378"/>
            <a:ext cx="6493957" cy="5537378"/>
          </a:xfrm>
          <a:custGeom>
            <a:avLst/>
            <a:gdLst/>
            <a:ahLst/>
            <a:cxnLst/>
            <a:rect l="l" t="t" r="r" b="b"/>
            <a:pathLst>
              <a:path w="6493957" h="5537378">
                <a:moveTo>
                  <a:pt x="0" y="0"/>
                </a:moveTo>
                <a:lnTo>
                  <a:pt x="6493956" y="0"/>
                </a:lnTo>
                <a:lnTo>
                  <a:pt x="6493956" y="5537378"/>
                </a:lnTo>
                <a:lnTo>
                  <a:pt x="0" y="5537378"/>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
        <p:nvSpPr>
          <p:cNvPr id="5" name="TextBox 5"/>
          <p:cNvSpPr txBox="1"/>
          <p:nvPr/>
        </p:nvSpPr>
        <p:spPr>
          <a:xfrm>
            <a:off x="2600684" y="8853556"/>
            <a:ext cx="5648748" cy="495300"/>
          </a:xfrm>
          <a:prstGeom prst="rect">
            <a:avLst/>
          </a:prstGeom>
        </p:spPr>
        <p:txBody>
          <a:bodyPr lIns="0" tIns="0" rIns="0" bIns="0" rtlCol="0" anchor="t">
            <a:spAutoFit/>
          </a:bodyPr>
          <a:lstStyle/>
          <a:p>
            <a:pPr marL="0" lvl="0" indent="0" algn="ctr">
              <a:lnSpc>
                <a:spcPts val="3959"/>
              </a:lnSpc>
              <a:spcBef>
                <a:spcPct val="0"/>
              </a:spcBef>
            </a:pPr>
            <a:r>
              <a:rPr lang="en-US" sz="3299">
                <a:solidFill>
                  <a:srgbClr val="000000"/>
                </a:solidFill>
                <a:latin typeface="Nunito"/>
                <a:ea typeface="Nunito"/>
                <a:cs typeface="Nunito"/>
                <a:sym typeface="Nunito"/>
              </a:rPr>
              <a:t>Create a Chart</a:t>
            </a:r>
          </a:p>
        </p:txBody>
      </p:sp>
      <p:sp>
        <p:nvSpPr>
          <p:cNvPr id="6" name="TextBox 6"/>
          <p:cNvSpPr txBox="1"/>
          <p:nvPr/>
        </p:nvSpPr>
        <p:spPr>
          <a:xfrm>
            <a:off x="10969083" y="8605906"/>
            <a:ext cx="5648748" cy="990600"/>
          </a:xfrm>
          <a:prstGeom prst="rect">
            <a:avLst/>
          </a:prstGeom>
        </p:spPr>
        <p:txBody>
          <a:bodyPr lIns="0" tIns="0" rIns="0" bIns="0" rtlCol="0" anchor="t">
            <a:spAutoFit/>
          </a:bodyPr>
          <a:lstStyle/>
          <a:p>
            <a:pPr marL="0" lvl="0" indent="0" algn="ctr">
              <a:lnSpc>
                <a:spcPts val="3959"/>
              </a:lnSpc>
              <a:spcBef>
                <a:spcPct val="0"/>
              </a:spcBef>
            </a:pPr>
            <a:r>
              <a:rPr lang="en-US" sz="3299">
                <a:solidFill>
                  <a:srgbClr val="000000"/>
                </a:solidFill>
                <a:latin typeface="Nunito"/>
                <a:ea typeface="Nunito"/>
                <a:cs typeface="Nunito"/>
                <a:sym typeface="Nunito"/>
              </a:rPr>
              <a:t>Select widget “Time series chart”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43514" y="2656875"/>
            <a:ext cx="9200973" cy="5750608"/>
          </a:xfrm>
          <a:custGeom>
            <a:avLst/>
            <a:gdLst/>
            <a:ahLst/>
            <a:cxnLst/>
            <a:rect l="l" t="t" r="r" b="b"/>
            <a:pathLst>
              <a:path w="9200973" h="5750608">
                <a:moveTo>
                  <a:pt x="0" y="0"/>
                </a:moveTo>
                <a:lnTo>
                  <a:pt x="9200972" y="0"/>
                </a:lnTo>
                <a:lnTo>
                  <a:pt x="9200972" y="5750608"/>
                </a:lnTo>
                <a:lnTo>
                  <a:pt x="0" y="5750608"/>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
        <p:nvSpPr>
          <p:cNvPr id="4" name="TextBox 4"/>
          <p:cNvSpPr txBox="1"/>
          <p:nvPr/>
        </p:nvSpPr>
        <p:spPr>
          <a:xfrm>
            <a:off x="6319626" y="8763000"/>
            <a:ext cx="5648748" cy="495300"/>
          </a:xfrm>
          <a:prstGeom prst="rect">
            <a:avLst/>
          </a:prstGeom>
        </p:spPr>
        <p:txBody>
          <a:bodyPr lIns="0" tIns="0" rIns="0" bIns="0" rtlCol="0" anchor="t">
            <a:spAutoFit/>
          </a:bodyPr>
          <a:lstStyle/>
          <a:p>
            <a:pPr marL="0" lvl="0" indent="0" algn="ctr">
              <a:lnSpc>
                <a:spcPts val="3959"/>
              </a:lnSpc>
              <a:spcBef>
                <a:spcPct val="0"/>
              </a:spcBef>
            </a:pPr>
            <a:r>
              <a:rPr lang="en-US" sz="3299">
                <a:solidFill>
                  <a:srgbClr val="000000"/>
                </a:solidFill>
                <a:latin typeface="Nunito"/>
                <a:ea typeface="Nunito"/>
                <a:cs typeface="Nunito"/>
                <a:sym typeface="Nunito"/>
              </a:rPr>
              <a:t>Select your device</a:t>
            </a:r>
          </a:p>
        </p:txBody>
      </p:sp>
      <p:grpSp>
        <p:nvGrpSpPr>
          <p:cNvPr id="5" name="Group 5"/>
          <p:cNvGrpSpPr/>
          <p:nvPr/>
        </p:nvGrpSpPr>
        <p:grpSpPr>
          <a:xfrm>
            <a:off x="4709281" y="5397527"/>
            <a:ext cx="8858358" cy="1673445"/>
            <a:chOff x="0" y="0"/>
            <a:chExt cx="2407487" cy="454802"/>
          </a:xfrm>
        </p:grpSpPr>
        <p:sp>
          <p:nvSpPr>
            <p:cNvPr id="6" name="Freeform 6"/>
            <p:cNvSpPr/>
            <p:nvPr/>
          </p:nvSpPr>
          <p:spPr>
            <a:xfrm>
              <a:off x="0" y="0"/>
              <a:ext cx="2407487" cy="454802"/>
            </a:xfrm>
            <a:custGeom>
              <a:avLst/>
              <a:gdLst/>
              <a:ahLst/>
              <a:cxnLst/>
              <a:rect l="l" t="t" r="r" b="b"/>
              <a:pathLst>
                <a:path w="2407487" h="454802">
                  <a:moveTo>
                    <a:pt x="0" y="0"/>
                  </a:moveTo>
                  <a:lnTo>
                    <a:pt x="2407487" y="0"/>
                  </a:lnTo>
                  <a:lnTo>
                    <a:pt x="2407487" y="454802"/>
                  </a:lnTo>
                  <a:lnTo>
                    <a:pt x="0" y="454802"/>
                  </a:lnTo>
                  <a:close/>
                </a:path>
              </a:pathLst>
            </a:custGeom>
            <a:ln w="95250" cap="sq">
              <a:solidFill>
                <a:srgbClr val="FF0000"/>
              </a:solidFill>
              <a:prstDash val="solid"/>
              <a:miter/>
            </a:ln>
          </p:spPr>
          <p:txBody>
            <a:bodyPr/>
            <a:lstStyle/>
            <a:p>
              <a:endParaRPr lang="en-US"/>
            </a:p>
          </p:txBody>
        </p:sp>
        <p:sp>
          <p:nvSpPr>
            <p:cNvPr id="7" name="TextBox 7"/>
            <p:cNvSpPr txBox="1"/>
            <p:nvPr/>
          </p:nvSpPr>
          <p:spPr>
            <a:xfrm>
              <a:off x="0" y="-38100"/>
              <a:ext cx="2407487" cy="492902"/>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960120" y="3057648"/>
            <a:ext cx="10506714" cy="4504754"/>
          </a:xfrm>
          <a:custGeom>
            <a:avLst/>
            <a:gdLst/>
            <a:ahLst/>
            <a:cxnLst/>
            <a:rect l="l" t="t" r="r" b="b"/>
            <a:pathLst>
              <a:path w="10506714" h="4504754">
                <a:moveTo>
                  <a:pt x="0" y="0"/>
                </a:moveTo>
                <a:lnTo>
                  <a:pt x="10506714" y="0"/>
                </a:lnTo>
                <a:lnTo>
                  <a:pt x="10506714" y="4504753"/>
                </a:lnTo>
                <a:lnTo>
                  <a:pt x="0" y="4504753"/>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
        <p:nvSpPr>
          <p:cNvPr id="4" name="Freeform 4"/>
          <p:cNvSpPr/>
          <p:nvPr/>
        </p:nvSpPr>
        <p:spPr>
          <a:xfrm>
            <a:off x="912218" y="3057648"/>
            <a:ext cx="5153124" cy="4679352"/>
          </a:xfrm>
          <a:custGeom>
            <a:avLst/>
            <a:gdLst/>
            <a:ahLst/>
            <a:cxnLst/>
            <a:rect l="l" t="t" r="r" b="b"/>
            <a:pathLst>
              <a:path w="5153124" h="4679352">
                <a:moveTo>
                  <a:pt x="0" y="0"/>
                </a:moveTo>
                <a:lnTo>
                  <a:pt x="5153124" y="0"/>
                </a:lnTo>
                <a:lnTo>
                  <a:pt x="5153124" y="4679352"/>
                </a:lnTo>
                <a:lnTo>
                  <a:pt x="0" y="4679352"/>
                </a:lnTo>
                <a:lnTo>
                  <a:pt x="0" y="0"/>
                </a:lnTo>
                <a:close/>
              </a:path>
            </a:pathLst>
          </a:custGeom>
          <a:blipFill>
            <a:blip r:embed="rId3"/>
            <a:stretch>
              <a:fillRect r="-217226"/>
            </a:stretch>
          </a:blipFill>
        </p:spPr>
        <p:txBody>
          <a:bodyPr/>
          <a:lstStyle/>
          <a:p>
            <a:endParaRPr lang="en-US"/>
          </a:p>
        </p:txBody>
      </p:sp>
      <p:sp>
        <p:nvSpPr>
          <p:cNvPr id="5" name="TextBox 5"/>
          <p:cNvSpPr txBox="1"/>
          <p:nvPr/>
        </p:nvSpPr>
        <p:spPr>
          <a:xfrm>
            <a:off x="912218" y="8134624"/>
            <a:ext cx="5648748" cy="495300"/>
          </a:xfrm>
          <a:prstGeom prst="rect">
            <a:avLst/>
          </a:prstGeom>
        </p:spPr>
        <p:txBody>
          <a:bodyPr lIns="0" tIns="0" rIns="0" bIns="0" rtlCol="0" anchor="t">
            <a:spAutoFit/>
          </a:bodyPr>
          <a:lstStyle/>
          <a:p>
            <a:pPr marL="0" lvl="0" indent="0" algn="ctr">
              <a:lnSpc>
                <a:spcPts val="3959"/>
              </a:lnSpc>
              <a:spcBef>
                <a:spcPct val="0"/>
              </a:spcBef>
            </a:pPr>
            <a:r>
              <a:rPr lang="en-US" sz="3299">
                <a:solidFill>
                  <a:srgbClr val="000000"/>
                </a:solidFill>
                <a:latin typeface="Nunito"/>
                <a:ea typeface="Nunito"/>
                <a:cs typeface="Nunito"/>
                <a:sym typeface="Nunito"/>
              </a:rPr>
              <a:t>Select “Add series”</a:t>
            </a:r>
          </a:p>
        </p:txBody>
      </p:sp>
      <p:grpSp>
        <p:nvGrpSpPr>
          <p:cNvPr id="6" name="Group 6"/>
          <p:cNvGrpSpPr/>
          <p:nvPr/>
        </p:nvGrpSpPr>
        <p:grpSpPr>
          <a:xfrm>
            <a:off x="714603" y="6205440"/>
            <a:ext cx="2774177" cy="1290817"/>
            <a:chOff x="0" y="0"/>
            <a:chExt cx="753954" cy="350813"/>
          </a:xfrm>
        </p:grpSpPr>
        <p:sp>
          <p:nvSpPr>
            <p:cNvPr id="7" name="Freeform 7"/>
            <p:cNvSpPr/>
            <p:nvPr/>
          </p:nvSpPr>
          <p:spPr>
            <a:xfrm>
              <a:off x="0" y="0"/>
              <a:ext cx="753954" cy="350813"/>
            </a:xfrm>
            <a:custGeom>
              <a:avLst/>
              <a:gdLst/>
              <a:ahLst/>
              <a:cxnLst/>
              <a:rect l="l" t="t" r="r" b="b"/>
              <a:pathLst>
                <a:path w="753954" h="350813">
                  <a:moveTo>
                    <a:pt x="0" y="0"/>
                  </a:moveTo>
                  <a:lnTo>
                    <a:pt x="753954" y="0"/>
                  </a:lnTo>
                  <a:lnTo>
                    <a:pt x="753954" y="350813"/>
                  </a:lnTo>
                  <a:lnTo>
                    <a:pt x="0" y="350813"/>
                  </a:lnTo>
                  <a:close/>
                </a:path>
              </a:pathLst>
            </a:custGeom>
            <a:ln w="95250" cap="sq">
              <a:solidFill>
                <a:srgbClr val="FF0000"/>
              </a:solidFill>
              <a:prstDash val="solid"/>
              <a:miter/>
            </a:ln>
          </p:spPr>
          <p:txBody>
            <a:bodyPr/>
            <a:lstStyle/>
            <a:p>
              <a:endParaRPr lang="en-US"/>
            </a:p>
          </p:txBody>
        </p:sp>
        <p:sp>
          <p:nvSpPr>
            <p:cNvPr id="8" name="TextBox 8"/>
            <p:cNvSpPr txBox="1"/>
            <p:nvPr/>
          </p:nvSpPr>
          <p:spPr>
            <a:xfrm>
              <a:off x="0" y="-38100"/>
              <a:ext cx="753954" cy="38891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6960120" y="4914623"/>
            <a:ext cx="10299180" cy="1021513"/>
            <a:chOff x="0" y="0"/>
            <a:chExt cx="2799067" cy="277622"/>
          </a:xfrm>
        </p:grpSpPr>
        <p:sp>
          <p:nvSpPr>
            <p:cNvPr id="10" name="Freeform 10"/>
            <p:cNvSpPr/>
            <p:nvPr/>
          </p:nvSpPr>
          <p:spPr>
            <a:xfrm>
              <a:off x="0" y="0"/>
              <a:ext cx="2799067" cy="277622"/>
            </a:xfrm>
            <a:custGeom>
              <a:avLst/>
              <a:gdLst/>
              <a:ahLst/>
              <a:cxnLst/>
              <a:rect l="l" t="t" r="r" b="b"/>
              <a:pathLst>
                <a:path w="2799067" h="277622">
                  <a:moveTo>
                    <a:pt x="0" y="0"/>
                  </a:moveTo>
                  <a:lnTo>
                    <a:pt x="2799067" y="0"/>
                  </a:lnTo>
                  <a:lnTo>
                    <a:pt x="2799067" y="277622"/>
                  </a:lnTo>
                  <a:lnTo>
                    <a:pt x="0" y="277622"/>
                  </a:lnTo>
                  <a:close/>
                </a:path>
              </a:pathLst>
            </a:custGeom>
            <a:ln w="95250" cap="sq">
              <a:solidFill>
                <a:srgbClr val="FF0000"/>
              </a:solidFill>
              <a:prstDash val="solid"/>
              <a:miter/>
            </a:ln>
          </p:spPr>
          <p:txBody>
            <a:bodyPr/>
            <a:lstStyle/>
            <a:p>
              <a:endParaRPr lang="en-US"/>
            </a:p>
          </p:txBody>
        </p:sp>
        <p:sp>
          <p:nvSpPr>
            <p:cNvPr id="11" name="TextBox 11"/>
            <p:cNvSpPr txBox="1"/>
            <p:nvPr/>
          </p:nvSpPr>
          <p:spPr>
            <a:xfrm>
              <a:off x="0" y="-38100"/>
              <a:ext cx="2799067" cy="315722"/>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9119799" y="8134624"/>
            <a:ext cx="6187356" cy="495300"/>
          </a:xfrm>
          <a:prstGeom prst="rect">
            <a:avLst/>
          </a:prstGeom>
        </p:spPr>
        <p:txBody>
          <a:bodyPr lIns="0" tIns="0" rIns="0" bIns="0" rtlCol="0" anchor="t">
            <a:spAutoFit/>
          </a:bodyPr>
          <a:lstStyle/>
          <a:p>
            <a:pPr marL="0" lvl="0" indent="0" algn="ctr">
              <a:lnSpc>
                <a:spcPts val="3959"/>
              </a:lnSpc>
              <a:spcBef>
                <a:spcPct val="0"/>
              </a:spcBef>
            </a:pPr>
            <a:r>
              <a:rPr lang="en-US" sz="3299">
                <a:solidFill>
                  <a:srgbClr val="000000"/>
                </a:solidFill>
                <a:latin typeface="Nunito"/>
                <a:ea typeface="Nunito"/>
                <a:cs typeface="Nunito"/>
                <a:sym typeface="Nunito"/>
              </a:rPr>
              <a:t>Select “humidity”, then “Add”</a:t>
            </a:r>
          </a:p>
        </p:txBody>
      </p:sp>
      <p:grpSp>
        <p:nvGrpSpPr>
          <p:cNvPr id="13" name="Group 13"/>
          <p:cNvGrpSpPr/>
          <p:nvPr/>
        </p:nvGrpSpPr>
        <p:grpSpPr>
          <a:xfrm>
            <a:off x="16448399" y="6715487"/>
            <a:ext cx="1299932" cy="1021513"/>
            <a:chOff x="0" y="0"/>
            <a:chExt cx="353290" cy="277622"/>
          </a:xfrm>
        </p:grpSpPr>
        <p:sp>
          <p:nvSpPr>
            <p:cNvPr id="14" name="Freeform 14"/>
            <p:cNvSpPr/>
            <p:nvPr/>
          </p:nvSpPr>
          <p:spPr>
            <a:xfrm>
              <a:off x="0" y="0"/>
              <a:ext cx="353290" cy="277622"/>
            </a:xfrm>
            <a:custGeom>
              <a:avLst/>
              <a:gdLst/>
              <a:ahLst/>
              <a:cxnLst/>
              <a:rect l="l" t="t" r="r" b="b"/>
              <a:pathLst>
                <a:path w="353290" h="277622">
                  <a:moveTo>
                    <a:pt x="0" y="0"/>
                  </a:moveTo>
                  <a:lnTo>
                    <a:pt x="353290" y="0"/>
                  </a:lnTo>
                  <a:lnTo>
                    <a:pt x="353290" y="277622"/>
                  </a:lnTo>
                  <a:lnTo>
                    <a:pt x="0" y="277622"/>
                  </a:lnTo>
                  <a:close/>
                </a:path>
              </a:pathLst>
            </a:custGeom>
            <a:ln w="95250" cap="sq">
              <a:solidFill>
                <a:srgbClr val="FF0000"/>
              </a:solidFill>
              <a:prstDash val="solid"/>
              <a:miter/>
            </a:ln>
          </p:spPr>
          <p:txBody>
            <a:bodyPr/>
            <a:lstStyle/>
            <a:p>
              <a:endParaRPr lang="en-US"/>
            </a:p>
          </p:txBody>
        </p:sp>
        <p:sp>
          <p:nvSpPr>
            <p:cNvPr id="15" name="TextBox 15"/>
            <p:cNvSpPr txBox="1"/>
            <p:nvPr/>
          </p:nvSpPr>
          <p:spPr>
            <a:xfrm>
              <a:off x="0" y="-38100"/>
              <a:ext cx="353290" cy="315722"/>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98009" y="2228770"/>
            <a:ext cx="14449077" cy="6592391"/>
          </a:xfrm>
          <a:custGeom>
            <a:avLst/>
            <a:gdLst/>
            <a:ahLst/>
            <a:cxnLst/>
            <a:rect l="l" t="t" r="r" b="b"/>
            <a:pathLst>
              <a:path w="14449077" h="6592391">
                <a:moveTo>
                  <a:pt x="0" y="0"/>
                </a:moveTo>
                <a:lnTo>
                  <a:pt x="14449077" y="0"/>
                </a:lnTo>
                <a:lnTo>
                  <a:pt x="14449077" y="6592391"/>
                </a:lnTo>
                <a:lnTo>
                  <a:pt x="0" y="659239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675647"/>
            <a:ext cx="16438134" cy="2673466"/>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CREATE DASBOARD</a:t>
            </a:r>
          </a:p>
          <a:p>
            <a:pPr algn="l">
              <a:lnSpc>
                <a:spcPts val="10734"/>
              </a:lnSpc>
            </a:pPr>
            <a:endParaRPr lang="en-US" sz="7667" b="1">
              <a:solidFill>
                <a:srgbClr val="428DFF"/>
              </a:solidFill>
              <a:latin typeface="Roboto Condensed Bold"/>
              <a:ea typeface="Roboto Condensed Bold"/>
              <a:cs typeface="Roboto Condensed Bold"/>
              <a:sym typeface="Roboto Condensed Bold"/>
            </a:endParaRPr>
          </a:p>
        </p:txBody>
      </p:sp>
      <p:sp>
        <p:nvSpPr>
          <p:cNvPr id="4" name="TextBox 4"/>
          <p:cNvSpPr txBox="1"/>
          <p:nvPr/>
        </p:nvSpPr>
        <p:spPr>
          <a:xfrm>
            <a:off x="6050322" y="9300253"/>
            <a:ext cx="6187356" cy="495300"/>
          </a:xfrm>
          <a:prstGeom prst="rect">
            <a:avLst/>
          </a:prstGeom>
        </p:spPr>
        <p:txBody>
          <a:bodyPr lIns="0" tIns="0" rIns="0" bIns="0" rtlCol="0" anchor="t">
            <a:spAutoFit/>
          </a:bodyPr>
          <a:lstStyle/>
          <a:p>
            <a:pPr marL="0" lvl="0" indent="0" algn="ctr">
              <a:lnSpc>
                <a:spcPts val="3959"/>
              </a:lnSpc>
              <a:spcBef>
                <a:spcPct val="0"/>
              </a:spcBef>
            </a:pPr>
            <a:r>
              <a:rPr lang="en-US" sz="3299">
                <a:solidFill>
                  <a:srgbClr val="000000"/>
                </a:solidFill>
                <a:latin typeface="Nunito"/>
                <a:ea typeface="Nunito"/>
                <a:cs typeface="Nunito"/>
                <a:sym typeface="Nunito"/>
              </a:rPr>
              <a:t>An example of your Dashboard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526137" y="3154743"/>
            <a:ext cx="5940696" cy="3977514"/>
          </a:xfrm>
          <a:custGeom>
            <a:avLst/>
            <a:gdLst/>
            <a:ahLst/>
            <a:cxnLst/>
            <a:rect l="l" t="t" r="r" b="b"/>
            <a:pathLst>
              <a:path w="5940696" h="3977514">
                <a:moveTo>
                  <a:pt x="0" y="0"/>
                </a:moveTo>
                <a:lnTo>
                  <a:pt x="5940697" y="0"/>
                </a:lnTo>
                <a:lnTo>
                  <a:pt x="5940697" y="3977514"/>
                </a:lnTo>
                <a:lnTo>
                  <a:pt x="0" y="3977514"/>
                </a:lnTo>
                <a:lnTo>
                  <a:pt x="0" y="0"/>
                </a:lnTo>
                <a:close/>
              </a:path>
            </a:pathLst>
          </a:custGeom>
          <a:blipFill>
            <a:blip r:embed="rId2"/>
            <a:stretch>
              <a:fillRect l="-333979" r="-1491"/>
            </a:stretch>
          </a:blipFill>
        </p:spPr>
        <p:txBody>
          <a:bodyPr/>
          <a:lstStyle/>
          <a:p>
            <a:endParaRPr lang="en-US"/>
          </a:p>
        </p:txBody>
      </p:sp>
      <p:sp>
        <p:nvSpPr>
          <p:cNvPr id="3" name="Freeform 3"/>
          <p:cNvSpPr/>
          <p:nvPr/>
        </p:nvSpPr>
        <p:spPr>
          <a:xfrm>
            <a:off x="1028700" y="3154743"/>
            <a:ext cx="8921676" cy="3977514"/>
          </a:xfrm>
          <a:custGeom>
            <a:avLst/>
            <a:gdLst/>
            <a:ahLst/>
            <a:cxnLst/>
            <a:rect l="l" t="t" r="r" b="b"/>
            <a:pathLst>
              <a:path w="8921676" h="3977514">
                <a:moveTo>
                  <a:pt x="0" y="0"/>
                </a:moveTo>
                <a:lnTo>
                  <a:pt x="8921676" y="0"/>
                </a:lnTo>
                <a:lnTo>
                  <a:pt x="8921676" y="3977514"/>
                </a:lnTo>
                <a:lnTo>
                  <a:pt x="0" y="3977514"/>
                </a:lnTo>
                <a:lnTo>
                  <a:pt x="0" y="0"/>
                </a:lnTo>
                <a:close/>
              </a:path>
            </a:pathLst>
          </a:custGeom>
          <a:blipFill>
            <a:blip r:embed="rId3"/>
            <a:stretch>
              <a:fillRect r="-39320"/>
            </a:stretch>
          </a:blipFill>
        </p:spPr>
        <p:txBody>
          <a:bodyPr/>
          <a:lstStyle/>
          <a:p>
            <a:endParaRPr lang="en-US"/>
          </a:p>
        </p:txBody>
      </p:sp>
      <p:sp>
        <p:nvSpPr>
          <p:cNvPr id="4" name="TextBox 4"/>
          <p:cNvSpPr txBox="1"/>
          <p:nvPr/>
        </p:nvSpPr>
        <p:spPr>
          <a:xfrm>
            <a:off x="1028700" y="675647"/>
            <a:ext cx="16438134" cy="1315559"/>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SHARING YOUR DASHBOARD</a:t>
            </a:r>
          </a:p>
        </p:txBody>
      </p:sp>
      <p:sp>
        <p:nvSpPr>
          <p:cNvPr id="5" name="TextBox 5"/>
          <p:cNvSpPr txBox="1"/>
          <p:nvPr/>
        </p:nvSpPr>
        <p:spPr>
          <a:xfrm>
            <a:off x="2395860" y="7617101"/>
            <a:ext cx="6187356" cy="495300"/>
          </a:xfrm>
          <a:prstGeom prst="rect">
            <a:avLst/>
          </a:prstGeom>
        </p:spPr>
        <p:txBody>
          <a:bodyPr lIns="0" tIns="0" rIns="0" bIns="0" rtlCol="0" anchor="t">
            <a:spAutoFit/>
          </a:bodyPr>
          <a:lstStyle/>
          <a:p>
            <a:pPr marL="0" lvl="0" indent="0" algn="ctr">
              <a:lnSpc>
                <a:spcPts val="3959"/>
              </a:lnSpc>
              <a:spcBef>
                <a:spcPct val="0"/>
              </a:spcBef>
            </a:pPr>
            <a:r>
              <a:rPr lang="en-US" sz="3299">
                <a:solidFill>
                  <a:srgbClr val="000000"/>
                </a:solidFill>
                <a:latin typeface="Nunito"/>
                <a:ea typeface="Nunito"/>
                <a:cs typeface="Nunito"/>
                <a:sym typeface="Nunito"/>
              </a:rPr>
              <a:t>Select Dashboard &gt;&gt; Groups</a:t>
            </a:r>
          </a:p>
        </p:txBody>
      </p:sp>
      <p:sp>
        <p:nvSpPr>
          <p:cNvPr id="6" name="TextBox 6"/>
          <p:cNvSpPr txBox="1"/>
          <p:nvPr/>
        </p:nvSpPr>
        <p:spPr>
          <a:xfrm>
            <a:off x="11402807" y="7617101"/>
            <a:ext cx="6187356" cy="495300"/>
          </a:xfrm>
          <a:prstGeom prst="rect">
            <a:avLst/>
          </a:prstGeom>
        </p:spPr>
        <p:txBody>
          <a:bodyPr lIns="0" tIns="0" rIns="0" bIns="0" rtlCol="0" anchor="t">
            <a:spAutoFit/>
          </a:bodyPr>
          <a:lstStyle/>
          <a:p>
            <a:pPr marL="0" lvl="0" indent="0" algn="ctr">
              <a:lnSpc>
                <a:spcPts val="3959"/>
              </a:lnSpc>
              <a:spcBef>
                <a:spcPct val="0"/>
              </a:spcBef>
            </a:pPr>
            <a:r>
              <a:rPr lang="en-US" sz="3299">
                <a:solidFill>
                  <a:srgbClr val="000000"/>
                </a:solidFill>
                <a:latin typeface="Nunito"/>
                <a:ea typeface="Nunito"/>
                <a:cs typeface="Nunito"/>
                <a:sym typeface="Nunito"/>
              </a:rPr>
              <a:t>Click on the  “Make public” icon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499093"/>
            <a:ext cx="15590658" cy="5222870"/>
          </a:xfrm>
          <a:custGeom>
            <a:avLst/>
            <a:gdLst/>
            <a:ahLst/>
            <a:cxnLst/>
            <a:rect l="l" t="t" r="r" b="b"/>
            <a:pathLst>
              <a:path w="15590658" h="5222870">
                <a:moveTo>
                  <a:pt x="0" y="0"/>
                </a:moveTo>
                <a:lnTo>
                  <a:pt x="15590658" y="0"/>
                </a:lnTo>
                <a:lnTo>
                  <a:pt x="15590658" y="5222870"/>
                </a:lnTo>
                <a:lnTo>
                  <a:pt x="0" y="5222870"/>
                </a:lnTo>
                <a:lnTo>
                  <a:pt x="0" y="0"/>
                </a:lnTo>
                <a:close/>
              </a:path>
            </a:pathLst>
          </a:custGeom>
          <a:blipFill>
            <a:blip r:embed="rId2"/>
            <a:stretch>
              <a:fillRect/>
            </a:stretch>
          </a:blipFill>
          <a:ln w="19050" cap="sq">
            <a:solidFill>
              <a:srgbClr val="000000"/>
            </a:solidFill>
            <a:prstDash val="solid"/>
            <a:miter/>
          </a:ln>
        </p:spPr>
        <p:txBody>
          <a:bodyPr/>
          <a:lstStyle/>
          <a:p>
            <a:endParaRPr lang="en-US"/>
          </a:p>
        </p:txBody>
      </p:sp>
      <p:grpSp>
        <p:nvGrpSpPr>
          <p:cNvPr id="3" name="Group 3"/>
          <p:cNvGrpSpPr/>
          <p:nvPr/>
        </p:nvGrpSpPr>
        <p:grpSpPr>
          <a:xfrm>
            <a:off x="13409423" y="4370946"/>
            <a:ext cx="2153270" cy="443082"/>
            <a:chOff x="0" y="0"/>
            <a:chExt cx="567116" cy="116697"/>
          </a:xfrm>
        </p:grpSpPr>
        <p:sp>
          <p:nvSpPr>
            <p:cNvPr id="4" name="Freeform 4"/>
            <p:cNvSpPr/>
            <p:nvPr/>
          </p:nvSpPr>
          <p:spPr>
            <a:xfrm>
              <a:off x="0" y="0"/>
              <a:ext cx="567116" cy="116697"/>
            </a:xfrm>
            <a:custGeom>
              <a:avLst/>
              <a:gdLst/>
              <a:ahLst/>
              <a:cxnLst/>
              <a:rect l="l" t="t" r="r" b="b"/>
              <a:pathLst>
                <a:path w="567116" h="116697">
                  <a:moveTo>
                    <a:pt x="0" y="0"/>
                  </a:moveTo>
                  <a:lnTo>
                    <a:pt x="567116" y="0"/>
                  </a:lnTo>
                  <a:lnTo>
                    <a:pt x="567116" y="116697"/>
                  </a:lnTo>
                  <a:lnTo>
                    <a:pt x="0" y="116697"/>
                  </a:lnTo>
                  <a:close/>
                </a:path>
              </a:pathLst>
            </a:custGeom>
            <a:solidFill>
              <a:srgbClr val="F6F6F6"/>
            </a:solidFill>
          </p:spPr>
          <p:txBody>
            <a:bodyPr/>
            <a:lstStyle/>
            <a:p>
              <a:endParaRPr lang="en-US"/>
            </a:p>
          </p:txBody>
        </p:sp>
        <p:sp>
          <p:nvSpPr>
            <p:cNvPr id="5" name="TextBox 5"/>
            <p:cNvSpPr txBox="1"/>
            <p:nvPr/>
          </p:nvSpPr>
          <p:spPr>
            <a:xfrm>
              <a:off x="0" y="-38100"/>
              <a:ext cx="567116" cy="154797"/>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675647"/>
            <a:ext cx="16438134" cy="1315559"/>
          </a:xfrm>
          <a:prstGeom prst="rect">
            <a:avLst/>
          </a:prstGeom>
        </p:spPr>
        <p:txBody>
          <a:bodyPr lIns="0" tIns="0" rIns="0" bIns="0" rtlCol="0" anchor="t">
            <a:spAutoFit/>
          </a:bodyPr>
          <a:lstStyle/>
          <a:p>
            <a:pPr algn="l">
              <a:lnSpc>
                <a:spcPts val="10734"/>
              </a:lnSpc>
            </a:pPr>
            <a:r>
              <a:rPr lang="en-US" sz="7667" b="1">
                <a:solidFill>
                  <a:srgbClr val="428DFF"/>
                </a:solidFill>
                <a:latin typeface="Roboto Condensed Bold"/>
                <a:ea typeface="Roboto Condensed Bold"/>
                <a:cs typeface="Roboto Condensed Bold"/>
                <a:sym typeface="Roboto Condensed Bold"/>
              </a:rPr>
              <a:t>SHARING YOUR DASHBOARD</a:t>
            </a:r>
          </a:p>
        </p:txBody>
      </p:sp>
      <p:sp>
        <p:nvSpPr>
          <p:cNvPr id="7" name="TextBox 7"/>
          <p:cNvSpPr txBox="1"/>
          <p:nvPr/>
        </p:nvSpPr>
        <p:spPr>
          <a:xfrm>
            <a:off x="4288098" y="8019493"/>
            <a:ext cx="8108594" cy="495300"/>
          </a:xfrm>
          <a:prstGeom prst="rect">
            <a:avLst/>
          </a:prstGeom>
        </p:spPr>
        <p:txBody>
          <a:bodyPr lIns="0" tIns="0" rIns="0" bIns="0" rtlCol="0" anchor="t">
            <a:spAutoFit/>
          </a:bodyPr>
          <a:lstStyle/>
          <a:p>
            <a:pPr marL="0" lvl="0" indent="0" algn="ctr">
              <a:lnSpc>
                <a:spcPts val="3959"/>
              </a:lnSpc>
              <a:spcBef>
                <a:spcPct val="0"/>
              </a:spcBef>
            </a:pPr>
            <a:r>
              <a:rPr lang="en-US" sz="3299" b="1">
                <a:solidFill>
                  <a:srgbClr val="000000"/>
                </a:solidFill>
                <a:latin typeface="Nunito Semi-Bold"/>
                <a:ea typeface="Nunito Semi-Bold"/>
                <a:cs typeface="Nunito Semi-Bold"/>
                <a:sym typeface="Nunito Semi-Bold"/>
              </a:rPr>
              <a:t>The public link of your dashboard</a:t>
            </a:r>
          </a:p>
        </p:txBody>
      </p:sp>
      <p:sp>
        <p:nvSpPr>
          <p:cNvPr id="8" name="TextBox 8"/>
          <p:cNvSpPr txBox="1"/>
          <p:nvPr/>
        </p:nvSpPr>
        <p:spPr>
          <a:xfrm>
            <a:off x="1028700" y="9010650"/>
            <a:ext cx="15590658" cy="495300"/>
          </a:xfrm>
          <a:prstGeom prst="rect">
            <a:avLst/>
          </a:prstGeom>
        </p:spPr>
        <p:txBody>
          <a:bodyPr lIns="0" tIns="0" rIns="0" bIns="0" rtlCol="0" anchor="t">
            <a:spAutoFit/>
          </a:bodyPr>
          <a:lstStyle/>
          <a:p>
            <a:pPr marL="0" lvl="0" indent="0" algn="l">
              <a:lnSpc>
                <a:spcPts val="3959"/>
              </a:lnSpc>
              <a:spcBef>
                <a:spcPct val="0"/>
              </a:spcBef>
            </a:pPr>
            <a:r>
              <a:rPr lang="en-US" sz="3299" b="1">
                <a:solidFill>
                  <a:srgbClr val="000000"/>
                </a:solidFill>
                <a:latin typeface="Nunito Bold"/>
                <a:ea typeface="Nunito Bold"/>
                <a:cs typeface="Nunito Bold"/>
                <a:sym typeface="Nunito Bold"/>
              </a:rPr>
              <a:t>You have to public both</a:t>
            </a:r>
            <a:r>
              <a:rPr lang="en-US" sz="3299">
                <a:solidFill>
                  <a:srgbClr val="000000"/>
                </a:solidFill>
                <a:latin typeface="Nunito"/>
                <a:ea typeface="Nunito"/>
                <a:cs typeface="Nunito"/>
                <a:sym typeface="Nunito"/>
              </a:rPr>
              <a:t> Dashboard And Device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58993" y="85725"/>
            <a:ext cx="19760652" cy="3324905"/>
            <a:chOff x="0" y="0"/>
            <a:chExt cx="5204452" cy="875695"/>
          </a:xfrm>
        </p:grpSpPr>
        <p:sp>
          <p:nvSpPr>
            <p:cNvPr id="3" name="Freeform 3"/>
            <p:cNvSpPr/>
            <p:nvPr/>
          </p:nvSpPr>
          <p:spPr>
            <a:xfrm>
              <a:off x="0" y="0"/>
              <a:ext cx="5204452" cy="875695"/>
            </a:xfrm>
            <a:custGeom>
              <a:avLst/>
              <a:gdLst/>
              <a:ahLst/>
              <a:cxnLst/>
              <a:rect l="l" t="t" r="r" b="b"/>
              <a:pathLst>
                <a:path w="5204452" h="875695">
                  <a:moveTo>
                    <a:pt x="0" y="0"/>
                  </a:moveTo>
                  <a:lnTo>
                    <a:pt x="5204452" y="0"/>
                  </a:lnTo>
                  <a:lnTo>
                    <a:pt x="5204452" y="875695"/>
                  </a:lnTo>
                  <a:lnTo>
                    <a:pt x="0" y="875695"/>
                  </a:lnTo>
                  <a:close/>
                </a:path>
              </a:pathLst>
            </a:custGeom>
            <a:solidFill>
              <a:srgbClr val="082055"/>
            </a:solidFill>
          </p:spPr>
          <p:txBody>
            <a:bodyPr/>
            <a:lstStyle/>
            <a:p>
              <a:endParaRPr lang="en-US"/>
            </a:p>
          </p:txBody>
        </p:sp>
        <p:sp>
          <p:nvSpPr>
            <p:cNvPr id="4" name="TextBox 4"/>
            <p:cNvSpPr txBox="1"/>
            <p:nvPr/>
          </p:nvSpPr>
          <p:spPr>
            <a:xfrm>
              <a:off x="0" y="-38100"/>
              <a:ext cx="5204452" cy="91379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221332" y="4652758"/>
            <a:ext cx="7738576" cy="5331263"/>
          </a:xfrm>
          <a:custGeom>
            <a:avLst/>
            <a:gdLst/>
            <a:ahLst/>
            <a:cxnLst/>
            <a:rect l="l" t="t" r="r" b="b"/>
            <a:pathLst>
              <a:path w="7738576" h="5331263">
                <a:moveTo>
                  <a:pt x="0" y="0"/>
                </a:moveTo>
                <a:lnTo>
                  <a:pt x="7738576" y="0"/>
                </a:lnTo>
                <a:lnTo>
                  <a:pt x="7738576" y="5331263"/>
                </a:lnTo>
                <a:lnTo>
                  <a:pt x="0" y="5331263"/>
                </a:lnTo>
                <a:lnTo>
                  <a:pt x="0" y="0"/>
                </a:lnTo>
                <a:close/>
              </a:path>
            </a:pathLst>
          </a:custGeom>
          <a:blipFill>
            <a:blip r:embed="rId2"/>
            <a:stretch>
              <a:fillRect/>
            </a:stretch>
          </a:blipFill>
        </p:spPr>
        <p:txBody>
          <a:bodyPr/>
          <a:lstStyle/>
          <a:p>
            <a:endParaRPr lang="en-US"/>
          </a:p>
        </p:txBody>
      </p:sp>
      <p:sp>
        <p:nvSpPr>
          <p:cNvPr id="6" name="Freeform 6"/>
          <p:cNvSpPr/>
          <p:nvPr/>
        </p:nvSpPr>
        <p:spPr>
          <a:xfrm>
            <a:off x="1347063" y="5433808"/>
            <a:ext cx="7433695" cy="4484791"/>
          </a:xfrm>
          <a:custGeom>
            <a:avLst/>
            <a:gdLst/>
            <a:ahLst/>
            <a:cxnLst/>
            <a:rect l="l" t="t" r="r" b="b"/>
            <a:pathLst>
              <a:path w="7433695" h="4484791">
                <a:moveTo>
                  <a:pt x="0" y="0"/>
                </a:moveTo>
                <a:lnTo>
                  <a:pt x="7433695" y="0"/>
                </a:lnTo>
                <a:lnTo>
                  <a:pt x="7433695" y="4484791"/>
                </a:lnTo>
                <a:lnTo>
                  <a:pt x="0" y="4484791"/>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3241554" y="845820"/>
            <a:ext cx="12973062" cy="771525"/>
          </a:xfrm>
          <a:prstGeom prst="rect">
            <a:avLst/>
          </a:prstGeom>
        </p:spPr>
        <p:txBody>
          <a:bodyPr lIns="0" tIns="0" rIns="0" bIns="0" rtlCol="0" anchor="t">
            <a:spAutoFit/>
          </a:bodyPr>
          <a:lstStyle/>
          <a:p>
            <a:pPr algn="ctr">
              <a:lnSpc>
                <a:spcPts val="5759"/>
              </a:lnSpc>
            </a:pPr>
            <a:r>
              <a:rPr lang="en-US" sz="4799" b="1" spc="38">
                <a:solidFill>
                  <a:srgbClr val="FFFFFF"/>
                </a:solidFill>
                <a:latin typeface="Poppins Bold"/>
                <a:ea typeface="Poppins Bold"/>
                <a:cs typeface="Poppins Bold"/>
                <a:sym typeface="Poppins Bold"/>
              </a:rPr>
              <a:t>Implement a Client using Python</a:t>
            </a:r>
          </a:p>
        </p:txBody>
      </p:sp>
      <p:sp>
        <p:nvSpPr>
          <p:cNvPr id="8" name="TextBox 8"/>
          <p:cNvSpPr txBox="1"/>
          <p:nvPr/>
        </p:nvSpPr>
        <p:spPr>
          <a:xfrm>
            <a:off x="1443761" y="1750695"/>
            <a:ext cx="15555143" cy="879475"/>
          </a:xfrm>
          <a:prstGeom prst="rect">
            <a:avLst/>
          </a:prstGeom>
        </p:spPr>
        <p:txBody>
          <a:bodyPr lIns="0" tIns="0" rIns="0" bIns="0" rtlCol="0" anchor="t">
            <a:spAutoFit/>
          </a:bodyPr>
          <a:lstStyle/>
          <a:p>
            <a:pPr algn="ctr">
              <a:lnSpc>
                <a:spcPts val="3499"/>
              </a:lnSpc>
            </a:pPr>
            <a:r>
              <a:rPr lang="en-US" sz="2499">
                <a:solidFill>
                  <a:srgbClr val="FFFFFF"/>
                </a:solidFill>
                <a:latin typeface="Poppins"/>
                <a:ea typeface="Poppins"/>
                <a:cs typeface="Poppins"/>
                <a:sym typeface="Poppins"/>
              </a:rPr>
              <a:t>Test your device by a simulated python client</a:t>
            </a:r>
          </a:p>
          <a:p>
            <a:pPr algn="ctr">
              <a:lnSpc>
                <a:spcPts val="3499"/>
              </a:lnSpc>
            </a:pPr>
            <a:r>
              <a:rPr lang="en-US" sz="2499" u="sng">
                <a:solidFill>
                  <a:srgbClr val="FFFFFF"/>
                </a:solidFill>
                <a:latin typeface="Poppins"/>
                <a:ea typeface="Poppins"/>
                <a:cs typeface="Poppins"/>
                <a:sym typeface="Poppins"/>
                <a:hlinkClick r:id="rId4" tooltip="https://www.youtube.com/watch?v=c5fX7SeRQsQ"/>
              </a:rPr>
              <a:t>https://www.youtube.com/watch?v=bigeRVU2iSE </a:t>
            </a:r>
          </a:p>
        </p:txBody>
      </p:sp>
      <p:sp>
        <p:nvSpPr>
          <p:cNvPr id="9" name="TextBox 9"/>
          <p:cNvSpPr txBox="1"/>
          <p:nvPr/>
        </p:nvSpPr>
        <p:spPr>
          <a:xfrm>
            <a:off x="1139848" y="3714750"/>
            <a:ext cx="16008304" cy="580390"/>
          </a:xfrm>
          <a:prstGeom prst="rect">
            <a:avLst/>
          </a:prstGeom>
        </p:spPr>
        <p:txBody>
          <a:bodyPr wrap="square" lIns="0" tIns="0" rIns="0" bIns="0" rtlCol="0" anchor="t">
            <a:spAutoFit/>
          </a:bodyPr>
          <a:lstStyle/>
          <a:p>
            <a:pPr algn="ctr">
              <a:lnSpc>
                <a:spcPts val="4759"/>
              </a:lnSpc>
            </a:pPr>
            <a:r>
              <a:rPr lang="en-US" sz="3399" u="sng" dirty="0">
                <a:solidFill>
                  <a:srgbClr val="000000"/>
                </a:solidFill>
                <a:latin typeface="Canva Sans"/>
                <a:ea typeface="Canva Sans"/>
                <a:cs typeface="Canva Sans"/>
                <a:sym typeface="Canva Sans"/>
                <a:hlinkClick r:id="rId5" tooltip="https://github.com/nhanksd85/CoreIOT/blob/CoreIOT_Lab1/thingsboard.py"/>
              </a:rPr>
              <a:t>https://github.com/nhanksd85/CoreIOT/blob/CoreIOT_Lab1/thingsboard.py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2849225" y="3314700"/>
            <a:ext cx="7315200" cy="3657600"/>
          </a:xfrm>
          <a:custGeom>
            <a:avLst/>
            <a:gdLst/>
            <a:ahLst/>
            <a:cxnLst/>
            <a:rect l="l" t="t" r="r" b="b"/>
            <a:pathLst>
              <a:path w="7315200" h="3657600">
                <a:moveTo>
                  <a:pt x="0" y="0"/>
                </a:moveTo>
                <a:lnTo>
                  <a:pt x="7315200" y="0"/>
                </a:lnTo>
                <a:lnTo>
                  <a:pt x="7315200" y="3657600"/>
                </a:lnTo>
                <a:lnTo>
                  <a:pt x="0" y="36576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3777723" y="3550238"/>
            <a:ext cx="10732554" cy="2336801"/>
          </a:xfrm>
          <a:prstGeom prst="rect">
            <a:avLst/>
          </a:prstGeom>
        </p:spPr>
        <p:txBody>
          <a:bodyPr lIns="0" tIns="0" rIns="0" bIns="0" rtlCol="0" anchor="t">
            <a:spAutoFit/>
          </a:bodyPr>
          <a:lstStyle/>
          <a:p>
            <a:pPr algn="l">
              <a:lnSpc>
                <a:spcPts val="18199"/>
              </a:lnSpc>
            </a:pPr>
            <a:r>
              <a:rPr lang="en-US" sz="12999" b="1">
                <a:solidFill>
                  <a:srgbClr val="428DFF"/>
                </a:solidFill>
                <a:latin typeface="Poppins Ultra-Bold"/>
                <a:ea typeface="Poppins Ultra-Bold"/>
                <a:cs typeface="Poppins Ultra-Bold"/>
                <a:sym typeface="Poppins Ultra-Bold"/>
              </a:rPr>
              <a:t>Thank You!</a:t>
            </a:r>
          </a:p>
        </p:txBody>
      </p:sp>
      <p:sp>
        <p:nvSpPr>
          <p:cNvPr id="4" name="Freeform 4"/>
          <p:cNvSpPr/>
          <p:nvPr/>
        </p:nvSpPr>
        <p:spPr>
          <a:xfrm flipH="1">
            <a:off x="0" y="5887038"/>
            <a:ext cx="4399962" cy="4399962"/>
          </a:xfrm>
          <a:custGeom>
            <a:avLst/>
            <a:gdLst/>
            <a:ahLst/>
            <a:cxnLst/>
            <a:rect l="l" t="t" r="r" b="b"/>
            <a:pathLst>
              <a:path w="4399962" h="4399962">
                <a:moveTo>
                  <a:pt x="4399962" y="0"/>
                </a:moveTo>
                <a:lnTo>
                  <a:pt x="0" y="0"/>
                </a:lnTo>
                <a:lnTo>
                  <a:pt x="0" y="4399962"/>
                </a:lnTo>
                <a:lnTo>
                  <a:pt x="4399962" y="4399962"/>
                </a:lnTo>
                <a:lnTo>
                  <a:pt x="439996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5" name="Group 5"/>
          <p:cNvGrpSpPr/>
          <p:nvPr/>
        </p:nvGrpSpPr>
        <p:grpSpPr>
          <a:xfrm rot="-5400000">
            <a:off x="1752187" y="-3915846"/>
            <a:ext cx="2605378" cy="6457812"/>
            <a:chOff x="0" y="0"/>
            <a:chExt cx="2218638" cy="5499219"/>
          </a:xfrm>
        </p:grpSpPr>
        <p:sp>
          <p:nvSpPr>
            <p:cNvPr id="6" name="Freeform 6"/>
            <p:cNvSpPr/>
            <p:nvPr/>
          </p:nvSpPr>
          <p:spPr>
            <a:xfrm>
              <a:off x="0" y="0"/>
              <a:ext cx="2218638" cy="5499219"/>
            </a:xfrm>
            <a:custGeom>
              <a:avLst/>
              <a:gdLst/>
              <a:ahLst/>
              <a:cxnLst/>
              <a:rect l="l" t="t" r="r" b="b"/>
              <a:pathLst>
                <a:path w="2218638" h="5499219">
                  <a:moveTo>
                    <a:pt x="2054808" y="0"/>
                  </a:moveTo>
                  <a:lnTo>
                    <a:pt x="0" y="0"/>
                  </a:lnTo>
                  <a:lnTo>
                    <a:pt x="0" y="5499219"/>
                  </a:lnTo>
                  <a:lnTo>
                    <a:pt x="76200" y="5499219"/>
                  </a:lnTo>
                  <a:lnTo>
                    <a:pt x="76200" y="76200"/>
                  </a:lnTo>
                  <a:lnTo>
                    <a:pt x="2218638" y="76200"/>
                  </a:lnTo>
                  <a:lnTo>
                    <a:pt x="2218638" y="0"/>
                  </a:lnTo>
                  <a:close/>
                </a:path>
              </a:pathLst>
            </a:custGeom>
            <a:solidFill>
              <a:srgbClr val="003CAF"/>
            </a:solidFill>
          </p:spPr>
          <p:txBody>
            <a:bodyPr/>
            <a:lstStyle/>
            <a:p>
              <a:endParaRPr lang="en-US"/>
            </a:p>
          </p:txBody>
        </p:sp>
      </p:grpSp>
      <p:grpSp>
        <p:nvGrpSpPr>
          <p:cNvPr id="7" name="Group 7"/>
          <p:cNvGrpSpPr/>
          <p:nvPr/>
        </p:nvGrpSpPr>
        <p:grpSpPr>
          <a:xfrm rot="-10800000">
            <a:off x="15956611" y="3317631"/>
            <a:ext cx="2605378" cy="6457812"/>
            <a:chOff x="0" y="0"/>
            <a:chExt cx="2218638" cy="5499219"/>
          </a:xfrm>
        </p:grpSpPr>
        <p:sp>
          <p:nvSpPr>
            <p:cNvPr id="8" name="Freeform 8"/>
            <p:cNvSpPr/>
            <p:nvPr/>
          </p:nvSpPr>
          <p:spPr>
            <a:xfrm>
              <a:off x="0" y="0"/>
              <a:ext cx="2218638" cy="5499219"/>
            </a:xfrm>
            <a:custGeom>
              <a:avLst/>
              <a:gdLst/>
              <a:ahLst/>
              <a:cxnLst/>
              <a:rect l="l" t="t" r="r" b="b"/>
              <a:pathLst>
                <a:path w="2218638" h="5499219">
                  <a:moveTo>
                    <a:pt x="2054808" y="0"/>
                  </a:moveTo>
                  <a:lnTo>
                    <a:pt x="0" y="0"/>
                  </a:lnTo>
                  <a:lnTo>
                    <a:pt x="0" y="5499219"/>
                  </a:lnTo>
                  <a:lnTo>
                    <a:pt x="76200" y="5499219"/>
                  </a:lnTo>
                  <a:lnTo>
                    <a:pt x="76200" y="76200"/>
                  </a:lnTo>
                  <a:lnTo>
                    <a:pt x="2218638" y="76200"/>
                  </a:lnTo>
                  <a:lnTo>
                    <a:pt x="2218638" y="0"/>
                  </a:lnTo>
                  <a:close/>
                </a:path>
              </a:pathLst>
            </a:custGeom>
            <a:solidFill>
              <a:srgbClr val="003CAF"/>
            </a:solidFill>
          </p:spPr>
          <p:txBody>
            <a:bodyPr/>
            <a:lstStyle/>
            <a:p>
              <a:endParaRPr lang="en-US"/>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1146</Words>
  <Application>Microsoft Office PowerPoint</Application>
  <PresentationFormat>Custom</PresentationFormat>
  <Paragraphs>144</Paragraphs>
  <Slides>34</Slides>
  <Notes>0</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34</vt:i4>
      </vt:variant>
    </vt:vector>
  </HeadingPairs>
  <TitlesOfParts>
    <vt:vector size="52" baseType="lpstr">
      <vt:lpstr>Roboto Condensed Bold</vt:lpstr>
      <vt:lpstr>Canva Sans</vt:lpstr>
      <vt:lpstr>Montserrat Bold</vt:lpstr>
      <vt:lpstr>Poppins</vt:lpstr>
      <vt:lpstr>Calibri</vt:lpstr>
      <vt:lpstr>Antonio Bold</vt:lpstr>
      <vt:lpstr>Nunito Bold</vt:lpstr>
      <vt:lpstr>Anton</vt:lpstr>
      <vt:lpstr>Poppins Ultra-Bold</vt:lpstr>
      <vt:lpstr>Nunito Sans Bold</vt:lpstr>
      <vt:lpstr>Montserrat Ultra-Bold</vt:lpstr>
      <vt:lpstr>Nunito</vt:lpstr>
      <vt:lpstr>Nunito Sans</vt:lpstr>
      <vt:lpstr>Arial</vt:lpstr>
      <vt:lpstr>Poppins Bold</vt:lpstr>
      <vt:lpstr>Arimo</vt:lpstr>
      <vt:lpstr>Nunito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IOT Platform</dc:title>
  <dc:creator>TRONG NHAN LE</dc:creator>
  <cp:lastModifiedBy>Le Trong Nhan</cp:lastModifiedBy>
  <cp:revision>3</cp:revision>
  <dcterms:created xsi:type="dcterms:W3CDTF">2006-08-16T00:00:00Z</dcterms:created>
  <dcterms:modified xsi:type="dcterms:W3CDTF">2026-08-29T04:21:29Z</dcterms:modified>
  <dc:identifier>DAGfPyu6xoc</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2026-08-29T04:18:58Z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2b9a6ba2-2194-49af-a127-42cfdd41ec4d</vt:lpwstr>
  </property>
  <property fmtid="{D5CDD505-2E9C-101B-9397-08002B2CF9AE}" pid="7" name="MSIP_Label_defa4170-0d19-0005-0004-bc88714345d2_ActionId">
    <vt:lpwstr>a843a5c6-48fc-4900-9819-0b50b10689ee</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